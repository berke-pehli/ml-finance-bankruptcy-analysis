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60" r:id="rId1"/>
  </p:sldMasterIdLst>
  <p:notesMasterIdLst>
    <p:notesMasterId r:id="rId7"/>
  </p:notesMasterIdLst>
  <p:sldIdLst>
    <p:sldId id="256" r:id="rId101"/>
    <p:sldId id="257" r:id="rId102"/>
    <p:sldId id="258" r:id="rId103"/>
    <p:sldId id="259" r:id="rId104"/>
    <p:sldId id="260" r:id="rId105"/>
    <p:sldId id="261" r:id="rId106"/>
    <p:sldId id="262" r:id="rId107"/>
    <p:sldId id="263" r:id="rId108"/>
    <p:sldId id="264" r:id="rId109"/>
    <p:sldId id="265" r:id="rId110"/>
    <p:sldId id="266" r:id="rId111"/>
    <p:sldId id="267" r:id="rId112"/>
    <p:sldId id="268" r:id="rId113"/>
    <p:sldId id="269" r:id="rId20"/>
    <p:sldId id="270" r:id="rId21"/>
    <p:sldId id="271" r:id="rId22"/>
    <p:sldId id="272" r:id="rId23"/>
    <p:sldId id="273" r:id="rId24"/>
  </p:sldIdLst>
  <p:sldSz cx="12191999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101" Type="http://schemas.openxmlformats.org/officeDocument/2006/relationships/slide" Target="slides/slide1.xml"/><Relationship Id="rId102" Type="http://schemas.openxmlformats.org/officeDocument/2006/relationships/slide" Target="slides/slide2.xml"/><Relationship Id="rId103" Type="http://schemas.openxmlformats.org/officeDocument/2006/relationships/slide" Target="slides/slide3.xml"/><Relationship Id="rId104" Type="http://schemas.openxmlformats.org/officeDocument/2006/relationships/slide" Target="slides/slide4.xml"/><Relationship Id="rId105" Type="http://schemas.openxmlformats.org/officeDocument/2006/relationships/slide" Target="slides/slide5.xml"/><Relationship Id="rId106" Type="http://schemas.openxmlformats.org/officeDocument/2006/relationships/slide" Target="slides/slide6.xml"/><Relationship Id="rId107" Type="http://schemas.openxmlformats.org/officeDocument/2006/relationships/slide" Target="slides/slide7.xml"/><Relationship Id="rId108" Type="http://schemas.openxmlformats.org/officeDocument/2006/relationships/slide" Target="slides/slide8.xml"/><Relationship Id="rId109" Type="http://schemas.openxmlformats.org/officeDocument/2006/relationships/slide" Target="slides/slide9.xml"/><Relationship Id="rId110" Type="http://schemas.openxmlformats.org/officeDocument/2006/relationships/slide" Target="slides/slide10.xml"/><Relationship Id="rId111" Type="http://schemas.openxmlformats.org/officeDocument/2006/relationships/slide" Target="slides/slide11.xml"/><Relationship Id="rId112" Type="http://schemas.openxmlformats.org/officeDocument/2006/relationships/slide" Target="slides/slide12.xml"/><Relationship Id="rId113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B9BA5D-222A-46E0-8F3D-3380F591A716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03CC69-961E-40A7-B8F7-78879096E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251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20–30 seconds.</a:t>
            </a:r>
          </a:p>
          <a:p>
            <a:r>
              <a:t>Open with the topic and the central idea: the project is not about accuracy only; it is about detecting failures while controlling false alarms.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45–60 seconds.</a:t>
            </a:r>
          </a:p>
          <a:p>
            <a:r>
              <a:t>• Bankruptcy screening matters for lenders, investors, auditors, and stakeholders.</a:t>
            </a:r>
          </a:p>
          <a:p>
            <a:r>
              <a:t>• Failed observations are rare, so accuracy can be misleading.</a:t>
            </a:r>
          </a:p>
          <a:p>
            <a:r>
              <a:t>• The research question is about the trade-off between detecting failures and creating false alarms.</a:t>
            </a:r>
          </a:p>
          <a:p>
            <a:r>
              <a:t>• Main story: no universal winning model.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45 seconds.</a:t>
            </a:r>
          </a:p>
          <a:p>
            <a:r>
              <a:t>• Unit of observation: company-year.</a:t>
            </a:r>
          </a:p>
          <a:p>
            <a:r>
              <a:t>• 78,682 observations, 8,971 companies, 1999–2018.</a:t>
            </a:r>
          </a:p>
          <a:p>
            <a:r>
              <a:t>• Failed class is only 6.63%.</a:t>
            </a:r>
          </a:p>
          <a:p>
            <a:r>
              <a:t>• A majority-only model can look good in accuracy but detect no failures.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60–75 seconds.</a:t>
            </a:r>
          </a:p>
          <a:p>
            <a:r>
              <a:t>• Same company appears in several years.</a:t>
            </a:r>
          </a:p>
          <a:p>
            <a:r>
              <a:t>• Row-level splitting could leak company-specific information.</a:t>
            </a:r>
          </a:p>
          <a:p>
            <a:r>
              <a:t>• Split complete companies: training/final test, then inner training/validation.</a:t>
            </a:r>
          </a:p>
          <a:p>
            <a:r>
              <a:t>• Validation is used for model selection and threshold analysis.</a:t>
            </a:r>
          </a:p>
          <a:p>
            <a:r>
              <a:t>• Final test remains untouched.</a:t>
            </a:r>
          </a:p>
          <a:p>
            <a:r>
              <a:t>• This is unseen-company generalization, not chronological forecasting.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50–60 seconds.</a:t>
            </a:r>
          </a:p>
          <a:p>
            <a:r>
              <a:t>• Majority baseline shows why accuracy is misleading.</a:t>
            </a:r>
          </a:p>
          <a:p>
            <a:r>
              <a:t>• Logistic Regression is the interpretable benchmark.</a:t>
            </a:r>
          </a:p>
          <a:p>
            <a:r>
              <a:t>• Regularized LR, Decision Tree, Random Forest, and Gradient Boosting extend the comparison.</a:t>
            </a:r>
          </a:p>
          <a:p>
            <a:r>
              <a:t>• PCA + LR is a validation-only extension.</a:t>
            </a:r>
          </a:p>
          <a:p>
            <a:r>
              <a:t>• Key point: model choice depends on the objective.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60 seconds.</a:t>
            </a:r>
          </a:p>
          <a:p>
            <a:r>
              <a:t>• Accuracy is not enough because failures are rare.</a:t>
            </a:r>
          </a:p>
          <a:p>
            <a:r>
              <a:t>• Recall: how many failures are detected.</a:t>
            </a:r>
          </a:p>
          <a:p>
            <a:r>
              <a:t>• Precision: how many alerts are correct.</a:t>
            </a:r>
          </a:p>
          <a:p>
            <a:r>
              <a:t>• F1 balances precision and recall.</a:t>
            </a:r>
          </a:p>
          <a:p>
            <a:r>
              <a:t>• PR-AUC is average precision and measures ranking for the failed class.</a:t>
            </a:r>
          </a:p>
          <a:p>
            <a:r>
              <a:t>• Threshold analysis uses validation predictions only; final test uses the default rule.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60–75 seconds.</a:t>
            </a:r>
          </a:p>
          <a:p>
            <a:r>
              <a:t>• Baseline proves why accuracy is misleading.</a:t>
            </a:r>
          </a:p>
          <a:p>
            <a:r>
              <a:t>• Logistic Regression detects the largest share of failures but creates many false alarms.</a:t>
            </a:r>
          </a:p>
          <a:p>
            <a:r>
              <a:t>• Random Forest is more selective and has the highest observed final-test PR-AUC and F1.</a:t>
            </a:r>
          </a:p>
          <a:p>
            <a:r>
              <a:t>• Gradient Boosting was selected before final-test evaluation and has the highest balanced accuracy.</a:t>
            </a:r>
          </a:p>
          <a:p>
            <a:r>
              <a:t>• Do not call one model universally best.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75–90 seconds.</a:t>
            </a:r>
          </a:p>
          <a:p>
            <a:r>
              <a:t>• This is the most important result slide.</a:t>
            </a:r>
          </a:p>
          <a:p>
            <a:r>
              <a:t>• Logistic Regression detects 1,041 failures but creates 9,906 false alarms.</a:t>
            </a:r>
          </a:p>
          <a:p>
            <a:r>
              <a:t>• Random Forest creates fewer alerts but misses more failures.</a:t>
            </a:r>
          </a:p>
          <a:p>
            <a:r>
              <a:t>• Gradient Boosting sits between them.</a:t>
            </a:r>
          </a:p>
          <a:p>
            <a:r>
              <a:t>• The best choice depends on missed-failure cost and review capacity, which are not estimated here.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45–60 seconds.</a:t>
            </a:r>
          </a:p>
          <a:p>
            <a:r>
              <a:t>• PR curves focus on the rare failed class.</a:t>
            </a:r>
          </a:p>
          <a:p>
            <a:r>
              <a:t>• Average precision is very close: RF 0.159, GB 0.158, LR 0.153.</a:t>
            </a:r>
          </a:p>
          <a:p>
            <a:r>
              <a:t>• Similar ranking does not mean similar classifications at the default threshold.</a:t>
            </a:r>
          </a:p>
          <a:p>
            <a:r>
              <a:t>• This is why ranking metrics and confusion matrices must both be discussed.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45–60 seconds.</a:t>
            </a:r>
          </a:p>
          <a:p>
            <a:r>
              <a:t>• Coefficients are signed because Logistic Regression is interpretable.</a:t>
            </a:r>
          </a:p>
          <a:p>
            <a:r>
              <a:t>• Current assets and market value have the largest negative coefficients.</a:t>
            </a:r>
          </a:p>
          <a:p>
            <a:r>
              <a:t>• Negative means lower predicted failure log-odds, holding other predictors fixed.</a:t>
            </a:r>
          </a:p>
          <a:p>
            <a:r>
              <a:t>• Do not interpret coefficients or feature importance causally.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35–45 seconds.</a:t>
            </a:r>
          </a:p>
          <a:p>
            <a:r>
              <a:t>• PCA retains variance quickly.</a:t>
            </a:r>
          </a:p>
          <a:p>
            <a:r>
              <a:t>• But high explained variance does not automatically improve classification.</a:t>
            </a:r>
          </a:p>
          <a:p>
            <a:r>
              <a:t>• Ten to twelve components perform similarly to the original Logistic Regression.</a:t>
            </a:r>
          </a:p>
          <a:p>
            <a:r>
              <a:t>• PCA also reduces financial interpretability.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60 seconds.</a:t>
            </a:r>
          </a:p>
          <a:p>
            <a:r>
              <a:t>• The project shows useful screening information in financial variables.</a:t>
            </a:r>
          </a:p>
          <a:p>
            <a:r>
              <a:t>• It does not show causality, calibrated probabilities, or a production-ready rule.</a:t>
            </a:r>
          </a:p>
          <a:p>
            <a:r>
              <a:t>• Main limitation: not a chronological forecasting backtest.</a:t>
            </a:r>
          </a:p>
          <a:p>
            <a:r>
              <a:t>• Final answer: bankruptcy prediction remains difficult; model choice depends on the screening objective.</a:t>
            </a:r>
          </a:p>
          <a:p>
            <a:r>
              <a:t>• Future work: horizon, chronological evaluation, costs, review capacity.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10 seconds.</a:t>
            </a:r>
          </a:p>
          <a:p>
            <a:r>
              <a:t>Thank the audience and invite questions. Use backup slides if asked.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 Use if asked about hyperparameters or why the grids were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 Use if asked for the complete final-test numbers beyond the main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 Use if asked how thresholds were selected. Emphasize validation-only and review burden.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 Use if asked which financial variables mattered in the tree models. Importance has no direction and is not causal.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 Use if asked about reproducibility. Mention Pixi, pytask, tests, and saved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pieren 27"/>
          <p:cNvGrpSpPr>
            <a:grpSpLocks noChangeAspect="1"/>
          </p:cNvGrpSpPr>
          <p:nvPr userDrawn="1"/>
        </p:nvGrpSpPr>
        <p:grpSpPr>
          <a:xfrm>
            <a:off x="4997700" y="1"/>
            <a:ext cx="7202471" cy="6858000"/>
            <a:chOff x="3778209" y="0"/>
            <a:chExt cx="5444993" cy="5184775"/>
          </a:xfrm>
        </p:grpSpPr>
        <p:pic>
          <p:nvPicPr>
            <p:cNvPr id="29" name="Grafik 2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78209" y="0"/>
              <a:ext cx="5444993" cy="5184775"/>
            </a:xfrm>
            <a:prstGeom prst="rect">
              <a:avLst/>
            </a:prstGeom>
          </p:spPr>
        </p:pic>
        <p:pic>
          <p:nvPicPr>
            <p:cNvPr id="30" name="Grafik 29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0771" y="1620454"/>
              <a:ext cx="1975907" cy="2653200"/>
            </a:xfrm>
            <a:prstGeom prst="rect">
              <a:avLst/>
            </a:prstGeom>
          </p:spPr>
        </p:pic>
      </p:grpSp>
      <p:sp>
        <p:nvSpPr>
          <p:cNvPr id="2" name="Titel 1"/>
          <p:cNvSpPr>
            <a:spLocks noGrp="1"/>
          </p:cNvSpPr>
          <p:nvPr userDrawn="1">
            <p:ph type="ctrTitle"/>
          </p:nvPr>
        </p:nvSpPr>
        <p:spPr>
          <a:xfrm>
            <a:off x="1715346" y="2095720"/>
            <a:ext cx="6666759" cy="476179"/>
          </a:xfrm>
        </p:spPr>
        <p:txBody>
          <a:bodyPr wrap="none" bIns="0" anchor="b" anchorCtr="0"/>
          <a:lstStyle>
            <a:lvl1pPr>
              <a:lnSpc>
                <a:spcPts val="3174"/>
              </a:lnSpc>
              <a:defRPr sz="3174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 userDrawn="1">
            <p:ph type="subTitle" idx="1"/>
          </p:nvPr>
        </p:nvSpPr>
        <p:spPr>
          <a:xfrm>
            <a:off x="1715346" y="2571782"/>
            <a:ext cx="6666759" cy="2476130"/>
          </a:xfrm>
        </p:spPr>
        <p:txBody>
          <a:bodyPr tIns="0" bIns="0"/>
          <a:lstStyle>
            <a:lvl1pPr marL="0" indent="0" algn="l">
              <a:lnSpc>
                <a:spcPts val="4762"/>
              </a:lnSpc>
              <a:spcBef>
                <a:spcPts val="0"/>
              </a:spcBef>
              <a:spcAft>
                <a:spcPts val="0"/>
              </a:spcAft>
              <a:buNone/>
              <a:defRPr sz="4233" cap="all" baseline="0">
                <a:solidFill>
                  <a:schemeClr val="accent2"/>
                </a:solidFill>
                <a:latin typeface="Exo 2 Semi Bold" pitchFamily="50" charset="0"/>
              </a:defRPr>
            </a:lvl1pPr>
            <a:lvl2pPr marL="6047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094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142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18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236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284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33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37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  <a:endParaRPr lang="de-DE" dirty="0"/>
          </a:p>
        </p:txBody>
      </p:sp>
      <p:grpSp>
        <p:nvGrpSpPr>
          <p:cNvPr id="70" name="Gruppieren 69"/>
          <p:cNvGrpSpPr>
            <a:grpSpLocks noChangeAspect="1"/>
          </p:cNvGrpSpPr>
          <p:nvPr userDrawn="1"/>
        </p:nvGrpSpPr>
        <p:grpSpPr>
          <a:xfrm>
            <a:off x="381001" y="381211"/>
            <a:ext cx="2230875" cy="857122"/>
            <a:chOff x="7081838" y="144463"/>
            <a:chExt cx="1871662" cy="719137"/>
          </a:xfrm>
        </p:grpSpPr>
        <p:sp>
          <p:nvSpPr>
            <p:cNvPr id="71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7081838" y="144463"/>
              <a:ext cx="1871662" cy="719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72" name="Freeform 5"/>
            <p:cNvSpPr>
              <a:spLocks/>
            </p:cNvSpPr>
            <p:nvPr userDrawn="1"/>
          </p:nvSpPr>
          <p:spPr bwMode="auto">
            <a:xfrm>
              <a:off x="8216900" y="144463"/>
              <a:ext cx="455612" cy="392112"/>
            </a:xfrm>
            <a:custGeom>
              <a:avLst/>
              <a:gdLst>
                <a:gd name="T0" fmla="*/ 944 w 1277"/>
                <a:gd name="T1" fmla="*/ 552 h 1104"/>
                <a:gd name="T2" fmla="*/ 1277 w 1277"/>
                <a:gd name="T3" fmla="*/ 0 h 1104"/>
                <a:gd name="T4" fmla="*/ 0 w 1277"/>
                <a:gd name="T5" fmla="*/ 0 h 1104"/>
                <a:gd name="T6" fmla="*/ 0 w 1277"/>
                <a:gd name="T7" fmla="*/ 1104 h 1104"/>
                <a:gd name="T8" fmla="*/ 944 w 1277"/>
                <a:gd name="T9" fmla="*/ 552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7" h="1104">
                  <a:moveTo>
                    <a:pt x="944" y="552"/>
                  </a:moveTo>
                  <a:cubicBezTo>
                    <a:pt x="1110" y="357"/>
                    <a:pt x="1203" y="197"/>
                    <a:pt x="1277" y="0"/>
                  </a:cubicBezTo>
                  <a:lnTo>
                    <a:pt x="0" y="0"/>
                  </a:lnTo>
                  <a:lnTo>
                    <a:pt x="0" y="1104"/>
                  </a:lnTo>
                  <a:cubicBezTo>
                    <a:pt x="253" y="1070"/>
                    <a:pt x="607" y="949"/>
                    <a:pt x="944" y="552"/>
                  </a:cubicBezTo>
                  <a:close/>
                </a:path>
              </a:pathLst>
            </a:custGeom>
            <a:solidFill>
              <a:srgbClr val="07529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73" name="Rectangle 6"/>
            <p:cNvSpPr>
              <a:spLocks noChangeArrowheads="1"/>
            </p:cNvSpPr>
            <p:nvPr userDrawn="1"/>
          </p:nvSpPr>
          <p:spPr bwMode="auto">
            <a:xfrm>
              <a:off x="8216900" y="654050"/>
              <a:ext cx="714375" cy="200025"/>
            </a:xfrm>
            <a:prstGeom prst="rect">
              <a:avLst/>
            </a:prstGeom>
            <a:solidFill>
              <a:srgbClr val="EAB90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74" name="Freeform 7"/>
            <p:cNvSpPr>
              <a:spLocks/>
            </p:cNvSpPr>
            <p:nvPr userDrawn="1"/>
          </p:nvSpPr>
          <p:spPr bwMode="auto">
            <a:xfrm>
              <a:off x="8216900" y="144463"/>
              <a:ext cx="714375" cy="477837"/>
            </a:xfrm>
            <a:custGeom>
              <a:avLst/>
              <a:gdLst>
                <a:gd name="T0" fmla="*/ 2000 w 2000"/>
                <a:gd name="T1" fmla="*/ 0 h 1349"/>
                <a:gd name="T2" fmla="*/ 1361 w 2000"/>
                <a:gd name="T3" fmla="*/ 0 h 1349"/>
                <a:gd name="T4" fmla="*/ 992 w 2000"/>
                <a:gd name="T5" fmla="*/ 627 h 1349"/>
                <a:gd name="T6" fmla="*/ 0 w 2000"/>
                <a:gd name="T7" fmla="*/ 1193 h 1349"/>
                <a:gd name="T8" fmla="*/ 0 w 2000"/>
                <a:gd name="T9" fmla="*/ 1349 h 1349"/>
                <a:gd name="T10" fmla="*/ 2000 w 2000"/>
                <a:gd name="T11" fmla="*/ 1349 h 1349"/>
                <a:gd name="T12" fmla="*/ 2000 w 2000"/>
                <a:gd name="T13" fmla="*/ 0 h 1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00" h="1349">
                  <a:moveTo>
                    <a:pt x="2000" y="0"/>
                  </a:moveTo>
                  <a:lnTo>
                    <a:pt x="1361" y="0"/>
                  </a:lnTo>
                  <a:cubicBezTo>
                    <a:pt x="1285" y="208"/>
                    <a:pt x="1168" y="419"/>
                    <a:pt x="992" y="627"/>
                  </a:cubicBezTo>
                  <a:cubicBezTo>
                    <a:pt x="644" y="1036"/>
                    <a:pt x="259" y="1159"/>
                    <a:pt x="0" y="1193"/>
                  </a:cubicBezTo>
                  <a:lnTo>
                    <a:pt x="0" y="1349"/>
                  </a:lnTo>
                  <a:lnTo>
                    <a:pt x="2000" y="1349"/>
                  </a:lnTo>
                  <a:lnTo>
                    <a:pt x="2000" y="0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75" name="Freeform 8"/>
            <p:cNvSpPr>
              <a:spLocks noEditPoints="1"/>
            </p:cNvSpPr>
            <p:nvPr userDrawn="1"/>
          </p:nvSpPr>
          <p:spPr bwMode="auto">
            <a:xfrm>
              <a:off x="8250238" y="690563"/>
              <a:ext cx="95250" cy="131762"/>
            </a:xfrm>
            <a:custGeom>
              <a:avLst/>
              <a:gdLst>
                <a:gd name="T0" fmla="*/ 134 w 264"/>
                <a:gd name="T1" fmla="*/ 318 h 371"/>
                <a:gd name="T2" fmla="*/ 198 w 264"/>
                <a:gd name="T3" fmla="*/ 265 h 371"/>
                <a:gd name="T4" fmla="*/ 132 w 264"/>
                <a:gd name="T5" fmla="*/ 203 h 371"/>
                <a:gd name="T6" fmla="*/ 65 w 264"/>
                <a:gd name="T7" fmla="*/ 203 h 371"/>
                <a:gd name="T8" fmla="*/ 65 w 264"/>
                <a:gd name="T9" fmla="*/ 318 h 371"/>
                <a:gd name="T10" fmla="*/ 134 w 264"/>
                <a:gd name="T11" fmla="*/ 318 h 371"/>
                <a:gd name="T12" fmla="*/ 65 w 264"/>
                <a:gd name="T13" fmla="*/ 53 h 371"/>
                <a:gd name="T14" fmla="*/ 65 w 264"/>
                <a:gd name="T15" fmla="*/ 155 h 371"/>
                <a:gd name="T16" fmla="*/ 131 w 264"/>
                <a:gd name="T17" fmla="*/ 155 h 371"/>
                <a:gd name="T18" fmla="*/ 190 w 264"/>
                <a:gd name="T19" fmla="*/ 103 h 371"/>
                <a:gd name="T20" fmla="*/ 126 w 264"/>
                <a:gd name="T21" fmla="*/ 53 h 371"/>
                <a:gd name="T22" fmla="*/ 65 w 264"/>
                <a:gd name="T23" fmla="*/ 53 h 371"/>
                <a:gd name="T24" fmla="*/ 191 w 264"/>
                <a:gd name="T25" fmla="*/ 180 h 371"/>
                <a:gd name="T26" fmla="*/ 264 w 264"/>
                <a:gd name="T27" fmla="*/ 277 h 371"/>
                <a:gd name="T28" fmla="*/ 145 w 264"/>
                <a:gd name="T29" fmla="*/ 371 h 371"/>
                <a:gd name="T30" fmla="*/ 0 w 264"/>
                <a:gd name="T31" fmla="*/ 367 h 371"/>
                <a:gd name="T32" fmla="*/ 0 w 264"/>
                <a:gd name="T33" fmla="*/ 4 h 371"/>
                <a:gd name="T34" fmla="*/ 129 w 264"/>
                <a:gd name="T35" fmla="*/ 0 h 371"/>
                <a:gd name="T36" fmla="*/ 253 w 264"/>
                <a:gd name="T37" fmla="*/ 95 h 371"/>
                <a:gd name="T38" fmla="*/ 191 w 264"/>
                <a:gd name="T39" fmla="*/ 178 h 371"/>
                <a:gd name="T40" fmla="*/ 191 w 264"/>
                <a:gd name="T41" fmla="*/ 18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64" h="371">
                  <a:moveTo>
                    <a:pt x="134" y="318"/>
                  </a:moveTo>
                  <a:cubicBezTo>
                    <a:pt x="183" y="318"/>
                    <a:pt x="198" y="308"/>
                    <a:pt x="198" y="265"/>
                  </a:cubicBezTo>
                  <a:cubicBezTo>
                    <a:pt x="198" y="216"/>
                    <a:pt x="182" y="204"/>
                    <a:pt x="132" y="203"/>
                  </a:cubicBezTo>
                  <a:lnTo>
                    <a:pt x="65" y="203"/>
                  </a:lnTo>
                  <a:lnTo>
                    <a:pt x="65" y="318"/>
                  </a:lnTo>
                  <a:lnTo>
                    <a:pt x="134" y="318"/>
                  </a:lnTo>
                  <a:close/>
                  <a:moveTo>
                    <a:pt x="65" y="53"/>
                  </a:moveTo>
                  <a:lnTo>
                    <a:pt x="65" y="155"/>
                  </a:lnTo>
                  <a:lnTo>
                    <a:pt x="131" y="155"/>
                  </a:lnTo>
                  <a:cubicBezTo>
                    <a:pt x="175" y="155"/>
                    <a:pt x="190" y="145"/>
                    <a:pt x="190" y="103"/>
                  </a:cubicBezTo>
                  <a:cubicBezTo>
                    <a:pt x="190" y="63"/>
                    <a:pt x="174" y="53"/>
                    <a:pt x="126" y="53"/>
                  </a:cubicBezTo>
                  <a:lnTo>
                    <a:pt x="65" y="53"/>
                  </a:lnTo>
                  <a:close/>
                  <a:moveTo>
                    <a:pt x="191" y="180"/>
                  </a:moveTo>
                  <a:cubicBezTo>
                    <a:pt x="245" y="185"/>
                    <a:pt x="264" y="219"/>
                    <a:pt x="264" y="277"/>
                  </a:cubicBezTo>
                  <a:cubicBezTo>
                    <a:pt x="264" y="351"/>
                    <a:pt x="230" y="371"/>
                    <a:pt x="145" y="371"/>
                  </a:cubicBezTo>
                  <a:cubicBezTo>
                    <a:pt x="79" y="371"/>
                    <a:pt x="44" y="371"/>
                    <a:pt x="0" y="367"/>
                  </a:cubicBezTo>
                  <a:lnTo>
                    <a:pt x="0" y="4"/>
                  </a:lnTo>
                  <a:cubicBezTo>
                    <a:pt x="39" y="1"/>
                    <a:pt x="71" y="0"/>
                    <a:pt x="129" y="0"/>
                  </a:cubicBezTo>
                  <a:cubicBezTo>
                    <a:pt x="220" y="0"/>
                    <a:pt x="253" y="20"/>
                    <a:pt x="253" y="95"/>
                  </a:cubicBezTo>
                  <a:cubicBezTo>
                    <a:pt x="253" y="147"/>
                    <a:pt x="235" y="174"/>
                    <a:pt x="191" y="178"/>
                  </a:cubicBezTo>
                  <a:lnTo>
                    <a:pt x="191" y="1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76" name="Freeform 9"/>
            <p:cNvSpPr>
              <a:spLocks noEditPoints="1"/>
            </p:cNvSpPr>
            <p:nvPr userDrawn="1"/>
          </p:nvSpPr>
          <p:spPr bwMode="auto">
            <a:xfrm>
              <a:off x="8364538" y="688975"/>
              <a:ext cx="106362" cy="133350"/>
            </a:xfrm>
            <a:custGeom>
              <a:avLst/>
              <a:gdLst>
                <a:gd name="T0" fmla="*/ 69 w 299"/>
                <a:gd name="T1" fmla="*/ 188 h 376"/>
                <a:gd name="T2" fmla="*/ 149 w 299"/>
                <a:gd name="T3" fmla="*/ 320 h 376"/>
                <a:gd name="T4" fmla="*/ 230 w 299"/>
                <a:gd name="T5" fmla="*/ 188 h 376"/>
                <a:gd name="T6" fmla="*/ 149 w 299"/>
                <a:gd name="T7" fmla="*/ 56 h 376"/>
                <a:gd name="T8" fmla="*/ 69 w 299"/>
                <a:gd name="T9" fmla="*/ 188 h 376"/>
                <a:gd name="T10" fmla="*/ 299 w 299"/>
                <a:gd name="T11" fmla="*/ 188 h 376"/>
                <a:gd name="T12" fmla="*/ 149 w 299"/>
                <a:gd name="T13" fmla="*/ 376 h 376"/>
                <a:gd name="T14" fmla="*/ 0 w 299"/>
                <a:gd name="T15" fmla="*/ 188 h 376"/>
                <a:gd name="T16" fmla="*/ 149 w 299"/>
                <a:gd name="T17" fmla="*/ 0 h 376"/>
                <a:gd name="T18" fmla="*/ 299 w 299"/>
                <a:gd name="T19" fmla="*/ 188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9" h="376">
                  <a:moveTo>
                    <a:pt x="69" y="188"/>
                  </a:moveTo>
                  <a:cubicBezTo>
                    <a:pt x="69" y="289"/>
                    <a:pt x="88" y="320"/>
                    <a:pt x="149" y="320"/>
                  </a:cubicBezTo>
                  <a:cubicBezTo>
                    <a:pt x="211" y="320"/>
                    <a:pt x="230" y="289"/>
                    <a:pt x="230" y="188"/>
                  </a:cubicBezTo>
                  <a:cubicBezTo>
                    <a:pt x="230" y="87"/>
                    <a:pt x="211" y="56"/>
                    <a:pt x="149" y="56"/>
                  </a:cubicBezTo>
                  <a:cubicBezTo>
                    <a:pt x="88" y="56"/>
                    <a:pt x="69" y="87"/>
                    <a:pt x="69" y="188"/>
                  </a:cubicBezTo>
                  <a:close/>
                  <a:moveTo>
                    <a:pt x="299" y="188"/>
                  </a:moveTo>
                  <a:cubicBezTo>
                    <a:pt x="299" y="332"/>
                    <a:pt x="260" y="376"/>
                    <a:pt x="149" y="376"/>
                  </a:cubicBezTo>
                  <a:cubicBezTo>
                    <a:pt x="39" y="376"/>
                    <a:pt x="0" y="332"/>
                    <a:pt x="0" y="188"/>
                  </a:cubicBezTo>
                  <a:cubicBezTo>
                    <a:pt x="0" y="44"/>
                    <a:pt x="39" y="0"/>
                    <a:pt x="149" y="0"/>
                  </a:cubicBezTo>
                  <a:cubicBezTo>
                    <a:pt x="260" y="0"/>
                    <a:pt x="299" y="44"/>
                    <a:pt x="299" y="1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77" name="Freeform 10"/>
            <p:cNvSpPr>
              <a:spLocks/>
            </p:cNvSpPr>
            <p:nvPr userDrawn="1"/>
          </p:nvSpPr>
          <p:spPr bwMode="auto">
            <a:xfrm>
              <a:off x="8496300" y="692150"/>
              <a:ext cx="104775" cy="128587"/>
            </a:xfrm>
            <a:custGeom>
              <a:avLst/>
              <a:gdLst>
                <a:gd name="T0" fmla="*/ 295 w 295"/>
                <a:gd name="T1" fmla="*/ 339 h 363"/>
                <a:gd name="T2" fmla="*/ 271 w 295"/>
                <a:gd name="T3" fmla="*/ 363 h 363"/>
                <a:gd name="T4" fmla="*/ 219 w 295"/>
                <a:gd name="T5" fmla="*/ 363 h 363"/>
                <a:gd name="T6" fmla="*/ 192 w 295"/>
                <a:gd name="T7" fmla="*/ 343 h 363"/>
                <a:gd name="T8" fmla="*/ 90 w 295"/>
                <a:gd name="T9" fmla="*/ 121 h 363"/>
                <a:gd name="T10" fmla="*/ 68 w 295"/>
                <a:gd name="T11" fmla="*/ 67 h 363"/>
                <a:gd name="T12" fmla="*/ 62 w 295"/>
                <a:gd name="T13" fmla="*/ 67 h 363"/>
                <a:gd name="T14" fmla="*/ 65 w 295"/>
                <a:gd name="T15" fmla="*/ 121 h 363"/>
                <a:gd name="T16" fmla="*/ 65 w 295"/>
                <a:gd name="T17" fmla="*/ 363 h 363"/>
                <a:gd name="T18" fmla="*/ 0 w 295"/>
                <a:gd name="T19" fmla="*/ 363 h 363"/>
                <a:gd name="T20" fmla="*/ 0 w 295"/>
                <a:gd name="T21" fmla="*/ 25 h 363"/>
                <a:gd name="T22" fmla="*/ 25 w 295"/>
                <a:gd name="T23" fmla="*/ 0 h 363"/>
                <a:gd name="T24" fmla="*/ 76 w 295"/>
                <a:gd name="T25" fmla="*/ 0 h 363"/>
                <a:gd name="T26" fmla="*/ 103 w 295"/>
                <a:gd name="T27" fmla="*/ 20 h 363"/>
                <a:gd name="T28" fmla="*/ 202 w 295"/>
                <a:gd name="T29" fmla="*/ 237 h 363"/>
                <a:gd name="T30" fmla="*/ 227 w 295"/>
                <a:gd name="T31" fmla="*/ 294 h 363"/>
                <a:gd name="T32" fmla="*/ 234 w 295"/>
                <a:gd name="T33" fmla="*/ 294 h 363"/>
                <a:gd name="T34" fmla="*/ 231 w 295"/>
                <a:gd name="T35" fmla="*/ 235 h 363"/>
                <a:gd name="T36" fmla="*/ 231 w 295"/>
                <a:gd name="T37" fmla="*/ 0 h 363"/>
                <a:gd name="T38" fmla="*/ 295 w 295"/>
                <a:gd name="T39" fmla="*/ 0 h 363"/>
                <a:gd name="T40" fmla="*/ 295 w 295"/>
                <a:gd name="T41" fmla="*/ 339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5" h="363">
                  <a:moveTo>
                    <a:pt x="295" y="339"/>
                  </a:moveTo>
                  <a:cubicBezTo>
                    <a:pt x="295" y="355"/>
                    <a:pt x="287" y="363"/>
                    <a:pt x="271" y="363"/>
                  </a:cubicBezTo>
                  <a:lnTo>
                    <a:pt x="219" y="363"/>
                  </a:lnTo>
                  <a:cubicBezTo>
                    <a:pt x="205" y="363"/>
                    <a:pt x="197" y="357"/>
                    <a:pt x="192" y="343"/>
                  </a:cubicBezTo>
                  <a:lnTo>
                    <a:pt x="90" y="121"/>
                  </a:lnTo>
                  <a:cubicBezTo>
                    <a:pt x="83" y="106"/>
                    <a:pt x="72" y="84"/>
                    <a:pt x="68" y="67"/>
                  </a:cubicBezTo>
                  <a:lnTo>
                    <a:pt x="62" y="67"/>
                  </a:lnTo>
                  <a:cubicBezTo>
                    <a:pt x="64" y="85"/>
                    <a:pt x="65" y="104"/>
                    <a:pt x="65" y="121"/>
                  </a:cubicBezTo>
                  <a:lnTo>
                    <a:pt x="65" y="363"/>
                  </a:lnTo>
                  <a:lnTo>
                    <a:pt x="0" y="363"/>
                  </a:lnTo>
                  <a:lnTo>
                    <a:pt x="0" y="25"/>
                  </a:lnTo>
                  <a:cubicBezTo>
                    <a:pt x="0" y="9"/>
                    <a:pt x="9" y="0"/>
                    <a:pt x="25" y="0"/>
                  </a:cubicBezTo>
                  <a:lnTo>
                    <a:pt x="76" y="0"/>
                  </a:lnTo>
                  <a:cubicBezTo>
                    <a:pt x="90" y="0"/>
                    <a:pt x="97" y="7"/>
                    <a:pt x="103" y="20"/>
                  </a:cubicBezTo>
                  <a:lnTo>
                    <a:pt x="202" y="237"/>
                  </a:lnTo>
                  <a:cubicBezTo>
                    <a:pt x="209" y="252"/>
                    <a:pt x="219" y="274"/>
                    <a:pt x="227" y="294"/>
                  </a:cubicBezTo>
                  <a:lnTo>
                    <a:pt x="234" y="294"/>
                  </a:lnTo>
                  <a:cubicBezTo>
                    <a:pt x="232" y="274"/>
                    <a:pt x="231" y="254"/>
                    <a:pt x="231" y="235"/>
                  </a:cubicBezTo>
                  <a:lnTo>
                    <a:pt x="231" y="0"/>
                  </a:lnTo>
                  <a:lnTo>
                    <a:pt x="295" y="0"/>
                  </a:lnTo>
                  <a:lnTo>
                    <a:pt x="295" y="3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78" name="Freeform 11"/>
            <p:cNvSpPr>
              <a:spLocks/>
            </p:cNvSpPr>
            <p:nvPr userDrawn="1"/>
          </p:nvSpPr>
          <p:spPr bwMode="auto">
            <a:xfrm>
              <a:off x="8629650" y="692150"/>
              <a:ext cx="104775" cy="128587"/>
            </a:xfrm>
            <a:custGeom>
              <a:avLst/>
              <a:gdLst>
                <a:gd name="T0" fmla="*/ 295 w 295"/>
                <a:gd name="T1" fmla="*/ 339 h 363"/>
                <a:gd name="T2" fmla="*/ 271 w 295"/>
                <a:gd name="T3" fmla="*/ 363 h 363"/>
                <a:gd name="T4" fmla="*/ 219 w 295"/>
                <a:gd name="T5" fmla="*/ 363 h 363"/>
                <a:gd name="T6" fmla="*/ 191 w 295"/>
                <a:gd name="T7" fmla="*/ 343 h 363"/>
                <a:gd name="T8" fmla="*/ 89 w 295"/>
                <a:gd name="T9" fmla="*/ 121 h 363"/>
                <a:gd name="T10" fmla="*/ 68 w 295"/>
                <a:gd name="T11" fmla="*/ 67 h 363"/>
                <a:gd name="T12" fmla="*/ 62 w 295"/>
                <a:gd name="T13" fmla="*/ 67 h 363"/>
                <a:gd name="T14" fmla="*/ 65 w 295"/>
                <a:gd name="T15" fmla="*/ 121 h 363"/>
                <a:gd name="T16" fmla="*/ 65 w 295"/>
                <a:gd name="T17" fmla="*/ 363 h 363"/>
                <a:gd name="T18" fmla="*/ 0 w 295"/>
                <a:gd name="T19" fmla="*/ 363 h 363"/>
                <a:gd name="T20" fmla="*/ 0 w 295"/>
                <a:gd name="T21" fmla="*/ 25 h 363"/>
                <a:gd name="T22" fmla="*/ 25 w 295"/>
                <a:gd name="T23" fmla="*/ 0 h 363"/>
                <a:gd name="T24" fmla="*/ 76 w 295"/>
                <a:gd name="T25" fmla="*/ 0 h 363"/>
                <a:gd name="T26" fmla="*/ 103 w 295"/>
                <a:gd name="T27" fmla="*/ 20 h 363"/>
                <a:gd name="T28" fmla="*/ 202 w 295"/>
                <a:gd name="T29" fmla="*/ 237 h 363"/>
                <a:gd name="T30" fmla="*/ 227 w 295"/>
                <a:gd name="T31" fmla="*/ 294 h 363"/>
                <a:gd name="T32" fmla="*/ 233 w 295"/>
                <a:gd name="T33" fmla="*/ 294 h 363"/>
                <a:gd name="T34" fmla="*/ 231 w 295"/>
                <a:gd name="T35" fmla="*/ 235 h 363"/>
                <a:gd name="T36" fmla="*/ 231 w 295"/>
                <a:gd name="T37" fmla="*/ 0 h 363"/>
                <a:gd name="T38" fmla="*/ 295 w 295"/>
                <a:gd name="T39" fmla="*/ 0 h 363"/>
                <a:gd name="T40" fmla="*/ 295 w 295"/>
                <a:gd name="T41" fmla="*/ 339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5" h="363">
                  <a:moveTo>
                    <a:pt x="295" y="339"/>
                  </a:moveTo>
                  <a:cubicBezTo>
                    <a:pt x="295" y="355"/>
                    <a:pt x="286" y="363"/>
                    <a:pt x="271" y="363"/>
                  </a:cubicBezTo>
                  <a:lnTo>
                    <a:pt x="219" y="363"/>
                  </a:lnTo>
                  <a:cubicBezTo>
                    <a:pt x="204" y="363"/>
                    <a:pt x="197" y="357"/>
                    <a:pt x="191" y="343"/>
                  </a:cubicBezTo>
                  <a:lnTo>
                    <a:pt x="89" y="121"/>
                  </a:lnTo>
                  <a:cubicBezTo>
                    <a:pt x="83" y="106"/>
                    <a:pt x="72" y="84"/>
                    <a:pt x="68" y="67"/>
                  </a:cubicBezTo>
                  <a:lnTo>
                    <a:pt x="62" y="67"/>
                  </a:lnTo>
                  <a:cubicBezTo>
                    <a:pt x="64" y="85"/>
                    <a:pt x="65" y="104"/>
                    <a:pt x="65" y="121"/>
                  </a:cubicBezTo>
                  <a:lnTo>
                    <a:pt x="65" y="363"/>
                  </a:lnTo>
                  <a:lnTo>
                    <a:pt x="0" y="363"/>
                  </a:lnTo>
                  <a:lnTo>
                    <a:pt x="0" y="25"/>
                  </a:lnTo>
                  <a:cubicBezTo>
                    <a:pt x="0" y="9"/>
                    <a:pt x="9" y="0"/>
                    <a:pt x="25" y="0"/>
                  </a:cubicBezTo>
                  <a:lnTo>
                    <a:pt x="76" y="0"/>
                  </a:lnTo>
                  <a:cubicBezTo>
                    <a:pt x="90" y="0"/>
                    <a:pt x="97" y="7"/>
                    <a:pt x="103" y="20"/>
                  </a:cubicBezTo>
                  <a:lnTo>
                    <a:pt x="202" y="237"/>
                  </a:lnTo>
                  <a:cubicBezTo>
                    <a:pt x="209" y="252"/>
                    <a:pt x="219" y="274"/>
                    <a:pt x="227" y="294"/>
                  </a:cubicBezTo>
                  <a:lnTo>
                    <a:pt x="233" y="294"/>
                  </a:lnTo>
                  <a:cubicBezTo>
                    <a:pt x="232" y="274"/>
                    <a:pt x="231" y="254"/>
                    <a:pt x="231" y="235"/>
                  </a:cubicBezTo>
                  <a:lnTo>
                    <a:pt x="231" y="0"/>
                  </a:lnTo>
                  <a:lnTo>
                    <a:pt x="295" y="0"/>
                  </a:lnTo>
                  <a:lnTo>
                    <a:pt x="295" y="3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79" name="Freeform 12"/>
            <p:cNvSpPr>
              <a:spLocks/>
            </p:cNvSpPr>
            <p:nvPr userDrawn="1"/>
          </p:nvSpPr>
          <p:spPr bwMode="auto">
            <a:xfrm>
              <a:off x="7081838" y="692150"/>
              <a:ext cx="95250" cy="130175"/>
            </a:xfrm>
            <a:custGeom>
              <a:avLst/>
              <a:gdLst>
                <a:gd name="T0" fmla="*/ 267 w 267"/>
                <a:gd name="T1" fmla="*/ 223 h 370"/>
                <a:gd name="T2" fmla="*/ 136 w 267"/>
                <a:gd name="T3" fmla="*/ 370 h 370"/>
                <a:gd name="T4" fmla="*/ 0 w 267"/>
                <a:gd name="T5" fmla="*/ 223 h 370"/>
                <a:gd name="T6" fmla="*/ 0 w 267"/>
                <a:gd name="T7" fmla="*/ 0 h 370"/>
                <a:gd name="T8" fmla="*/ 53 w 267"/>
                <a:gd name="T9" fmla="*/ 0 h 370"/>
                <a:gd name="T10" fmla="*/ 53 w 267"/>
                <a:gd name="T11" fmla="*/ 223 h 370"/>
                <a:gd name="T12" fmla="*/ 134 w 267"/>
                <a:gd name="T13" fmla="*/ 323 h 370"/>
                <a:gd name="T14" fmla="*/ 215 w 267"/>
                <a:gd name="T15" fmla="*/ 223 h 370"/>
                <a:gd name="T16" fmla="*/ 215 w 267"/>
                <a:gd name="T17" fmla="*/ 0 h 370"/>
                <a:gd name="T18" fmla="*/ 267 w 267"/>
                <a:gd name="T19" fmla="*/ 0 h 370"/>
                <a:gd name="T20" fmla="*/ 267 w 267"/>
                <a:gd name="T21" fmla="*/ 223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7" h="370">
                  <a:moveTo>
                    <a:pt x="267" y="223"/>
                  </a:moveTo>
                  <a:cubicBezTo>
                    <a:pt x="267" y="330"/>
                    <a:pt x="232" y="370"/>
                    <a:pt x="136" y="370"/>
                  </a:cubicBezTo>
                  <a:cubicBezTo>
                    <a:pt x="36" y="370"/>
                    <a:pt x="0" y="330"/>
                    <a:pt x="0" y="223"/>
                  </a:cubicBezTo>
                  <a:lnTo>
                    <a:pt x="0" y="0"/>
                  </a:lnTo>
                  <a:lnTo>
                    <a:pt x="53" y="0"/>
                  </a:lnTo>
                  <a:lnTo>
                    <a:pt x="53" y="223"/>
                  </a:lnTo>
                  <a:cubicBezTo>
                    <a:pt x="53" y="298"/>
                    <a:pt x="73" y="323"/>
                    <a:pt x="134" y="323"/>
                  </a:cubicBezTo>
                  <a:cubicBezTo>
                    <a:pt x="193" y="323"/>
                    <a:pt x="215" y="298"/>
                    <a:pt x="215" y="223"/>
                  </a:cubicBezTo>
                  <a:lnTo>
                    <a:pt x="215" y="0"/>
                  </a:lnTo>
                  <a:lnTo>
                    <a:pt x="267" y="0"/>
                  </a:lnTo>
                  <a:lnTo>
                    <a:pt x="267" y="223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80" name="Freeform 13"/>
            <p:cNvSpPr>
              <a:spLocks/>
            </p:cNvSpPr>
            <p:nvPr userDrawn="1"/>
          </p:nvSpPr>
          <p:spPr bwMode="auto">
            <a:xfrm>
              <a:off x="7207250" y="692150"/>
              <a:ext cx="101600" cy="128587"/>
            </a:xfrm>
            <a:custGeom>
              <a:avLst/>
              <a:gdLst>
                <a:gd name="T0" fmla="*/ 284 w 284"/>
                <a:gd name="T1" fmla="*/ 343 h 363"/>
                <a:gd name="T2" fmla="*/ 265 w 284"/>
                <a:gd name="T3" fmla="*/ 363 h 363"/>
                <a:gd name="T4" fmla="*/ 215 w 284"/>
                <a:gd name="T5" fmla="*/ 363 h 363"/>
                <a:gd name="T6" fmla="*/ 192 w 284"/>
                <a:gd name="T7" fmla="*/ 347 h 363"/>
                <a:gd name="T8" fmla="*/ 79 w 284"/>
                <a:gd name="T9" fmla="*/ 100 h 363"/>
                <a:gd name="T10" fmla="*/ 57 w 284"/>
                <a:gd name="T11" fmla="*/ 49 h 363"/>
                <a:gd name="T12" fmla="*/ 50 w 284"/>
                <a:gd name="T13" fmla="*/ 49 h 363"/>
                <a:gd name="T14" fmla="*/ 53 w 284"/>
                <a:gd name="T15" fmla="*/ 100 h 363"/>
                <a:gd name="T16" fmla="*/ 53 w 284"/>
                <a:gd name="T17" fmla="*/ 363 h 363"/>
                <a:gd name="T18" fmla="*/ 0 w 284"/>
                <a:gd name="T19" fmla="*/ 363 h 363"/>
                <a:gd name="T20" fmla="*/ 0 w 284"/>
                <a:gd name="T21" fmla="*/ 21 h 363"/>
                <a:gd name="T22" fmla="*/ 20 w 284"/>
                <a:gd name="T23" fmla="*/ 0 h 363"/>
                <a:gd name="T24" fmla="*/ 68 w 284"/>
                <a:gd name="T25" fmla="*/ 0 h 363"/>
                <a:gd name="T26" fmla="*/ 92 w 284"/>
                <a:gd name="T27" fmla="*/ 17 h 363"/>
                <a:gd name="T28" fmla="*/ 202 w 284"/>
                <a:gd name="T29" fmla="*/ 257 h 363"/>
                <a:gd name="T30" fmla="*/ 227 w 284"/>
                <a:gd name="T31" fmla="*/ 312 h 363"/>
                <a:gd name="T32" fmla="*/ 235 w 284"/>
                <a:gd name="T33" fmla="*/ 312 h 363"/>
                <a:gd name="T34" fmla="*/ 232 w 284"/>
                <a:gd name="T35" fmla="*/ 255 h 363"/>
                <a:gd name="T36" fmla="*/ 232 w 284"/>
                <a:gd name="T37" fmla="*/ 0 h 363"/>
                <a:gd name="T38" fmla="*/ 284 w 284"/>
                <a:gd name="T39" fmla="*/ 0 h 363"/>
                <a:gd name="T40" fmla="*/ 284 w 284"/>
                <a:gd name="T41" fmla="*/ 343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4" h="363">
                  <a:moveTo>
                    <a:pt x="284" y="343"/>
                  </a:moveTo>
                  <a:cubicBezTo>
                    <a:pt x="284" y="356"/>
                    <a:pt x="277" y="363"/>
                    <a:pt x="265" y="363"/>
                  </a:cubicBezTo>
                  <a:lnTo>
                    <a:pt x="215" y="363"/>
                  </a:lnTo>
                  <a:cubicBezTo>
                    <a:pt x="203" y="363"/>
                    <a:pt x="197" y="358"/>
                    <a:pt x="192" y="347"/>
                  </a:cubicBezTo>
                  <a:lnTo>
                    <a:pt x="79" y="100"/>
                  </a:lnTo>
                  <a:cubicBezTo>
                    <a:pt x="73" y="86"/>
                    <a:pt x="62" y="64"/>
                    <a:pt x="57" y="49"/>
                  </a:cubicBezTo>
                  <a:lnTo>
                    <a:pt x="50" y="49"/>
                  </a:lnTo>
                  <a:cubicBezTo>
                    <a:pt x="52" y="66"/>
                    <a:pt x="53" y="83"/>
                    <a:pt x="53" y="100"/>
                  </a:cubicBezTo>
                  <a:lnTo>
                    <a:pt x="53" y="363"/>
                  </a:lnTo>
                  <a:lnTo>
                    <a:pt x="0" y="363"/>
                  </a:lnTo>
                  <a:lnTo>
                    <a:pt x="0" y="21"/>
                  </a:lnTo>
                  <a:cubicBezTo>
                    <a:pt x="0" y="7"/>
                    <a:pt x="7" y="0"/>
                    <a:pt x="20" y="0"/>
                  </a:cubicBezTo>
                  <a:lnTo>
                    <a:pt x="68" y="0"/>
                  </a:lnTo>
                  <a:cubicBezTo>
                    <a:pt x="80" y="0"/>
                    <a:pt x="86" y="6"/>
                    <a:pt x="92" y="17"/>
                  </a:cubicBezTo>
                  <a:lnTo>
                    <a:pt x="202" y="257"/>
                  </a:lnTo>
                  <a:cubicBezTo>
                    <a:pt x="208" y="272"/>
                    <a:pt x="219" y="293"/>
                    <a:pt x="227" y="312"/>
                  </a:cubicBezTo>
                  <a:lnTo>
                    <a:pt x="235" y="312"/>
                  </a:lnTo>
                  <a:cubicBezTo>
                    <a:pt x="233" y="293"/>
                    <a:pt x="232" y="274"/>
                    <a:pt x="232" y="255"/>
                  </a:cubicBezTo>
                  <a:lnTo>
                    <a:pt x="232" y="0"/>
                  </a:lnTo>
                  <a:lnTo>
                    <a:pt x="284" y="0"/>
                  </a:lnTo>
                  <a:lnTo>
                    <a:pt x="284" y="343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81" name="Rectangle 14"/>
            <p:cNvSpPr>
              <a:spLocks noChangeArrowheads="1"/>
            </p:cNvSpPr>
            <p:nvPr userDrawn="1"/>
          </p:nvSpPr>
          <p:spPr bwMode="auto">
            <a:xfrm>
              <a:off x="7340600" y="692150"/>
              <a:ext cx="19050" cy="128587"/>
            </a:xfrm>
            <a:prstGeom prst="rect">
              <a:avLst/>
            </a:pr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82" name="Freeform 15"/>
            <p:cNvSpPr>
              <a:spLocks/>
            </p:cNvSpPr>
            <p:nvPr userDrawn="1"/>
          </p:nvSpPr>
          <p:spPr bwMode="auto">
            <a:xfrm>
              <a:off x="7378700" y="692150"/>
              <a:ext cx="109537" cy="128587"/>
            </a:xfrm>
            <a:custGeom>
              <a:avLst/>
              <a:gdLst>
                <a:gd name="T0" fmla="*/ 199 w 306"/>
                <a:gd name="T1" fmla="*/ 348 h 363"/>
                <a:gd name="T2" fmla="*/ 179 w 306"/>
                <a:gd name="T3" fmla="*/ 363 h 363"/>
                <a:gd name="T4" fmla="*/ 128 w 306"/>
                <a:gd name="T5" fmla="*/ 363 h 363"/>
                <a:gd name="T6" fmla="*/ 108 w 306"/>
                <a:gd name="T7" fmla="*/ 348 h 363"/>
                <a:gd name="T8" fmla="*/ 0 w 306"/>
                <a:gd name="T9" fmla="*/ 0 h 363"/>
                <a:gd name="T10" fmla="*/ 55 w 306"/>
                <a:gd name="T11" fmla="*/ 0 h 363"/>
                <a:gd name="T12" fmla="*/ 137 w 306"/>
                <a:gd name="T13" fmla="*/ 283 h 363"/>
                <a:gd name="T14" fmla="*/ 147 w 306"/>
                <a:gd name="T15" fmla="*/ 323 h 363"/>
                <a:gd name="T16" fmla="*/ 161 w 306"/>
                <a:gd name="T17" fmla="*/ 323 h 363"/>
                <a:gd name="T18" fmla="*/ 171 w 306"/>
                <a:gd name="T19" fmla="*/ 283 h 363"/>
                <a:gd name="T20" fmla="*/ 252 w 306"/>
                <a:gd name="T21" fmla="*/ 0 h 363"/>
                <a:gd name="T22" fmla="*/ 306 w 306"/>
                <a:gd name="T23" fmla="*/ 0 h 363"/>
                <a:gd name="T24" fmla="*/ 199 w 306"/>
                <a:gd name="T25" fmla="*/ 348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6" h="363">
                  <a:moveTo>
                    <a:pt x="199" y="348"/>
                  </a:moveTo>
                  <a:cubicBezTo>
                    <a:pt x="197" y="357"/>
                    <a:pt x="189" y="363"/>
                    <a:pt x="179" y="363"/>
                  </a:cubicBezTo>
                  <a:lnTo>
                    <a:pt x="128" y="363"/>
                  </a:lnTo>
                  <a:cubicBezTo>
                    <a:pt x="118" y="363"/>
                    <a:pt x="110" y="357"/>
                    <a:pt x="108" y="348"/>
                  </a:cubicBezTo>
                  <a:lnTo>
                    <a:pt x="0" y="0"/>
                  </a:lnTo>
                  <a:lnTo>
                    <a:pt x="55" y="0"/>
                  </a:lnTo>
                  <a:lnTo>
                    <a:pt x="137" y="283"/>
                  </a:lnTo>
                  <a:cubicBezTo>
                    <a:pt x="140" y="296"/>
                    <a:pt x="143" y="310"/>
                    <a:pt x="147" y="323"/>
                  </a:cubicBezTo>
                  <a:lnTo>
                    <a:pt x="161" y="323"/>
                  </a:lnTo>
                  <a:cubicBezTo>
                    <a:pt x="163" y="310"/>
                    <a:pt x="167" y="296"/>
                    <a:pt x="171" y="283"/>
                  </a:cubicBezTo>
                  <a:lnTo>
                    <a:pt x="252" y="0"/>
                  </a:lnTo>
                  <a:lnTo>
                    <a:pt x="306" y="0"/>
                  </a:lnTo>
                  <a:lnTo>
                    <a:pt x="199" y="348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83" name="Freeform 16"/>
            <p:cNvSpPr>
              <a:spLocks/>
            </p:cNvSpPr>
            <p:nvPr userDrawn="1"/>
          </p:nvSpPr>
          <p:spPr bwMode="auto">
            <a:xfrm>
              <a:off x="7505700" y="692150"/>
              <a:ext cx="80962" cy="128587"/>
            </a:xfrm>
            <a:custGeom>
              <a:avLst/>
              <a:gdLst>
                <a:gd name="T0" fmla="*/ 228 w 228"/>
                <a:gd name="T1" fmla="*/ 361 h 365"/>
                <a:gd name="T2" fmla="*/ 73 w 228"/>
                <a:gd name="T3" fmla="*/ 365 h 365"/>
                <a:gd name="T4" fmla="*/ 0 w 228"/>
                <a:gd name="T5" fmla="*/ 300 h 365"/>
                <a:gd name="T6" fmla="*/ 0 w 228"/>
                <a:gd name="T7" fmla="*/ 65 h 365"/>
                <a:gd name="T8" fmla="*/ 73 w 228"/>
                <a:gd name="T9" fmla="*/ 0 h 365"/>
                <a:gd name="T10" fmla="*/ 228 w 228"/>
                <a:gd name="T11" fmla="*/ 4 h 365"/>
                <a:gd name="T12" fmla="*/ 226 w 228"/>
                <a:gd name="T13" fmla="*/ 45 h 365"/>
                <a:gd name="T14" fmla="*/ 82 w 228"/>
                <a:gd name="T15" fmla="*/ 45 h 365"/>
                <a:gd name="T16" fmla="*/ 53 w 228"/>
                <a:gd name="T17" fmla="*/ 79 h 365"/>
                <a:gd name="T18" fmla="*/ 53 w 228"/>
                <a:gd name="T19" fmla="*/ 152 h 365"/>
                <a:gd name="T20" fmla="*/ 206 w 228"/>
                <a:gd name="T21" fmla="*/ 152 h 365"/>
                <a:gd name="T22" fmla="*/ 206 w 228"/>
                <a:gd name="T23" fmla="*/ 194 h 365"/>
                <a:gd name="T24" fmla="*/ 53 w 228"/>
                <a:gd name="T25" fmla="*/ 194 h 365"/>
                <a:gd name="T26" fmla="*/ 53 w 228"/>
                <a:gd name="T27" fmla="*/ 287 h 365"/>
                <a:gd name="T28" fmla="*/ 82 w 228"/>
                <a:gd name="T29" fmla="*/ 321 h 365"/>
                <a:gd name="T30" fmla="*/ 226 w 228"/>
                <a:gd name="T31" fmla="*/ 321 h 365"/>
                <a:gd name="T32" fmla="*/ 228 w 228"/>
                <a:gd name="T33" fmla="*/ 361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8" h="365">
                  <a:moveTo>
                    <a:pt x="228" y="361"/>
                  </a:moveTo>
                  <a:cubicBezTo>
                    <a:pt x="180" y="365"/>
                    <a:pt x="125" y="365"/>
                    <a:pt x="73" y="365"/>
                  </a:cubicBezTo>
                  <a:cubicBezTo>
                    <a:pt x="27" y="365"/>
                    <a:pt x="0" y="340"/>
                    <a:pt x="0" y="300"/>
                  </a:cubicBezTo>
                  <a:lnTo>
                    <a:pt x="0" y="65"/>
                  </a:lnTo>
                  <a:cubicBezTo>
                    <a:pt x="0" y="25"/>
                    <a:pt x="28" y="0"/>
                    <a:pt x="73" y="0"/>
                  </a:cubicBezTo>
                  <a:cubicBezTo>
                    <a:pt x="125" y="0"/>
                    <a:pt x="180" y="0"/>
                    <a:pt x="228" y="4"/>
                  </a:cubicBezTo>
                  <a:lnTo>
                    <a:pt x="226" y="45"/>
                  </a:lnTo>
                  <a:lnTo>
                    <a:pt x="82" y="45"/>
                  </a:lnTo>
                  <a:cubicBezTo>
                    <a:pt x="61" y="45"/>
                    <a:pt x="53" y="54"/>
                    <a:pt x="53" y="79"/>
                  </a:cubicBezTo>
                  <a:lnTo>
                    <a:pt x="53" y="152"/>
                  </a:lnTo>
                  <a:lnTo>
                    <a:pt x="206" y="152"/>
                  </a:lnTo>
                  <a:lnTo>
                    <a:pt x="206" y="194"/>
                  </a:lnTo>
                  <a:lnTo>
                    <a:pt x="53" y="194"/>
                  </a:lnTo>
                  <a:lnTo>
                    <a:pt x="53" y="287"/>
                  </a:lnTo>
                  <a:cubicBezTo>
                    <a:pt x="53" y="312"/>
                    <a:pt x="61" y="321"/>
                    <a:pt x="82" y="321"/>
                  </a:cubicBezTo>
                  <a:lnTo>
                    <a:pt x="226" y="321"/>
                  </a:lnTo>
                  <a:lnTo>
                    <a:pt x="228" y="361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84" name="Freeform 17"/>
            <p:cNvSpPr>
              <a:spLocks noEditPoints="1"/>
            </p:cNvSpPr>
            <p:nvPr userDrawn="1"/>
          </p:nvSpPr>
          <p:spPr bwMode="auto">
            <a:xfrm>
              <a:off x="7612063" y="690563"/>
              <a:ext cx="92075" cy="130175"/>
            </a:xfrm>
            <a:custGeom>
              <a:avLst/>
              <a:gdLst>
                <a:gd name="T0" fmla="*/ 126 w 260"/>
                <a:gd name="T1" fmla="*/ 173 h 367"/>
                <a:gd name="T2" fmla="*/ 194 w 260"/>
                <a:gd name="T3" fmla="*/ 108 h 367"/>
                <a:gd name="T4" fmla="*/ 126 w 260"/>
                <a:gd name="T5" fmla="*/ 45 h 367"/>
                <a:gd name="T6" fmla="*/ 52 w 260"/>
                <a:gd name="T7" fmla="*/ 45 h 367"/>
                <a:gd name="T8" fmla="*/ 52 w 260"/>
                <a:gd name="T9" fmla="*/ 173 h 367"/>
                <a:gd name="T10" fmla="*/ 126 w 260"/>
                <a:gd name="T11" fmla="*/ 173 h 367"/>
                <a:gd name="T12" fmla="*/ 204 w 260"/>
                <a:gd name="T13" fmla="*/ 367 h 367"/>
                <a:gd name="T14" fmla="*/ 173 w 260"/>
                <a:gd name="T15" fmla="*/ 254 h 367"/>
                <a:gd name="T16" fmla="*/ 127 w 260"/>
                <a:gd name="T17" fmla="*/ 218 h 367"/>
                <a:gd name="T18" fmla="*/ 52 w 260"/>
                <a:gd name="T19" fmla="*/ 217 h 367"/>
                <a:gd name="T20" fmla="*/ 52 w 260"/>
                <a:gd name="T21" fmla="*/ 367 h 367"/>
                <a:gd name="T22" fmla="*/ 0 w 260"/>
                <a:gd name="T23" fmla="*/ 367 h 367"/>
                <a:gd name="T24" fmla="*/ 0 w 260"/>
                <a:gd name="T25" fmla="*/ 4 h 367"/>
                <a:gd name="T26" fmla="*/ 127 w 260"/>
                <a:gd name="T27" fmla="*/ 0 h 367"/>
                <a:gd name="T28" fmla="*/ 247 w 260"/>
                <a:gd name="T29" fmla="*/ 105 h 367"/>
                <a:gd name="T30" fmla="*/ 180 w 260"/>
                <a:gd name="T31" fmla="*/ 197 h 367"/>
                <a:gd name="T32" fmla="*/ 180 w 260"/>
                <a:gd name="T33" fmla="*/ 200 h 367"/>
                <a:gd name="T34" fmla="*/ 226 w 260"/>
                <a:gd name="T35" fmla="*/ 252 h 367"/>
                <a:gd name="T36" fmla="*/ 260 w 260"/>
                <a:gd name="T37" fmla="*/ 367 h 367"/>
                <a:gd name="T38" fmla="*/ 204 w 260"/>
                <a:gd name="T39" fmla="*/ 367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60" h="367">
                  <a:moveTo>
                    <a:pt x="126" y="173"/>
                  </a:moveTo>
                  <a:cubicBezTo>
                    <a:pt x="177" y="172"/>
                    <a:pt x="194" y="158"/>
                    <a:pt x="194" y="108"/>
                  </a:cubicBezTo>
                  <a:cubicBezTo>
                    <a:pt x="194" y="58"/>
                    <a:pt x="177" y="45"/>
                    <a:pt x="126" y="45"/>
                  </a:cubicBezTo>
                  <a:cubicBezTo>
                    <a:pt x="98" y="45"/>
                    <a:pt x="72" y="45"/>
                    <a:pt x="52" y="45"/>
                  </a:cubicBezTo>
                  <a:lnTo>
                    <a:pt x="52" y="173"/>
                  </a:lnTo>
                  <a:lnTo>
                    <a:pt x="126" y="173"/>
                  </a:lnTo>
                  <a:close/>
                  <a:moveTo>
                    <a:pt x="204" y="367"/>
                  </a:moveTo>
                  <a:lnTo>
                    <a:pt x="173" y="254"/>
                  </a:lnTo>
                  <a:cubicBezTo>
                    <a:pt x="164" y="228"/>
                    <a:pt x="150" y="218"/>
                    <a:pt x="127" y="218"/>
                  </a:cubicBezTo>
                  <a:lnTo>
                    <a:pt x="52" y="217"/>
                  </a:lnTo>
                  <a:lnTo>
                    <a:pt x="52" y="367"/>
                  </a:lnTo>
                  <a:lnTo>
                    <a:pt x="0" y="367"/>
                  </a:lnTo>
                  <a:lnTo>
                    <a:pt x="0" y="4"/>
                  </a:lnTo>
                  <a:cubicBezTo>
                    <a:pt x="40" y="0"/>
                    <a:pt x="68" y="0"/>
                    <a:pt x="127" y="0"/>
                  </a:cubicBezTo>
                  <a:cubicBezTo>
                    <a:pt x="212" y="0"/>
                    <a:pt x="247" y="23"/>
                    <a:pt x="247" y="105"/>
                  </a:cubicBezTo>
                  <a:cubicBezTo>
                    <a:pt x="247" y="162"/>
                    <a:pt x="229" y="191"/>
                    <a:pt x="180" y="197"/>
                  </a:cubicBezTo>
                  <a:lnTo>
                    <a:pt x="180" y="200"/>
                  </a:lnTo>
                  <a:cubicBezTo>
                    <a:pt x="198" y="205"/>
                    <a:pt x="218" y="221"/>
                    <a:pt x="226" y="252"/>
                  </a:cubicBezTo>
                  <a:lnTo>
                    <a:pt x="260" y="367"/>
                  </a:lnTo>
                  <a:lnTo>
                    <a:pt x="204" y="36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85" name="Freeform 18"/>
            <p:cNvSpPr>
              <a:spLocks/>
            </p:cNvSpPr>
            <p:nvPr userDrawn="1"/>
          </p:nvSpPr>
          <p:spPr bwMode="auto">
            <a:xfrm>
              <a:off x="7723188" y="688975"/>
              <a:ext cx="85725" cy="133350"/>
            </a:xfrm>
            <a:custGeom>
              <a:avLst/>
              <a:gdLst>
                <a:gd name="T0" fmla="*/ 229 w 243"/>
                <a:gd name="T1" fmla="*/ 11 h 375"/>
                <a:gd name="T2" fmla="*/ 226 w 243"/>
                <a:gd name="T3" fmla="*/ 49 h 375"/>
                <a:gd name="T4" fmla="*/ 122 w 243"/>
                <a:gd name="T5" fmla="*/ 47 h 375"/>
                <a:gd name="T6" fmla="*/ 53 w 243"/>
                <a:gd name="T7" fmla="*/ 97 h 375"/>
                <a:gd name="T8" fmla="*/ 97 w 243"/>
                <a:gd name="T9" fmla="*/ 152 h 375"/>
                <a:gd name="T10" fmla="*/ 169 w 243"/>
                <a:gd name="T11" fmla="*/ 172 h 375"/>
                <a:gd name="T12" fmla="*/ 243 w 243"/>
                <a:gd name="T13" fmla="*/ 276 h 375"/>
                <a:gd name="T14" fmla="*/ 119 w 243"/>
                <a:gd name="T15" fmla="*/ 375 h 375"/>
                <a:gd name="T16" fmla="*/ 5 w 243"/>
                <a:gd name="T17" fmla="*/ 365 h 375"/>
                <a:gd name="T18" fmla="*/ 9 w 243"/>
                <a:gd name="T19" fmla="*/ 326 h 375"/>
                <a:gd name="T20" fmla="*/ 120 w 243"/>
                <a:gd name="T21" fmla="*/ 329 h 375"/>
                <a:gd name="T22" fmla="*/ 189 w 243"/>
                <a:gd name="T23" fmla="*/ 275 h 375"/>
                <a:gd name="T24" fmla="*/ 146 w 243"/>
                <a:gd name="T25" fmla="*/ 219 h 375"/>
                <a:gd name="T26" fmla="*/ 72 w 243"/>
                <a:gd name="T27" fmla="*/ 199 h 375"/>
                <a:gd name="T28" fmla="*/ 0 w 243"/>
                <a:gd name="T29" fmla="*/ 96 h 375"/>
                <a:gd name="T30" fmla="*/ 120 w 243"/>
                <a:gd name="T31" fmla="*/ 0 h 375"/>
                <a:gd name="T32" fmla="*/ 229 w 243"/>
                <a:gd name="T33" fmla="*/ 1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3" h="375">
                  <a:moveTo>
                    <a:pt x="229" y="11"/>
                  </a:moveTo>
                  <a:lnTo>
                    <a:pt x="226" y="49"/>
                  </a:lnTo>
                  <a:cubicBezTo>
                    <a:pt x="195" y="48"/>
                    <a:pt x="156" y="47"/>
                    <a:pt x="122" y="47"/>
                  </a:cubicBezTo>
                  <a:cubicBezTo>
                    <a:pt x="72" y="47"/>
                    <a:pt x="53" y="49"/>
                    <a:pt x="53" y="97"/>
                  </a:cubicBezTo>
                  <a:cubicBezTo>
                    <a:pt x="53" y="135"/>
                    <a:pt x="67" y="145"/>
                    <a:pt x="97" y="152"/>
                  </a:cubicBezTo>
                  <a:lnTo>
                    <a:pt x="169" y="172"/>
                  </a:lnTo>
                  <a:cubicBezTo>
                    <a:pt x="225" y="188"/>
                    <a:pt x="243" y="221"/>
                    <a:pt x="243" y="276"/>
                  </a:cubicBezTo>
                  <a:cubicBezTo>
                    <a:pt x="243" y="359"/>
                    <a:pt x="206" y="375"/>
                    <a:pt x="119" y="375"/>
                  </a:cubicBezTo>
                  <a:cubicBezTo>
                    <a:pt x="96" y="375"/>
                    <a:pt x="56" y="374"/>
                    <a:pt x="5" y="365"/>
                  </a:cubicBezTo>
                  <a:lnTo>
                    <a:pt x="9" y="326"/>
                  </a:lnTo>
                  <a:cubicBezTo>
                    <a:pt x="75" y="328"/>
                    <a:pt x="93" y="329"/>
                    <a:pt x="120" y="329"/>
                  </a:cubicBezTo>
                  <a:cubicBezTo>
                    <a:pt x="173" y="328"/>
                    <a:pt x="189" y="320"/>
                    <a:pt x="189" y="275"/>
                  </a:cubicBezTo>
                  <a:cubicBezTo>
                    <a:pt x="189" y="236"/>
                    <a:pt x="175" y="227"/>
                    <a:pt x="146" y="219"/>
                  </a:cubicBezTo>
                  <a:lnTo>
                    <a:pt x="72" y="199"/>
                  </a:lnTo>
                  <a:cubicBezTo>
                    <a:pt x="19" y="184"/>
                    <a:pt x="0" y="151"/>
                    <a:pt x="0" y="96"/>
                  </a:cubicBezTo>
                  <a:cubicBezTo>
                    <a:pt x="0" y="12"/>
                    <a:pt x="38" y="0"/>
                    <a:pt x="120" y="0"/>
                  </a:cubicBezTo>
                  <a:cubicBezTo>
                    <a:pt x="154" y="0"/>
                    <a:pt x="192" y="2"/>
                    <a:pt x="229" y="11"/>
                  </a:cubicBez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86" name="Rectangle 19"/>
            <p:cNvSpPr>
              <a:spLocks noChangeArrowheads="1"/>
            </p:cNvSpPr>
            <p:nvPr userDrawn="1"/>
          </p:nvSpPr>
          <p:spPr bwMode="auto">
            <a:xfrm>
              <a:off x="7834313" y="692150"/>
              <a:ext cx="19050" cy="128587"/>
            </a:xfrm>
            <a:prstGeom prst="rect">
              <a:avLst/>
            </a:pr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87" name="Freeform 20"/>
            <p:cNvSpPr>
              <a:spLocks/>
            </p:cNvSpPr>
            <p:nvPr userDrawn="1"/>
          </p:nvSpPr>
          <p:spPr bwMode="auto">
            <a:xfrm>
              <a:off x="7872413" y="692150"/>
              <a:ext cx="101600" cy="128587"/>
            </a:xfrm>
            <a:custGeom>
              <a:avLst/>
              <a:gdLst>
                <a:gd name="T0" fmla="*/ 168 w 283"/>
                <a:gd name="T1" fmla="*/ 47 h 363"/>
                <a:gd name="T2" fmla="*/ 168 w 283"/>
                <a:gd name="T3" fmla="*/ 363 h 363"/>
                <a:gd name="T4" fmla="*/ 114 w 283"/>
                <a:gd name="T5" fmla="*/ 363 h 363"/>
                <a:gd name="T6" fmla="*/ 114 w 283"/>
                <a:gd name="T7" fmla="*/ 47 h 363"/>
                <a:gd name="T8" fmla="*/ 0 w 283"/>
                <a:gd name="T9" fmla="*/ 47 h 363"/>
                <a:gd name="T10" fmla="*/ 0 w 283"/>
                <a:gd name="T11" fmla="*/ 0 h 363"/>
                <a:gd name="T12" fmla="*/ 283 w 283"/>
                <a:gd name="T13" fmla="*/ 0 h 363"/>
                <a:gd name="T14" fmla="*/ 283 w 283"/>
                <a:gd name="T15" fmla="*/ 47 h 363"/>
                <a:gd name="T16" fmla="*/ 168 w 283"/>
                <a:gd name="T17" fmla="*/ 47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3" h="363">
                  <a:moveTo>
                    <a:pt x="168" y="47"/>
                  </a:moveTo>
                  <a:lnTo>
                    <a:pt x="168" y="363"/>
                  </a:lnTo>
                  <a:lnTo>
                    <a:pt x="114" y="363"/>
                  </a:lnTo>
                  <a:lnTo>
                    <a:pt x="114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83" y="0"/>
                  </a:lnTo>
                  <a:lnTo>
                    <a:pt x="283" y="47"/>
                  </a:lnTo>
                  <a:lnTo>
                    <a:pt x="168" y="4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88" name="Freeform 21"/>
            <p:cNvSpPr>
              <a:spLocks noEditPoints="1"/>
            </p:cNvSpPr>
            <p:nvPr userDrawn="1"/>
          </p:nvSpPr>
          <p:spPr bwMode="auto">
            <a:xfrm>
              <a:off x="7969250" y="657225"/>
              <a:ext cx="114300" cy="163512"/>
            </a:xfrm>
            <a:custGeom>
              <a:avLst/>
              <a:gdLst>
                <a:gd name="T0" fmla="*/ 199 w 321"/>
                <a:gd name="T1" fmla="*/ 57 h 459"/>
                <a:gd name="T2" fmla="*/ 185 w 321"/>
                <a:gd name="T3" fmla="*/ 43 h 459"/>
                <a:gd name="T4" fmla="*/ 185 w 321"/>
                <a:gd name="T5" fmla="*/ 14 h 459"/>
                <a:gd name="T6" fmla="*/ 199 w 321"/>
                <a:gd name="T7" fmla="*/ 0 h 459"/>
                <a:gd name="T8" fmla="*/ 215 w 321"/>
                <a:gd name="T9" fmla="*/ 0 h 459"/>
                <a:gd name="T10" fmla="*/ 230 w 321"/>
                <a:gd name="T11" fmla="*/ 14 h 459"/>
                <a:gd name="T12" fmla="*/ 230 w 321"/>
                <a:gd name="T13" fmla="*/ 43 h 459"/>
                <a:gd name="T14" fmla="*/ 215 w 321"/>
                <a:gd name="T15" fmla="*/ 57 h 459"/>
                <a:gd name="T16" fmla="*/ 199 w 321"/>
                <a:gd name="T17" fmla="*/ 57 h 459"/>
                <a:gd name="T18" fmla="*/ 176 w 321"/>
                <a:gd name="T19" fmla="*/ 166 h 459"/>
                <a:gd name="T20" fmla="*/ 167 w 321"/>
                <a:gd name="T21" fmla="*/ 137 h 459"/>
                <a:gd name="T22" fmla="*/ 153 w 321"/>
                <a:gd name="T23" fmla="*/ 137 h 459"/>
                <a:gd name="T24" fmla="*/ 144 w 321"/>
                <a:gd name="T25" fmla="*/ 166 h 459"/>
                <a:gd name="T26" fmla="*/ 102 w 321"/>
                <a:gd name="T27" fmla="*/ 304 h 459"/>
                <a:gd name="T28" fmla="*/ 218 w 321"/>
                <a:gd name="T29" fmla="*/ 304 h 459"/>
                <a:gd name="T30" fmla="*/ 176 w 321"/>
                <a:gd name="T31" fmla="*/ 166 h 459"/>
                <a:gd name="T32" fmla="*/ 105 w 321"/>
                <a:gd name="T33" fmla="*/ 57 h 459"/>
                <a:gd name="T34" fmla="*/ 92 w 321"/>
                <a:gd name="T35" fmla="*/ 43 h 459"/>
                <a:gd name="T36" fmla="*/ 92 w 321"/>
                <a:gd name="T37" fmla="*/ 14 h 459"/>
                <a:gd name="T38" fmla="*/ 105 w 321"/>
                <a:gd name="T39" fmla="*/ 0 h 459"/>
                <a:gd name="T40" fmla="*/ 122 w 321"/>
                <a:gd name="T41" fmla="*/ 0 h 459"/>
                <a:gd name="T42" fmla="*/ 136 w 321"/>
                <a:gd name="T43" fmla="*/ 14 h 459"/>
                <a:gd name="T44" fmla="*/ 136 w 321"/>
                <a:gd name="T45" fmla="*/ 43 h 459"/>
                <a:gd name="T46" fmla="*/ 122 w 321"/>
                <a:gd name="T47" fmla="*/ 57 h 459"/>
                <a:gd name="T48" fmla="*/ 105 w 321"/>
                <a:gd name="T49" fmla="*/ 57 h 459"/>
                <a:gd name="T50" fmla="*/ 88 w 321"/>
                <a:gd name="T51" fmla="*/ 350 h 459"/>
                <a:gd name="T52" fmla="*/ 54 w 321"/>
                <a:gd name="T53" fmla="*/ 459 h 459"/>
                <a:gd name="T54" fmla="*/ 0 w 321"/>
                <a:gd name="T55" fmla="*/ 459 h 459"/>
                <a:gd name="T56" fmla="*/ 114 w 321"/>
                <a:gd name="T57" fmla="*/ 110 h 459"/>
                <a:gd name="T58" fmla="*/ 133 w 321"/>
                <a:gd name="T59" fmla="*/ 96 h 459"/>
                <a:gd name="T60" fmla="*/ 187 w 321"/>
                <a:gd name="T61" fmla="*/ 96 h 459"/>
                <a:gd name="T62" fmla="*/ 206 w 321"/>
                <a:gd name="T63" fmla="*/ 110 h 459"/>
                <a:gd name="T64" fmla="*/ 321 w 321"/>
                <a:gd name="T65" fmla="*/ 459 h 459"/>
                <a:gd name="T66" fmla="*/ 266 w 321"/>
                <a:gd name="T67" fmla="*/ 459 h 459"/>
                <a:gd name="T68" fmla="*/ 233 w 321"/>
                <a:gd name="T69" fmla="*/ 350 h 459"/>
                <a:gd name="T70" fmla="*/ 88 w 321"/>
                <a:gd name="T71" fmla="*/ 35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21" h="459">
                  <a:moveTo>
                    <a:pt x="199" y="57"/>
                  </a:moveTo>
                  <a:cubicBezTo>
                    <a:pt x="189" y="57"/>
                    <a:pt x="185" y="53"/>
                    <a:pt x="185" y="43"/>
                  </a:cubicBezTo>
                  <a:lnTo>
                    <a:pt x="185" y="14"/>
                  </a:lnTo>
                  <a:cubicBezTo>
                    <a:pt x="185" y="6"/>
                    <a:pt x="189" y="0"/>
                    <a:pt x="199" y="0"/>
                  </a:cubicBezTo>
                  <a:lnTo>
                    <a:pt x="215" y="0"/>
                  </a:lnTo>
                  <a:cubicBezTo>
                    <a:pt x="224" y="0"/>
                    <a:pt x="230" y="6"/>
                    <a:pt x="230" y="14"/>
                  </a:cubicBezTo>
                  <a:lnTo>
                    <a:pt x="230" y="43"/>
                  </a:lnTo>
                  <a:cubicBezTo>
                    <a:pt x="230" y="53"/>
                    <a:pt x="224" y="57"/>
                    <a:pt x="215" y="57"/>
                  </a:cubicBezTo>
                  <a:lnTo>
                    <a:pt x="199" y="57"/>
                  </a:lnTo>
                  <a:close/>
                  <a:moveTo>
                    <a:pt x="176" y="166"/>
                  </a:moveTo>
                  <a:cubicBezTo>
                    <a:pt x="173" y="157"/>
                    <a:pt x="170" y="146"/>
                    <a:pt x="167" y="137"/>
                  </a:cubicBezTo>
                  <a:lnTo>
                    <a:pt x="153" y="137"/>
                  </a:lnTo>
                  <a:cubicBezTo>
                    <a:pt x="150" y="146"/>
                    <a:pt x="147" y="157"/>
                    <a:pt x="144" y="166"/>
                  </a:cubicBezTo>
                  <a:lnTo>
                    <a:pt x="102" y="304"/>
                  </a:lnTo>
                  <a:lnTo>
                    <a:pt x="218" y="304"/>
                  </a:lnTo>
                  <a:lnTo>
                    <a:pt x="176" y="166"/>
                  </a:lnTo>
                  <a:close/>
                  <a:moveTo>
                    <a:pt x="105" y="57"/>
                  </a:moveTo>
                  <a:cubicBezTo>
                    <a:pt x="96" y="57"/>
                    <a:pt x="92" y="53"/>
                    <a:pt x="92" y="43"/>
                  </a:cubicBezTo>
                  <a:lnTo>
                    <a:pt x="92" y="14"/>
                  </a:lnTo>
                  <a:cubicBezTo>
                    <a:pt x="92" y="6"/>
                    <a:pt x="96" y="0"/>
                    <a:pt x="105" y="0"/>
                  </a:cubicBezTo>
                  <a:lnTo>
                    <a:pt x="122" y="0"/>
                  </a:lnTo>
                  <a:cubicBezTo>
                    <a:pt x="132" y="0"/>
                    <a:pt x="136" y="6"/>
                    <a:pt x="136" y="14"/>
                  </a:cubicBezTo>
                  <a:lnTo>
                    <a:pt x="136" y="43"/>
                  </a:lnTo>
                  <a:cubicBezTo>
                    <a:pt x="136" y="53"/>
                    <a:pt x="132" y="57"/>
                    <a:pt x="122" y="57"/>
                  </a:cubicBezTo>
                  <a:lnTo>
                    <a:pt x="105" y="57"/>
                  </a:lnTo>
                  <a:close/>
                  <a:moveTo>
                    <a:pt x="88" y="350"/>
                  </a:moveTo>
                  <a:lnTo>
                    <a:pt x="54" y="459"/>
                  </a:lnTo>
                  <a:lnTo>
                    <a:pt x="0" y="459"/>
                  </a:lnTo>
                  <a:lnTo>
                    <a:pt x="114" y="110"/>
                  </a:lnTo>
                  <a:cubicBezTo>
                    <a:pt x="116" y="102"/>
                    <a:pt x="124" y="96"/>
                    <a:pt x="133" y="96"/>
                  </a:cubicBezTo>
                  <a:lnTo>
                    <a:pt x="187" y="96"/>
                  </a:lnTo>
                  <a:cubicBezTo>
                    <a:pt x="196" y="96"/>
                    <a:pt x="204" y="102"/>
                    <a:pt x="206" y="110"/>
                  </a:cubicBezTo>
                  <a:lnTo>
                    <a:pt x="321" y="459"/>
                  </a:lnTo>
                  <a:lnTo>
                    <a:pt x="266" y="459"/>
                  </a:lnTo>
                  <a:lnTo>
                    <a:pt x="233" y="350"/>
                  </a:lnTo>
                  <a:lnTo>
                    <a:pt x="88" y="350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89" name="Freeform 22"/>
            <p:cNvSpPr>
              <a:spLocks/>
            </p:cNvSpPr>
            <p:nvPr userDrawn="1"/>
          </p:nvSpPr>
          <p:spPr bwMode="auto">
            <a:xfrm>
              <a:off x="8078788" y="692150"/>
              <a:ext cx="100012" cy="128587"/>
            </a:xfrm>
            <a:custGeom>
              <a:avLst/>
              <a:gdLst>
                <a:gd name="T0" fmla="*/ 167 w 282"/>
                <a:gd name="T1" fmla="*/ 47 h 363"/>
                <a:gd name="T2" fmla="*/ 167 w 282"/>
                <a:gd name="T3" fmla="*/ 363 h 363"/>
                <a:gd name="T4" fmla="*/ 114 w 282"/>
                <a:gd name="T5" fmla="*/ 363 h 363"/>
                <a:gd name="T6" fmla="*/ 114 w 282"/>
                <a:gd name="T7" fmla="*/ 47 h 363"/>
                <a:gd name="T8" fmla="*/ 0 w 282"/>
                <a:gd name="T9" fmla="*/ 47 h 363"/>
                <a:gd name="T10" fmla="*/ 0 w 282"/>
                <a:gd name="T11" fmla="*/ 0 h 363"/>
                <a:gd name="T12" fmla="*/ 282 w 282"/>
                <a:gd name="T13" fmla="*/ 0 h 363"/>
                <a:gd name="T14" fmla="*/ 282 w 282"/>
                <a:gd name="T15" fmla="*/ 47 h 363"/>
                <a:gd name="T16" fmla="*/ 167 w 282"/>
                <a:gd name="T17" fmla="*/ 47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2" h="363">
                  <a:moveTo>
                    <a:pt x="167" y="47"/>
                  </a:moveTo>
                  <a:lnTo>
                    <a:pt x="167" y="363"/>
                  </a:lnTo>
                  <a:lnTo>
                    <a:pt x="114" y="363"/>
                  </a:lnTo>
                  <a:lnTo>
                    <a:pt x="114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82" y="0"/>
                  </a:lnTo>
                  <a:lnTo>
                    <a:pt x="282" y="47"/>
                  </a:lnTo>
                  <a:lnTo>
                    <a:pt x="167" y="4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</p:grpSp>
    </p:spTree>
    <p:extLst>
      <p:ext uri="{BB962C8B-B14F-4D97-AF65-F5344CB8AC3E}">
        <p14:creationId xmlns:p14="http://schemas.microsoft.com/office/powerpoint/2010/main" val="166597927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2270" y="1619806"/>
            <a:ext cx="11428729" cy="438084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921BD-6B3C-47BC-83C4-1C45CD0812D9}" type="datetime1">
              <a:rPr lang="de-DE" smtClean="0"/>
              <a:t>25.09.2023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Präsentationstitel/Autor/Veranstaltung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0576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 userDrawn="1">
            <p:ph type="body" idx="1"/>
          </p:nvPr>
        </p:nvSpPr>
        <p:spPr>
          <a:xfrm>
            <a:off x="1715452" y="2095593"/>
            <a:ext cx="8571547" cy="476179"/>
          </a:xfrm>
        </p:spPr>
        <p:txBody>
          <a:bodyPr wrap="none" bIns="0" anchor="b" anchorCtr="0"/>
          <a:lstStyle>
            <a:lvl1pPr marL="0" indent="0">
              <a:lnSpc>
                <a:spcPts val="3174"/>
              </a:lnSpc>
              <a:spcBef>
                <a:spcPts val="0"/>
              </a:spcBef>
              <a:spcAft>
                <a:spcPts val="0"/>
              </a:spcAft>
              <a:buNone/>
              <a:defRPr sz="3704" cap="all" baseline="0">
                <a:solidFill>
                  <a:schemeClr val="accent1"/>
                </a:solidFill>
                <a:latin typeface="+mj-lt"/>
              </a:defRPr>
            </a:lvl1pPr>
            <a:lvl2pPr marL="604738" indent="0">
              <a:buNone/>
              <a:defRPr sz="2381">
                <a:solidFill>
                  <a:schemeClr val="tx1">
                    <a:tint val="75000"/>
                  </a:schemeClr>
                </a:solidFill>
              </a:defRPr>
            </a:lvl2pPr>
            <a:lvl3pPr marL="1209477" indent="0">
              <a:buNone/>
              <a:defRPr sz="2116">
                <a:solidFill>
                  <a:schemeClr val="tx1">
                    <a:tint val="75000"/>
                  </a:schemeClr>
                </a:solidFill>
              </a:defRPr>
            </a:lvl3pPr>
            <a:lvl4pPr marL="1814215" indent="0">
              <a:buNone/>
              <a:defRPr sz="1852">
                <a:solidFill>
                  <a:schemeClr val="tx1">
                    <a:tint val="75000"/>
                  </a:schemeClr>
                </a:solidFill>
              </a:defRPr>
            </a:lvl4pPr>
            <a:lvl5pPr marL="2418954" indent="0">
              <a:buNone/>
              <a:defRPr sz="1852">
                <a:solidFill>
                  <a:schemeClr val="tx1">
                    <a:tint val="75000"/>
                  </a:schemeClr>
                </a:solidFill>
              </a:defRPr>
            </a:lvl5pPr>
            <a:lvl6pPr marL="3023692" indent="0">
              <a:buNone/>
              <a:defRPr sz="1852">
                <a:solidFill>
                  <a:schemeClr val="tx1">
                    <a:tint val="75000"/>
                  </a:schemeClr>
                </a:solidFill>
              </a:defRPr>
            </a:lvl6pPr>
            <a:lvl7pPr marL="3628431" indent="0">
              <a:buNone/>
              <a:defRPr sz="1852">
                <a:solidFill>
                  <a:schemeClr val="tx1">
                    <a:tint val="75000"/>
                  </a:schemeClr>
                </a:solidFill>
              </a:defRPr>
            </a:lvl7pPr>
            <a:lvl8pPr marL="4233169" indent="0">
              <a:buNone/>
              <a:defRPr sz="1852">
                <a:solidFill>
                  <a:schemeClr val="tx1">
                    <a:tint val="75000"/>
                  </a:schemeClr>
                </a:solidFill>
              </a:defRPr>
            </a:lvl8pPr>
            <a:lvl9pPr marL="4837908" indent="0">
              <a:buNone/>
              <a:defRPr sz="185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" name="Titel 1"/>
          <p:cNvSpPr>
            <a:spLocks noGrp="1"/>
          </p:cNvSpPr>
          <p:nvPr userDrawn="1">
            <p:ph type="title"/>
          </p:nvPr>
        </p:nvSpPr>
        <p:spPr>
          <a:xfrm>
            <a:off x="1715452" y="2572036"/>
            <a:ext cx="8571547" cy="2285658"/>
          </a:xfrm>
        </p:spPr>
        <p:txBody>
          <a:bodyPr anchor="t"/>
          <a:lstStyle>
            <a:lvl1pPr algn="l">
              <a:lnSpc>
                <a:spcPts val="5820"/>
              </a:lnSpc>
              <a:defRPr sz="5291" b="0" cap="all">
                <a:solidFill>
                  <a:schemeClr val="accent2"/>
                </a:solidFill>
                <a:latin typeface="Exo 2 Semi Bold" pitchFamily="50" charset="0"/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7" name="Datumsplatzhalter 6" hidden="1"/>
          <p:cNvSpPr>
            <a:spLocks noGrp="1"/>
          </p:cNvSpPr>
          <p:nvPr>
            <p:ph type="dt" sz="half" idx="10"/>
          </p:nvPr>
        </p:nvSpPr>
        <p:spPr>
          <a:xfrm>
            <a:off x="381000" y="6953114"/>
            <a:ext cx="1142873" cy="380943"/>
          </a:xfrm>
        </p:spPr>
        <p:txBody>
          <a:bodyPr/>
          <a:lstStyle/>
          <a:p>
            <a:fld id="{30A2658B-9DCA-4C61-BE60-88DEF3D1D478}" type="datetime1">
              <a:rPr lang="de-DE" smtClean="0"/>
              <a:t>25.09.2023</a:t>
            </a:fld>
            <a:endParaRPr lang="de-DE"/>
          </a:p>
        </p:txBody>
      </p:sp>
      <p:sp>
        <p:nvSpPr>
          <p:cNvPr id="8" name="Fußzeilenplatzhalter 7" hidden="1"/>
          <p:cNvSpPr>
            <a:spLocks noGrp="1"/>
          </p:cNvSpPr>
          <p:nvPr>
            <p:ph type="ftr" sz="quarter" idx="11"/>
          </p:nvPr>
        </p:nvSpPr>
        <p:spPr>
          <a:xfrm>
            <a:off x="2762249" y="6953156"/>
            <a:ext cx="6666759" cy="380943"/>
          </a:xfrm>
        </p:spPr>
        <p:txBody>
          <a:bodyPr/>
          <a:lstStyle/>
          <a:p>
            <a:r>
              <a:rPr lang="de-DE"/>
              <a:t>Präsentationstitel/Autor/Veranstaltung</a:t>
            </a:r>
            <a:endParaRPr lang="de-DE" dirty="0"/>
          </a:p>
        </p:txBody>
      </p:sp>
      <p:sp>
        <p:nvSpPr>
          <p:cNvPr id="9" name="Foliennummernplatzhalter 8" hidden="1"/>
          <p:cNvSpPr>
            <a:spLocks noGrp="1"/>
          </p:cNvSpPr>
          <p:nvPr>
            <p:ph type="sldNum" sz="quarter" idx="12"/>
          </p:nvPr>
        </p:nvSpPr>
        <p:spPr>
          <a:xfrm>
            <a:off x="11049084" y="6953114"/>
            <a:ext cx="761915" cy="380943"/>
          </a:xfrm>
        </p:spPr>
        <p:txBody>
          <a:bodyPr/>
          <a:lstStyle/>
          <a:p>
            <a:fld id="{527F1E04-A1A3-475C-A843-CFD0985386EF}" type="slidenum">
              <a:rPr lang="de-DE" smtClean="0"/>
              <a:pPr/>
              <a:t>‹#›</a:t>
            </a:fld>
            <a:endParaRPr lang="de-DE"/>
          </a:p>
        </p:txBody>
      </p:sp>
      <p:grpSp>
        <p:nvGrpSpPr>
          <p:cNvPr id="10" name="Gruppieren 9"/>
          <p:cNvGrpSpPr>
            <a:grpSpLocks noChangeAspect="1"/>
          </p:cNvGrpSpPr>
          <p:nvPr userDrawn="1"/>
        </p:nvGrpSpPr>
        <p:grpSpPr>
          <a:xfrm>
            <a:off x="381003" y="381211"/>
            <a:ext cx="2230877" cy="857122"/>
            <a:chOff x="7081838" y="144463"/>
            <a:chExt cx="1871662" cy="719137"/>
          </a:xfrm>
        </p:grpSpPr>
        <p:sp>
          <p:nvSpPr>
            <p:cNvPr id="11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7081838" y="144463"/>
              <a:ext cx="1871662" cy="719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2" name="Freeform 5"/>
            <p:cNvSpPr>
              <a:spLocks/>
            </p:cNvSpPr>
            <p:nvPr userDrawn="1"/>
          </p:nvSpPr>
          <p:spPr bwMode="auto">
            <a:xfrm>
              <a:off x="8216900" y="144463"/>
              <a:ext cx="455612" cy="392112"/>
            </a:xfrm>
            <a:custGeom>
              <a:avLst/>
              <a:gdLst>
                <a:gd name="T0" fmla="*/ 944 w 1277"/>
                <a:gd name="T1" fmla="*/ 552 h 1104"/>
                <a:gd name="T2" fmla="*/ 1277 w 1277"/>
                <a:gd name="T3" fmla="*/ 0 h 1104"/>
                <a:gd name="T4" fmla="*/ 0 w 1277"/>
                <a:gd name="T5" fmla="*/ 0 h 1104"/>
                <a:gd name="T6" fmla="*/ 0 w 1277"/>
                <a:gd name="T7" fmla="*/ 1104 h 1104"/>
                <a:gd name="T8" fmla="*/ 944 w 1277"/>
                <a:gd name="T9" fmla="*/ 552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7" h="1104">
                  <a:moveTo>
                    <a:pt x="944" y="552"/>
                  </a:moveTo>
                  <a:cubicBezTo>
                    <a:pt x="1110" y="357"/>
                    <a:pt x="1203" y="197"/>
                    <a:pt x="1277" y="0"/>
                  </a:cubicBezTo>
                  <a:lnTo>
                    <a:pt x="0" y="0"/>
                  </a:lnTo>
                  <a:lnTo>
                    <a:pt x="0" y="1104"/>
                  </a:lnTo>
                  <a:cubicBezTo>
                    <a:pt x="253" y="1070"/>
                    <a:pt x="607" y="949"/>
                    <a:pt x="944" y="552"/>
                  </a:cubicBezTo>
                  <a:close/>
                </a:path>
              </a:pathLst>
            </a:custGeom>
            <a:solidFill>
              <a:srgbClr val="07529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3" name="Rectangle 6"/>
            <p:cNvSpPr>
              <a:spLocks noChangeArrowheads="1"/>
            </p:cNvSpPr>
            <p:nvPr userDrawn="1"/>
          </p:nvSpPr>
          <p:spPr bwMode="auto">
            <a:xfrm>
              <a:off x="8216900" y="654050"/>
              <a:ext cx="714375" cy="200025"/>
            </a:xfrm>
            <a:prstGeom prst="rect">
              <a:avLst/>
            </a:prstGeom>
            <a:solidFill>
              <a:srgbClr val="EAB90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8216900" y="144463"/>
              <a:ext cx="714375" cy="477837"/>
            </a:xfrm>
            <a:custGeom>
              <a:avLst/>
              <a:gdLst>
                <a:gd name="T0" fmla="*/ 2000 w 2000"/>
                <a:gd name="T1" fmla="*/ 0 h 1349"/>
                <a:gd name="T2" fmla="*/ 1361 w 2000"/>
                <a:gd name="T3" fmla="*/ 0 h 1349"/>
                <a:gd name="T4" fmla="*/ 992 w 2000"/>
                <a:gd name="T5" fmla="*/ 627 h 1349"/>
                <a:gd name="T6" fmla="*/ 0 w 2000"/>
                <a:gd name="T7" fmla="*/ 1193 h 1349"/>
                <a:gd name="T8" fmla="*/ 0 w 2000"/>
                <a:gd name="T9" fmla="*/ 1349 h 1349"/>
                <a:gd name="T10" fmla="*/ 2000 w 2000"/>
                <a:gd name="T11" fmla="*/ 1349 h 1349"/>
                <a:gd name="T12" fmla="*/ 2000 w 2000"/>
                <a:gd name="T13" fmla="*/ 0 h 1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00" h="1349">
                  <a:moveTo>
                    <a:pt x="2000" y="0"/>
                  </a:moveTo>
                  <a:lnTo>
                    <a:pt x="1361" y="0"/>
                  </a:lnTo>
                  <a:cubicBezTo>
                    <a:pt x="1285" y="208"/>
                    <a:pt x="1168" y="419"/>
                    <a:pt x="992" y="627"/>
                  </a:cubicBezTo>
                  <a:cubicBezTo>
                    <a:pt x="644" y="1036"/>
                    <a:pt x="259" y="1159"/>
                    <a:pt x="0" y="1193"/>
                  </a:cubicBezTo>
                  <a:lnTo>
                    <a:pt x="0" y="1349"/>
                  </a:lnTo>
                  <a:lnTo>
                    <a:pt x="2000" y="1349"/>
                  </a:lnTo>
                  <a:lnTo>
                    <a:pt x="2000" y="0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8250238" y="690563"/>
              <a:ext cx="95250" cy="131762"/>
            </a:xfrm>
            <a:custGeom>
              <a:avLst/>
              <a:gdLst>
                <a:gd name="T0" fmla="*/ 134 w 264"/>
                <a:gd name="T1" fmla="*/ 318 h 371"/>
                <a:gd name="T2" fmla="*/ 198 w 264"/>
                <a:gd name="T3" fmla="*/ 265 h 371"/>
                <a:gd name="T4" fmla="*/ 132 w 264"/>
                <a:gd name="T5" fmla="*/ 203 h 371"/>
                <a:gd name="T6" fmla="*/ 65 w 264"/>
                <a:gd name="T7" fmla="*/ 203 h 371"/>
                <a:gd name="T8" fmla="*/ 65 w 264"/>
                <a:gd name="T9" fmla="*/ 318 h 371"/>
                <a:gd name="T10" fmla="*/ 134 w 264"/>
                <a:gd name="T11" fmla="*/ 318 h 371"/>
                <a:gd name="T12" fmla="*/ 65 w 264"/>
                <a:gd name="T13" fmla="*/ 53 h 371"/>
                <a:gd name="T14" fmla="*/ 65 w 264"/>
                <a:gd name="T15" fmla="*/ 155 h 371"/>
                <a:gd name="T16" fmla="*/ 131 w 264"/>
                <a:gd name="T17" fmla="*/ 155 h 371"/>
                <a:gd name="T18" fmla="*/ 190 w 264"/>
                <a:gd name="T19" fmla="*/ 103 h 371"/>
                <a:gd name="T20" fmla="*/ 126 w 264"/>
                <a:gd name="T21" fmla="*/ 53 h 371"/>
                <a:gd name="T22" fmla="*/ 65 w 264"/>
                <a:gd name="T23" fmla="*/ 53 h 371"/>
                <a:gd name="T24" fmla="*/ 191 w 264"/>
                <a:gd name="T25" fmla="*/ 180 h 371"/>
                <a:gd name="T26" fmla="*/ 264 w 264"/>
                <a:gd name="T27" fmla="*/ 277 h 371"/>
                <a:gd name="T28" fmla="*/ 145 w 264"/>
                <a:gd name="T29" fmla="*/ 371 h 371"/>
                <a:gd name="T30" fmla="*/ 0 w 264"/>
                <a:gd name="T31" fmla="*/ 367 h 371"/>
                <a:gd name="T32" fmla="*/ 0 w 264"/>
                <a:gd name="T33" fmla="*/ 4 h 371"/>
                <a:gd name="T34" fmla="*/ 129 w 264"/>
                <a:gd name="T35" fmla="*/ 0 h 371"/>
                <a:gd name="T36" fmla="*/ 253 w 264"/>
                <a:gd name="T37" fmla="*/ 95 h 371"/>
                <a:gd name="T38" fmla="*/ 191 w 264"/>
                <a:gd name="T39" fmla="*/ 178 h 371"/>
                <a:gd name="T40" fmla="*/ 191 w 264"/>
                <a:gd name="T41" fmla="*/ 18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64" h="371">
                  <a:moveTo>
                    <a:pt x="134" y="318"/>
                  </a:moveTo>
                  <a:cubicBezTo>
                    <a:pt x="183" y="318"/>
                    <a:pt x="198" y="308"/>
                    <a:pt x="198" y="265"/>
                  </a:cubicBezTo>
                  <a:cubicBezTo>
                    <a:pt x="198" y="216"/>
                    <a:pt x="182" y="204"/>
                    <a:pt x="132" y="203"/>
                  </a:cubicBezTo>
                  <a:lnTo>
                    <a:pt x="65" y="203"/>
                  </a:lnTo>
                  <a:lnTo>
                    <a:pt x="65" y="318"/>
                  </a:lnTo>
                  <a:lnTo>
                    <a:pt x="134" y="318"/>
                  </a:lnTo>
                  <a:close/>
                  <a:moveTo>
                    <a:pt x="65" y="53"/>
                  </a:moveTo>
                  <a:lnTo>
                    <a:pt x="65" y="155"/>
                  </a:lnTo>
                  <a:lnTo>
                    <a:pt x="131" y="155"/>
                  </a:lnTo>
                  <a:cubicBezTo>
                    <a:pt x="175" y="155"/>
                    <a:pt x="190" y="145"/>
                    <a:pt x="190" y="103"/>
                  </a:cubicBezTo>
                  <a:cubicBezTo>
                    <a:pt x="190" y="63"/>
                    <a:pt x="174" y="53"/>
                    <a:pt x="126" y="53"/>
                  </a:cubicBezTo>
                  <a:lnTo>
                    <a:pt x="65" y="53"/>
                  </a:lnTo>
                  <a:close/>
                  <a:moveTo>
                    <a:pt x="191" y="180"/>
                  </a:moveTo>
                  <a:cubicBezTo>
                    <a:pt x="245" y="185"/>
                    <a:pt x="264" y="219"/>
                    <a:pt x="264" y="277"/>
                  </a:cubicBezTo>
                  <a:cubicBezTo>
                    <a:pt x="264" y="351"/>
                    <a:pt x="230" y="371"/>
                    <a:pt x="145" y="371"/>
                  </a:cubicBezTo>
                  <a:cubicBezTo>
                    <a:pt x="79" y="371"/>
                    <a:pt x="44" y="371"/>
                    <a:pt x="0" y="367"/>
                  </a:cubicBezTo>
                  <a:lnTo>
                    <a:pt x="0" y="4"/>
                  </a:lnTo>
                  <a:cubicBezTo>
                    <a:pt x="39" y="1"/>
                    <a:pt x="71" y="0"/>
                    <a:pt x="129" y="0"/>
                  </a:cubicBezTo>
                  <a:cubicBezTo>
                    <a:pt x="220" y="0"/>
                    <a:pt x="253" y="20"/>
                    <a:pt x="253" y="95"/>
                  </a:cubicBezTo>
                  <a:cubicBezTo>
                    <a:pt x="253" y="147"/>
                    <a:pt x="235" y="174"/>
                    <a:pt x="191" y="178"/>
                  </a:cubicBezTo>
                  <a:lnTo>
                    <a:pt x="191" y="1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6" name="Freeform 9"/>
            <p:cNvSpPr>
              <a:spLocks noEditPoints="1"/>
            </p:cNvSpPr>
            <p:nvPr userDrawn="1"/>
          </p:nvSpPr>
          <p:spPr bwMode="auto">
            <a:xfrm>
              <a:off x="8364538" y="688975"/>
              <a:ext cx="106362" cy="133350"/>
            </a:xfrm>
            <a:custGeom>
              <a:avLst/>
              <a:gdLst>
                <a:gd name="T0" fmla="*/ 69 w 299"/>
                <a:gd name="T1" fmla="*/ 188 h 376"/>
                <a:gd name="T2" fmla="*/ 149 w 299"/>
                <a:gd name="T3" fmla="*/ 320 h 376"/>
                <a:gd name="T4" fmla="*/ 230 w 299"/>
                <a:gd name="T5" fmla="*/ 188 h 376"/>
                <a:gd name="T6" fmla="*/ 149 w 299"/>
                <a:gd name="T7" fmla="*/ 56 h 376"/>
                <a:gd name="T8" fmla="*/ 69 w 299"/>
                <a:gd name="T9" fmla="*/ 188 h 376"/>
                <a:gd name="T10" fmla="*/ 299 w 299"/>
                <a:gd name="T11" fmla="*/ 188 h 376"/>
                <a:gd name="T12" fmla="*/ 149 w 299"/>
                <a:gd name="T13" fmla="*/ 376 h 376"/>
                <a:gd name="T14" fmla="*/ 0 w 299"/>
                <a:gd name="T15" fmla="*/ 188 h 376"/>
                <a:gd name="T16" fmla="*/ 149 w 299"/>
                <a:gd name="T17" fmla="*/ 0 h 376"/>
                <a:gd name="T18" fmla="*/ 299 w 299"/>
                <a:gd name="T19" fmla="*/ 188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9" h="376">
                  <a:moveTo>
                    <a:pt x="69" y="188"/>
                  </a:moveTo>
                  <a:cubicBezTo>
                    <a:pt x="69" y="289"/>
                    <a:pt x="88" y="320"/>
                    <a:pt x="149" y="320"/>
                  </a:cubicBezTo>
                  <a:cubicBezTo>
                    <a:pt x="211" y="320"/>
                    <a:pt x="230" y="289"/>
                    <a:pt x="230" y="188"/>
                  </a:cubicBezTo>
                  <a:cubicBezTo>
                    <a:pt x="230" y="87"/>
                    <a:pt x="211" y="56"/>
                    <a:pt x="149" y="56"/>
                  </a:cubicBezTo>
                  <a:cubicBezTo>
                    <a:pt x="88" y="56"/>
                    <a:pt x="69" y="87"/>
                    <a:pt x="69" y="188"/>
                  </a:cubicBezTo>
                  <a:close/>
                  <a:moveTo>
                    <a:pt x="299" y="188"/>
                  </a:moveTo>
                  <a:cubicBezTo>
                    <a:pt x="299" y="332"/>
                    <a:pt x="260" y="376"/>
                    <a:pt x="149" y="376"/>
                  </a:cubicBezTo>
                  <a:cubicBezTo>
                    <a:pt x="39" y="376"/>
                    <a:pt x="0" y="332"/>
                    <a:pt x="0" y="188"/>
                  </a:cubicBezTo>
                  <a:cubicBezTo>
                    <a:pt x="0" y="44"/>
                    <a:pt x="39" y="0"/>
                    <a:pt x="149" y="0"/>
                  </a:cubicBezTo>
                  <a:cubicBezTo>
                    <a:pt x="260" y="0"/>
                    <a:pt x="299" y="44"/>
                    <a:pt x="299" y="1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8496300" y="692150"/>
              <a:ext cx="104775" cy="128587"/>
            </a:xfrm>
            <a:custGeom>
              <a:avLst/>
              <a:gdLst>
                <a:gd name="T0" fmla="*/ 295 w 295"/>
                <a:gd name="T1" fmla="*/ 339 h 363"/>
                <a:gd name="T2" fmla="*/ 271 w 295"/>
                <a:gd name="T3" fmla="*/ 363 h 363"/>
                <a:gd name="T4" fmla="*/ 219 w 295"/>
                <a:gd name="T5" fmla="*/ 363 h 363"/>
                <a:gd name="T6" fmla="*/ 192 w 295"/>
                <a:gd name="T7" fmla="*/ 343 h 363"/>
                <a:gd name="T8" fmla="*/ 90 w 295"/>
                <a:gd name="T9" fmla="*/ 121 h 363"/>
                <a:gd name="T10" fmla="*/ 68 w 295"/>
                <a:gd name="T11" fmla="*/ 67 h 363"/>
                <a:gd name="T12" fmla="*/ 62 w 295"/>
                <a:gd name="T13" fmla="*/ 67 h 363"/>
                <a:gd name="T14" fmla="*/ 65 w 295"/>
                <a:gd name="T15" fmla="*/ 121 h 363"/>
                <a:gd name="T16" fmla="*/ 65 w 295"/>
                <a:gd name="T17" fmla="*/ 363 h 363"/>
                <a:gd name="T18" fmla="*/ 0 w 295"/>
                <a:gd name="T19" fmla="*/ 363 h 363"/>
                <a:gd name="T20" fmla="*/ 0 w 295"/>
                <a:gd name="T21" fmla="*/ 25 h 363"/>
                <a:gd name="T22" fmla="*/ 25 w 295"/>
                <a:gd name="T23" fmla="*/ 0 h 363"/>
                <a:gd name="T24" fmla="*/ 76 w 295"/>
                <a:gd name="T25" fmla="*/ 0 h 363"/>
                <a:gd name="T26" fmla="*/ 103 w 295"/>
                <a:gd name="T27" fmla="*/ 20 h 363"/>
                <a:gd name="T28" fmla="*/ 202 w 295"/>
                <a:gd name="T29" fmla="*/ 237 h 363"/>
                <a:gd name="T30" fmla="*/ 227 w 295"/>
                <a:gd name="T31" fmla="*/ 294 h 363"/>
                <a:gd name="T32" fmla="*/ 234 w 295"/>
                <a:gd name="T33" fmla="*/ 294 h 363"/>
                <a:gd name="T34" fmla="*/ 231 w 295"/>
                <a:gd name="T35" fmla="*/ 235 h 363"/>
                <a:gd name="T36" fmla="*/ 231 w 295"/>
                <a:gd name="T37" fmla="*/ 0 h 363"/>
                <a:gd name="T38" fmla="*/ 295 w 295"/>
                <a:gd name="T39" fmla="*/ 0 h 363"/>
                <a:gd name="T40" fmla="*/ 295 w 295"/>
                <a:gd name="T41" fmla="*/ 339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5" h="363">
                  <a:moveTo>
                    <a:pt x="295" y="339"/>
                  </a:moveTo>
                  <a:cubicBezTo>
                    <a:pt x="295" y="355"/>
                    <a:pt x="287" y="363"/>
                    <a:pt x="271" y="363"/>
                  </a:cubicBezTo>
                  <a:lnTo>
                    <a:pt x="219" y="363"/>
                  </a:lnTo>
                  <a:cubicBezTo>
                    <a:pt x="205" y="363"/>
                    <a:pt x="197" y="357"/>
                    <a:pt x="192" y="343"/>
                  </a:cubicBezTo>
                  <a:lnTo>
                    <a:pt x="90" y="121"/>
                  </a:lnTo>
                  <a:cubicBezTo>
                    <a:pt x="83" y="106"/>
                    <a:pt x="72" y="84"/>
                    <a:pt x="68" y="67"/>
                  </a:cubicBezTo>
                  <a:lnTo>
                    <a:pt x="62" y="67"/>
                  </a:lnTo>
                  <a:cubicBezTo>
                    <a:pt x="64" y="85"/>
                    <a:pt x="65" y="104"/>
                    <a:pt x="65" y="121"/>
                  </a:cubicBezTo>
                  <a:lnTo>
                    <a:pt x="65" y="363"/>
                  </a:lnTo>
                  <a:lnTo>
                    <a:pt x="0" y="363"/>
                  </a:lnTo>
                  <a:lnTo>
                    <a:pt x="0" y="25"/>
                  </a:lnTo>
                  <a:cubicBezTo>
                    <a:pt x="0" y="9"/>
                    <a:pt x="9" y="0"/>
                    <a:pt x="25" y="0"/>
                  </a:cubicBezTo>
                  <a:lnTo>
                    <a:pt x="76" y="0"/>
                  </a:lnTo>
                  <a:cubicBezTo>
                    <a:pt x="90" y="0"/>
                    <a:pt x="97" y="7"/>
                    <a:pt x="103" y="20"/>
                  </a:cubicBezTo>
                  <a:lnTo>
                    <a:pt x="202" y="237"/>
                  </a:lnTo>
                  <a:cubicBezTo>
                    <a:pt x="209" y="252"/>
                    <a:pt x="219" y="274"/>
                    <a:pt x="227" y="294"/>
                  </a:cubicBezTo>
                  <a:lnTo>
                    <a:pt x="234" y="294"/>
                  </a:lnTo>
                  <a:cubicBezTo>
                    <a:pt x="232" y="274"/>
                    <a:pt x="231" y="254"/>
                    <a:pt x="231" y="235"/>
                  </a:cubicBezTo>
                  <a:lnTo>
                    <a:pt x="231" y="0"/>
                  </a:lnTo>
                  <a:lnTo>
                    <a:pt x="295" y="0"/>
                  </a:lnTo>
                  <a:lnTo>
                    <a:pt x="295" y="3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8629650" y="692150"/>
              <a:ext cx="104775" cy="128587"/>
            </a:xfrm>
            <a:custGeom>
              <a:avLst/>
              <a:gdLst>
                <a:gd name="T0" fmla="*/ 295 w 295"/>
                <a:gd name="T1" fmla="*/ 339 h 363"/>
                <a:gd name="T2" fmla="*/ 271 w 295"/>
                <a:gd name="T3" fmla="*/ 363 h 363"/>
                <a:gd name="T4" fmla="*/ 219 w 295"/>
                <a:gd name="T5" fmla="*/ 363 h 363"/>
                <a:gd name="T6" fmla="*/ 191 w 295"/>
                <a:gd name="T7" fmla="*/ 343 h 363"/>
                <a:gd name="T8" fmla="*/ 89 w 295"/>
                <a:gd name="T9" fmla="*/ 121 h 363"/>
                <a:gd name="T10" fmla="*/ 68 w 295"/>
                <a:gd name="T11" fmla="*/ 67 h 363"/>
                <a:gd name="T12" fmla="*/ 62 w 295"/>
                <a:gd name="T13" fmla="*/ 67 h 363"/>
                <a:gd name="T14" fmla="*/ 65 w 295"/>
                <a:gd name="T15" fmla="*/ 121 h 363"/>
                <a:gd name="T16" fmla="*/ 65 w 295"/>
                <a:gd name="T17" fmla="*/ 363 h 363"/>
                <a:gd name="T18" fmla="*/ 0 w 295"/>
                <a:gd name="T19" fmla="*/ 363 h 363"/>
                <a:gd name="T20" fmla="*/ 0 w 295"/>
                <a:gd name="T21" fmla="*/ 25 h 363"/>
                <a:gd name="T22" fmla="*/ 25 w 295"/>
                <a:gd name="T23" fmla="*/ 0 h 363"/>
                <a:gd name="T24" fmla="*/ 76 w 295"/>
                <a:gd name="T25" fmla="*/ 0 h 363"/>
                <a:gd name="T26" fmla="*/ 103 w 295"/>
                <a:gd name="T27" fmla="*/ 20 h 363"/>
                <a:gd name="T28" fmla="*/ 202 w 295"/>
                <a:gd name="T29" fmla="*/ 237 h 363"/>
                <a:gd name="T30" fmla="*/ 227 w 295"/>
                <a:gd name="T31" fmla="*/ 294 h 363"/>
                <a:gd name="T32" fmla="*/ 233 w 295"/>
                <a:gd name="T33" fmla="*/ 294 h 363"/>
                <a:gd name="T34" fmla="*/ 231 w 295"/>
                <a:gd name="T35" fmla="*/ 235 h 363"/>
                <a:gd name="T36" fmla="*/ 231 w 295"/>
                <a:gd name="T37" fmla="*/ 0 h 363"/>
                <a:gd name="T38" fmla="*/ 295 w 295"/>
                <a:gd name="T39" fmla="*/ 0 h 363"/>
                <a:gd name="T40" fmla="*/ 295 w 295"/>
                <a:gd name="T41" fmla="*/ 339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5" h="363">
                  <a:moveTo>
                    <a:pt x="295" y="339"/>
                  </a:moveTo>
                  <a:cubicBezTo>
                    <a:pt x="295" y="355"/>
                    <a:pt x="286" y="363"/>
                    <a:pt x="271" y="363"/>
                  </a:cubicBezTo>
                  <a:lnTo>
                    <a:pt x="219" y="363"/>
                  </a:lnTo>
                  <a:cubicBezTo>
                    <a:pt x="204" y="363"/>
                    <a:pt x="197" y="357"/>
                    <a:pt x="191" y="343"/>
                  </a:cubicBezTo>
                  <a:lnTo>
                    <a:pt x="89" y="121"/>
                  </a:lnTo>
                  <a:cubicBezTo>
                    <a:pt x="83" y="106"/>
                    <a:pt x="72" y="84"/>
                    <a:pt x="68" y="67"/>
                  </a:cubicBezTo>
                  <a:lnTo>
                    <a:pt x="62" y="67"/>
                  </a:lnTo>
                  <a:cubicBezTo>
                    <a:pt x="64" y="85"/>
                    <a:pt x="65" y="104"/>
                    <a:pt x="65" y="121"/>
                  </a:cubicBezTo>
                  <a:lnTo>
                    <a:pt x="65" y="363"/>
                  </a:lnTo>
                  <a:lnTo>
                    <a:pt x="0" y="363"/>
                  </a:lnTo>
                  <a:lnTo>
                    <a:pt x="0" y="25"/>
                  </a:lnTo>
                  <a:cubicBezTo>
                    <a:pt x="0" y="9"/>
                    <a:pt x="9" y="0"/>
                    <a:pt x="25" y="0"/>
                  </a:cubicBezTo>
                  <a:lnTo>
                    <a:pt x="76" y="0"/>
                  </a:lnTo>
                  <a:cubicBezTo>
                    <a:pt x="90" y="0"/>
                    <a:pt x="97" y="7"/>
                    <a:pt x="103" y="20"/>
                  </a:cubicBezTo>
                  <a:lnTo>
                    <a:pt x="202" y="237"/>
                  </a:lnTo>
                  <a:cubicBezTo>
                    <a:pt x="209" y="252"/>
                    <a:pt x="219" y="274"/>
                    <a:pt x="227" y="294"/>
                  </a:cubicBezTo>
                  <a:lnTo>
                    <a:pt x="233" y="294"/>
                  </a:lnTo>
                  <a:cubicBezTo>
                    <a:pt x="232" y="274"/>
                    <a:pt x="231" y="254"/>
                    <a:pt x="231" y="235"/>
                  </a:cubicBezTo>
                  <a:lnTo>
                    <a:pt x="231" y="0"/>
                  </a:lnTo>
                  <a:lnTo>
                    <a:pt x="295" y="0"/>
                  </a:lnTo>
                  <a:lnTo>
                    <a:pt x="295" y="3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7081838" y="695058"/>
              <a:ext cx="95250" cy="130175"/>
            </a:xfrm>
            <a:custGeom>
              <a:avLst/>
              <a:gdLst>
                <a:gd name="T0" fmla="*/ 267 w 267"/>
                <a:gd name="T1" fmla="*/ 223 h 370"/>
                <a:gd name="T2" fmla="*/ 136 w 267"/>
                <a:gd name="T3" fmla="*/ 370 h 370"/>
                <a:gd name="T4" fmla="*/ 0 w 267"/>
                <a:gd name="T5" fmla="*/ 223 h 370"/>
                <a:gd name="T6" fmla="*/ 0 w 267"/>
                <a:gd name="T7" fmla="*/ 0 h 370"/>
                <a:gd name="T8" fmla="*/ 53 w 267"/>
                <a:gd name="T9" fmla="*/ 0 h 370"/>
                <a:gd name="T10" fmla="*/ 53 w 267"/>
                <a:gd name="T11" fmla="*/ 223 h 370"/>
                <a:gd name="T12" fmla="*/ 134 w 267"/>
                <a:gd name="T13" fmla="*/ 323 h 370"/>
                <a:gd name="T14" fmla="*/ 215 w 267"/>
                <a:gd name="T15" fmla="*/ 223 h 370"/>
                <a:gd name="T16" fmla="*/ 215 w 267"/>
                <a:gd name="T17" fmla="*/ 0 h 370"/>
                <a:gd name="T18" fmla="*/ 267 w 267"/>
                <a:gd name="T19" fmla="*/ 0 h 370"/>
                <a:gd name="T20" fmla="*/ 267 w 267"/>
                <a:gd name="T21" fmla="*/ 223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7" h="370">
                  <a:moveTo>
                    <a:pt x="267" y="223"/>
                  </a:moveTo>
                  <a:cubicBezTo>
                    <a:pt x="267" y="330"/>
                    <a:pt x="232" y="370"/>
                    <a:pt x="136" y="370"/>
                  </a:cubicBezTo>
                  <a:cubicBezTo>
                    <a:pt x="36" y="370"/>
                    <a:pt x="0" y="330"/>
                    <a:pt x="0" y="223"/>
                  </a:cubicBezTo>
                  <a:lnTo>
                    <a:pt x="0" y="0"/>
                  </a:lnTo>
                  <a:lnTo>
                    <a:pt x="53" y="0"/>
                  </a:lnTo>
                  <a:lnTo>
                    <a:pt x="53" y="223"/>
                  </a:lnTo>
                  <a:cubicBezTo>
                    <a:pt x="53" y="298"/>
                    <a:pt x="73" y="323"/>
                    <a:pt x="134" y="323"/>
                  </a:cubicBezTo>
                  <a:cubicBezTo>
                    <a:pt x="193" y="323"/>
                    <a:pt x="215" y="298"/>
                    <a:pt x="215" y="223"/>
                  </a:cubicBezTo>
                  <a:lnTo>
                    <a:pt x="215" y="0"/>
                  </a:lnTo>
                  <a:lnTo>
                    <a:pt x="267" y="0"/>
                  </a:lnTo>
                  <a:lnTo>
                    <a:pt x="267" y="223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7207250" y="695058"/>
              <a:ext cx="101600" cy="128587"/>
            </a:xfrm>
            <a:custGeom>
              <a:avLst/>
              <a:gdLst>
                <a:gd name="T0" fmla="*/ 284 w 284"/>
                <a:gd name="T1" fmla="*/ 343 h 363"/>
                <a:gd name="T2" fmla="*/ 265 w 284"/>
                <a:gd name="T3" fmla="*/ 363 h 363"/>
                <a:gd name="T4" fmla="*/ 215 w 284"/>
                <a:gd name="T5" fmla="*/ 363 h 363"/>
                <a:gd name="T6" fmla="*/ 192 w 284"/>
                <a:gd name="T7" fmla="*/ 347 h 363"/>
                <a:gd name="T8" fmla="*/ 79 w 284"/>
                <a:gd name="T9" fmla="*/ 100 h 363"/>
                <a:gd name="T10" fmla="*/ 57 w 284"/>
                <a:gd name="T11" fmla="*/ 49 h 363"/>
                <a:gd name="T12" fmla="*/ 50 w 284"/>
                <a:gd name="T13" fmla="*/ 49 h 363"/>
                <a:gd name="T14" fmla="*/ 53 w 284"/>
                <a:gd name="T15" fmla="*/ 100 h 363"/>
                <a:gd name="T16" fmla="*/ 53 w 284"/>
                <a:gd name="T17" fmla="*/ 363 h 363"/>
                <a:gd name="T18" fmla="*/ 0 w 284"/>
                <a:gd name="T19" fmla="*/ 363 h 363"/>
                <a:gd name="T20" fmla="*/ 0 w 284"/>
                <a:gd name="T21" fmla="*/ 21 h 363"/>
                <a:gd name="T22" fmla="*/ 20 w 284"/>
                <a:gd name="T23" fmla="*/ 0 h 363"/>
                <a:gd name="T24" fmla="*/ 68 w 284"/>
                <a:gd name="T25" fmla="*/ 0 h 363"/>
                <a:gd name="T26" fmla="*/ 92 w 284"/>
                <a:gd name="T27" fmla="*/ 17 h 363"/>
                <a:gd name="T28" fmla="*/ 202 w 284"/>
                <a:gd name="T29" fmla="*/ 257 h 363"/>
                <a:gd name="T30" fmla="*/ 227 w 284"/>
                <a:gd name="T31" fmla="*/ 312 h 363"/>
                <a:gd name="T32" fmla="*/ 235 w 284"/>
                <a:gd name="T33" fmla="*/ 312 h 363"/>
                <a:gd name="T34" fmla="*/ 232 w 284"/>
                <a:gd name="T35" fmla="*/ 255 h 363"/>
                <a:gd name="T36" fmla="*/ 232 w 284"/>
                <a:gd name="T37" fmla="*/ 0 h 363"/>
                <a:gd name="T38" fmla="*/ 284 w 284"/>
                <a:gd name="T39" fmla="*/ 0 h 363"/>
                <a:gd name="T40" fmla="*/ 284 w 284"/>
                <a:gd name="T41" fmla="*/ 343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4" h="363">
                  <a:moveTo>
                    <a:pt x="284" y="343"/>
                  </a:moveTo>
                  <a:cubicBezTo>
                    <a:pt x="284" y="356"/>
                    <a:pt x="277" y="363"/>
                    <a:pt x="265" y="363"/>
                  </a:cubicBezTo>
                  <a:lnTo>
                    <a:pt x="215" y="363"/>
                  </a:lnTo>
                  <a:cubicBezTo>
                    <a:pt x="203" y="363"/>
                    <a:pt x="197" y="358"/>
                    <a:pt x="192" y="347"/>
                  </a:cubicBezTo>
                  <a:lnTo>
                    <a:pt x="79" y="100"/>
                  </a:lnTo>
                  <a:cubicBezTo>
                    <a:pt x="73" y="86"/>
                    <a:pt x="62" y="64"/>
                    <a:pt x="57" y="49"/>
                  </a:cubicBezTo>
                  <a:lnTo>
                    <a:pt x="50" y="49"/>
                  </a:lnTo>
                  <a:cubicBezTo>
                    <a:pt x="52" y="66"/>
                    <a:pt x="53" y="83"/>
                    <a:pt x="53" y="100"/>
                  </a:cubicBezTo>
                  <a:lnTo>
                    <a:pt x="53" y="363"/>
                  </a:lnTo>
                  <a:lnTo>
                    <a:pt x="0" y="363"/>
                  </a:lnTo>
                  <a:lnTo>
                    <a:pt x="0" y="21"/>
                  </a:lnTo>
                  <a:cubicBezTo>
                    <a:pt x="0" y="7"/>
                    <a:pt x="7" y="0"/>
                    <a:pt x="20" y="0"/>
                  </a:cubicBezTo>
                  <a:lnTo>
                    <a:pt x="68" y="0"/>
                  </a:lnTo>
                  <a:cubicBezTo>
                    <a:pt x="80" y="0"/>
                    <a:pt x="86" y="6"/>
                    <a:pt x="92" y="17"/>
                  </a:cubicBezTo>
                  <a:lnTo>
                    <a:pt x="202" y="257"/>
                  </a:lnTo>
                  <a:cubicBezTo>
                    <a:pt x="208" y="272"/>
                    <a:pt x="219" y="293"/>
                    <a:pt x="227" y="312"/>
                  </a:cubicBezTo>
                  <a:lnTo>
                    <a:pt x="235" y="312"/>
                  </a:lnTo>
                  <a:cubicBezTo>
                    <a:pt x="233" y="293"/>
                    <a:pt x="232" y="274"/>
                    <a:pt x="232" y="255"/>
                  </a:cubicBezTo>
                  <a:lnTo>
                    <a:pt x="232" y="0"/>
                  </a:lnTo>
                  <a:lnTo>
                    <a:pt x="284" y="0"/>
                  </a:lnTo>
                  <a:lnTo>
                    <a:pt x="284" y="343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1" name="Rectangle 14"/>
            <p:cNvSpPr>
              <a:spLocks noChangeArrowheads="1"/>
            </p:cNvSpPr>
            <p:nvPr userDrawn="1"/>
          </p:nvSpPr>
          <p:spPr bwMode="auto">
            <a:xfrm>
              <a:off x="7340600" y="695058"/>
              <a:ext cx="19050" cy="128587"/>
            </a:xfrm>
            <a:prstGeom prst="rect">
              <a:avLst/>
            </a:pr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7378701" y="695058"/>
              <a:ext cx="109537" cy="128587"/>
            </a:xfrm>
            <a:custGeom>
              <a:avLst/>
              <a:gdLst>
                <a:gd name="T0" fmla="*/ 199 w 306"/>
                <a:gd name="T1" fmla="*/ 348 h 363"/>
                <a:gd name="T2" fmla="*/ 179 w 306"/>
                <a:gd name="T3" fmla="*/ 363 h 363"/>
                <a:gd name="T4" fmla="*/ 128 w 306"/>
                <a:gd name="T5" fmla="*/ 363 h 363"/>
                <a:gd name="T6" fmla="*/ 108 w 306"/>
                <a:gd name="T7" fmla="*/ 348 h 363"/>
                <a:gd name="T8" fmla="*/ 0 w 306"/>
                <a:gd name="T9" fmla="*/ 0 h 363"/>
                <a:gd name="T10" fmla="*/ 55 w 306"/>
                <a:gd name="T11" fmla="*/ 0 h 363"/>
                <a:gd name="T12" fmla="*/ 137 w 306"/>
                <a:gd name="T13" fmla="*/ 283 h 363"/>
                <a:gd name="T14" fmla="*/ 147 w 306"/>
                <a:gd name="T15" fmla="*/ 323 h 363"/>
                <a:gd name="T16" fmla="*/ 161 w 306"/>
                <a:gd name="T17" fmla="*/ 323 h 363"/>
                <a:gd name="T18" fmla="*/ 171 w 306"/>
                <a:gd name="T19" fmla="*/ 283 h 363"/>
                <a:gd name="T20" fmla="*/ 252 w 306"/>
                <a:gd name="T21" fmla="*/ 0 h 363"/>
                <a:gd name="T22" fmla="*/ 306 w 306"/>
                <a:gd name="T23" fmla="*/ 0 h 363"/>
                <a:gd name="T24" fmla="*/ 199 w 306"/>
                <a:gd name="T25" fmla="*/ 348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6" h="363">
                  <a:moveTo>
                    <a:pt x="199" y="348"/>
                  </a:moveTo>
                  <a:cubicBezTo>
                    <a:pt x="197" y="357"/>
                    <a:pt x="189" y="363"/>
                    <a:pt x="179" y="363"/>
                  </a:cubicBezTo>
                  <a:lnTo>
                    <a:pt x="128" y="363"/>
                  </a:lnTo>
                  <a:cubicBezTo>
                    <a:pt x="118" y="363"/>
                    <a:pt x="110" y="357"/>
                    <a:pt x="108" y="348"/>
                  </a:cubicBezTo>
                  <a:lnTo>
                    <a:pt x="0" y="0"/>
                  </a:lnTo>
                  <a:lnTo>
                    <a:pt x="55" y="0"/>
                  </a:lnTo>
                  <a:lnTo>
                    <a:pt x="137" y="283"/>
                  </a:lnTo>
                  <a:cubicBezTo>
                    <a:pt x="140" y="296"/>
                    <a:pt x="143" y="310"/>
                    <a:pt x="147" y="323"/>
                  </a:cubicBezTo>
                  <a:lnTo>
                    <a:pt x="161" y="323"/>
                  </a:lnTo>
                  <a:cubicBezTo>
                    <a:pt x="163" y="310"/>
                    <a:pt x="167" y="296"/>
                    <a:pt x="171" y="283"/>
                  </a:cubicBezTo>
                  <a:lnTo>
                    <a:pt x="252" y="0"/>
                  </a:lnTo>
                  <a:lnTo>
                    <a:pt x="306" y="0"/>
                  </a:lnTo>
                  <a:lnTo>
                    <a:pt x="199" y="348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7505700" y="695058"/>
              <a:ext cx="80962" cy="128587"/>
            </a:xfrm>
            <a:custGeom>
              <a:avLst/>
              <a:gdLst>
                <a:gd name="T0" fmla="*/ 228 w 228"/>
                <a:gd name="T1" fmla="*/ 361 h 365"/>
                <a:gd name="T2" fmla="*/ 73 w 228"/>
                <a:gd name="T3" fmla="*/ 365 h 365"/>
                <a:gd name="T4" fmla="*/ 0 w 228"/>
                <a:gd name="T5" fmla="*/ 300 h 365"/>
                <a:gd name="T6" fmla="*/ 0 w 228"/>
                <a:gd name="T7" fmla="*/ 65 h 365"/>
                <a:gd name="T8" fmla="*/ 73 w 228"/>
                <a:gd name="T9" fmla="*/ 0 h 365"/>
                <a:gd name="T10" fmla="*/ 228 w 228"/>
                <a:gd name="T11" fmla="*/ 4 h 365"/>
                <a:gd name="T12" fmla="*/ 226 w 228"/>
                <a:gd name="T13" fmla="*/ 45 h 365"/>
                <a:gd name="T14" fmla="*/ 82 w 228"/>
                <a:gd name="T15" fmla="*/ 45 h 365"/>
                <a:gd name="T16" fmla="*/ 53 w 228"/>
                <a:gd name="T17" fmla="*/ 79 h 365"/>
                <a:gd name="T18" fmla="*/ 53 w 228"/>
                <a:gd name="T19" fmla="*/ 152 h 365"/>
                <a:gd name="T20" fmla="*/ 206 w 228"/>
                <a:gd name="T21" fmla="*/ 152 h 365"/>
                <a:gd name="T22" fmla="*/ 206 w 228"/>
                <a:gd name="T23" fmla="*/ 194 h 365"/>
                <a:gd name="T24" fmla="*/ 53 w 228"/>
                <a:gd name="T25" fmla="*/ 194 h 365"/>
                <a:gd name="T26" fmla="*/ 53 w 228"/>
                <a:gd name="T27" fmla="*/ 287 h 365"/>
                <a:gd name="T28" fmla="*/ 82 w 228"/>
                <a:gd name="T29" fmla="*/ 321 h 365"/>
                <a:gd name="T30" fmla="*/ 226 w 228"/>
                <a:gd name="T31" fmla="*/ 321 h 365"/>
                <a:gd name="T32" fmla="*/ 228 w 228"/>
                <a:gd name="T33" fmla="*/ 361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8" h="365">
                  <a:moveTo>
                    <a:pt x="228" y="361"/>
                  </a:moveTo>
                  <a:cubicBezTo>
                    <a:pt x="180" y="365"/>
                    <a:pt x="125" y="365"/>
                    <a:pt x="73" y="365"/>
                  </a:cubicBezTo>
                  <a:cubicBezTo>
                    <a:pt x="27" y="365"/>
                    <a:pt x="0" y="340"/>
                    <a:pt x="0" y="300"/>
                  </a:cubicBezTo>
                  <a:lnTo>
                    <a:pt x="0" y="65"/>
                  </a:lnTo>
                  <a:cubicBezTo>
                    <a:pt x="0" y="25"/>
                    <a:pt x="28" y="0"/>
                    <a:pt x="73" y="0"/>
                  </a:cubicBezTo>
                  <a:cubicBezTo>
                    <a:pt x="125" y="0"/>
                    <a:pt x="180" y="0"/>
                    <a:pt x="228" y="4"/>
                  </a:cubicBezTo>
                  <a:lnTo>
                    <a:pt x="226" y="45"/>
                  </a:lnTo>
                  <a:lnTo>
                    <a:pt x="82" y="45"/>
                  </a:lnTo>
                  <a:cubicBezTo>
                    <a:pt x="61" y="45"/>
                    <a:pt x="53" y="54"/>
                    <a:pt x="53" y="79"/>
                  </a:cubicBezTo>
                  <a:lnTo>
                    <a:pt x="53" y="152"/>
                  </a:lnTo>
                  <a:lnTo>
                    <a:pt x="206" y="152"/>
                  </a:lnTo>
                  <a:lnTo>
                    <a:pt x="206" y="194"/>
                  </a:lnTo>
                  <a:lnTo>
                    <a:pt x="53" y="194"/>
                  </a:lnTo>
                  <a:lnTo>
                    <a:pt x="53" y="287"/>
                  </a:lnTo>
                  <a:cubicBezTo>
                    <a:pt x="53" y="312"/>
                    <a:pt x="61" y="321"/>
                    <a:pt x="82" y="321"/>
                  </a:cubicBezTo>
                  <a:lnTo>
                    <a:pt x="226" y="321"/>
                  </a:lnTo>
                  <a:lnTo>
                    <a:pt x="228" y="361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4" name="Freeform 17"/>
            <p:cNvSpPr>
              <a:spLocks noEditPoints="1"/>
            </p:cNvSpPr>
            <p:nvPr userDrawn="1"/>
          </p:nvSpPr>
          <p:spPr bwMode="auto">
            <a:xfrm>
              <a:off x="7612063" y="693471"/>
              <a:ext cx="92075" cy="130175"/>
            </a:xfrm>
            <a:custGeom>
              <a:avLst/>
              <a:gdLst>
                <a:gd name="T0" fmla="*/ 126 w 260"/>
                <a:gd name="T1" fmla="*/ 173 h 367"/>
                <a:gd name="T2" fmla="*/ 194 w 260"/>
                <a:gd name="T3" fmla="*/ 108 h 367"/>
                <a:gd name="T4" fmla="*/ 126 w 260"/>
                <a:gd name="T5" fmla="*/ 45 h 367"/>
                <a:gd name="T6" fmla="*/ 52 w 260"/>
                <a:gd name="T7" fmla="*/ 45 h 367"/>
                <a:gd name="T8" fmla="*/ 52 w 260"/>
                <a:gd name="T9" fmla="*/ 173 h 367"/>
                <a:gd name="T10" fmla="*/ 126 w 260"/>
                <a:gd name="T11" fmla="*/ 173 h 367"/>
                <a:gd name="T12" fmla="*/ 204 w 260"/>
                <a:gd name="T13" fmla="*/ 367 h 367"/>
                <a:gd name="T14" fmla="*/ 173 w 260"/>
                <a:gd name="T15" fmla="*/ 254 h 367"/>
                <a:gd name="T16" fmla="*/ 127 w 260"/>
                <a:gd name="T17" fmla="*/ 218 h 367"/>
                <a:gd name="T18" fmla="*/ 52 w 260"/>
                <a:gd name="T19" fmla="*/ 217 h 367"/>
                <a:gd name="T20" fmla="*/ 52 w 260"/>
                <a:gd name="T21" fmla="*/ 367 h 367"/>
                <a:gd name="T22" fmla="*/ 0 w 260"/>
                <a:gd name="T23" fmla="*/ 367 h 367"/>
                <a:gd name="T24" fmla="*/ 0 w 260"/>
                <a:gd name="T25" fmla="*/ 4 h 367"/>
                <a:gd name="T26" fmla="*/ 127 w 260"/>
                <a:gd name="T27" fmla="*/ 0 h 367"/>
                <a:gd name="T28" fmla="*/ 247 w 260"/>
                <a:gd name="T29" fmla="*/ 105 h 367"/>
                <a:gd name="T30" fmla="*/ 180 w 260"/>
                <a:gd name="T31" fmla="*/ 197 h 367"/>
                <a:gd name="T32" fmla="*/ 180 w 260"/>
                <a:gd name="T33" fmla="*/ 200 h 367"/>
                <a:gd name="T34" fmla="*/ 226 w 260"/>
                <a:gd name="T35" fmla="*/ 252 h 367"/>
                <a:gd name="T36" fmla="*/ 260 w 260"/>
                <a:gd name="T37" fmla="*/ 367 h 367"/>
                <a:gd name="T38" fmla="*/ 204 w 260"/>
                <a:gd name="T39" fmla="*/ 367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60" h="367">
                  <a:moveTo>
                    <a:pt x="126" y="173"/>
                  </a:moveTo>
                  <a:cubicBezTo>
                    <a:pt x="177" y="172"/>
                    <a:pt x="194" y="158"/>
                    <a:pt x="194" y="108"/>
                  </a:cubicBezTo>
                  <a:cubicBezTo>
                    <a:pt x="194" y="58"/>
                    <a:pt x="177" y="45"/>
                    <a:pt x="126" y="45"/>
                  </a:cubicBezTo>
                  <a:cubicBezTo>
                    <a:pt x="98" y="45"/>
                    <a:pt x="72" y="45"/>
                    <a:pt x="52" y="45"/>
                  </a:cubicBezTo>
                  <a:lnTo>
                    <a:pt x="52" y="173"/>
                  </a:lnTo>
                  <a:lnTo>
                    <a:pt x="126" y="173"/>
                  </a:lnTo>
                  <a:close/>
                  <a:moveTo>
                    <a:pt x="204" y="367"/>
                  </a:moveTo>
                  <a:lnTo>
                    <a:pt x="173" y="254"/>
                  </a:lnTo>
                  <a:cubicBezTo>
                    <a:pt x="164" y="228"/>
                    <a:pt x="150" y="218"/>
                    <a:pt x="127" y="218"/>
                  </a:cubicBezTo>
                  <a:lnTo>
                    <a:pt x="52" y="217"/>
                  </a:lnTo>
                  <a:lnTo>
                    <a:pt x="52" y="367"/>
                  </a:lnTo>
                  <a:lnTo>
                    <a:pt x="0" y="367"/>
                  </a:lnTo>
                  <a:lnTo>
                    <a:pt x="0" y="4"/>
                  </a:lnTo>
                  <a:cubicBezTo>
                    <a:pt x="40" y="0"/>
                    <a:pt x="68" y="0"/>
                    <a:pt x="127" y="0"/>
                  </a:cubicBezTo>
                  <a:cubicBezTo>
                    <a:pt x="212" y="0"/>
                    <a:pt x="247" y="23"/>
                    <a:pt x="247" y="105"/>
                  </a:cubicBezTo>
                  <a:cubicBezTo>
                    <a:pt x="247" y="162"/>
                    <a:pt x="229" y="191"/>
                    <a:pt x="180" y="197"/>
                  </a:cubicBezTo>
                  <a:lnTo>
                    <a:pt x="180" y="200"/>
                  </a:lnTo>
                  <a:cubicBezTo>
                    <a:pt x="198" y="205"/>
                    <a:pt x="218" y="221"/>
                    <a:pt x="226" y="252"/>
                  </a:cubicBezTo>
                  <a:lnTo>
                    <a:pt x="260" y="367"/>
                  </a:lnTo>
                  <a:lnTo>
                    <a:pt x="204" y="36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723188" y="691883"/>
              <a:ext cx="85725" cy="133350"/>
            </a:xfrm>
            <a:custGeom>
              <a:avLst/>
              <a:gdLst>
                <a:gd name="T0" fmla="*/ 229 w 243"/>
                <a:gd name="T1" fmla="*/ 11 h 375"/>
                <a:gd name="T2" fmla="*/ 226 w 243"/>
                <a:gd name="T3" fmla="*/ 49 h 375"/>
                <a:gd name="T4" fmla="*/ 122 w 243"/>
                <a:gd name="T5" fmla="*/ 47 h 375"/>
                <a:gd name="T6" fmla="*/ 53 w 243"/>
                <a:gd name="T7" fmla="*/ 97 h 375"/>
                <a:gd name="T8" fmla="*/ 97 w 243"/>
                <a:gd name="T9" fmla="*/ 152 h 375"/>
                <a:gd name="T10" fmla="*/ 169 w 243"/>
                <a:gd name="T11" fmla="*/ 172 h 375"/>
                <a:gd name="T12" fmla="*/ 243 w 243"/>
                <a:gd name="T13" fmla="*/ 276 h 375"/>
                <a:gd name="T14" fmla="*/ 119 w 243"/>
                <a:gd name="T15" fmla="*/ 375 h 375"/>
                <a:gd name="T16" fmla="*/ 5 w 243"/>
                <a:gd name="T17" fmla="*/ 365 h 375"/>
                <a:gd name="T18" fmla="*/ 9 w 243"/>
                <a:gd name="T19" fmla="*/ 326 h 375"/>
                <a:gd name="T20" fmla="*/ 120 w 243"/>
                <a:gd name="T21" fmla="*/ 329 h 375"/>
                <a:gd name="T22" fmla="*/ 189 w 243"/>
                <a:gd name="T23" fmla="*/ 275 h 375"/>
                <a:gd name="T24" fmla="*/ 146 w 243"/>
                <a:gd name="T25" fmla="*/ 219 h 375"/>
                <a:gd name="T26" fmla="*/ 72 w 243"/>
                <a:gd name="T27" fmla="*/ 199 h 375"/>
                <a:gd name="T28" fmla="*/ 0 w 243"/>
                <a:gd name="T29" fmla="*/ 96 h 375"/>
                <a:gd name="T30" fmla="*/ 120 w 243"/>
                <a:gd name="T31" fmla="*/ 0 h 375"/>
                <a:gd name="T32" fmla="*/ 229 w 243"/>
                <a:gd name="T33" fmla="*/ 1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3" h="375">
                  <a:moveTo>
                    <a:pt x="229" y="11"/>
                  </a:moveTo>
                  <a:lnTo>
                    <a:pt x="226" y="49"/>
                  </a:lnTo>
                  <a:cubicBezTo>
                    <a:pt x="195" y="48"/>
                    <a:pt x="156" y="47"/>
                    <a:pt x="122" y="47"/>
                  </a:cubicBezTo>
                  <a:cubicBezTo>
                    <a:pt x="72" y="47"/>
                    <a:pt x="53" y="49"/>
                    <a:pt x="53" y="97"/>
                  </a:cubicBezTo>
                  <a:cubicBezTo>
                    <a:pt x="53" y="135"/>
                    <a:pt x="67" y="145"/>
                    <a:pt x="97" y="152"/>
                  </a:cubicBezTo>
                  <a:lnTo>
                    <a:pt x="169" y="172"/>
                  </a:lnTo>
                  <a:cubicBezTo>
                    <a:pt x="225" y="188"/>
                    <a:pt x="243" y="221"/>
                    <a:pt x="243" y="276"/>
                  </a:cubicBezTo>
                  <a:cubicBezTo>
                    <a:pt x="243" y="359"/>
                    <a:pt x="206" y="375"/>
                    <a:pt x="119" y="375"/>
                  </a:cubicBezTo>
                  <a:cubicBezTo>
                    <a:pt x="96" y="375"/>
                    <a:pt x="56" y="374"/>
                    <a:pt x="5" y="365"/>
                  </a:cubicBezTo>
                  <a:lnTo>
                    <a:pt x="9" y="326"/>
                  </a:lnTo>
                  <a:cubicBezTo>
                    <a:pt x="75" y="328"/>
                    <a:pt x="93" y="329"/>
                    <a:pt x="120" y="329"/>
                  </a:cubicBezTo>
                  <a:cubicBezTo>
                    <a:pt x="173" y="328"/>
                    <a:pt x="189" y="320"/>
                    <a:pt x="189" y="275"/>
                  </a:cubicBezTo>
                  <a:cubicBezTo>
                    <a:pt x="189" y="236"/>
                    <a:pt x="175" y="227"/>
                    <a:pt x="146" y="219"/>
                  </a:cubicBezTo>
                  <a:lnTo>
                    <a:pt x="72" y="199"/>
                  </a:lnTo>
                  <a:cubicBezTo>
                    <a:pt x="19" y="184"/>
                    <a:pt x="0" y="151"/>
                    <a:pt x="0" y="96"/>
                  </a:cubicBezTo>
                  <a:cubicBezTo>
                    <a:pt x="0" y="12"/>
                    <a:pt x="38" y="0"/>
                    <a:pt x="120" y="0"/>
                  </a:cubicBezTo>
                  <a:cubicBezTo>
                    <a:pt x="154" y="0"/>
                    <a:pt x="192" y="2"/>
                    <a:pt x="229" y="11"/>
                  </a:cubicBez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6" name="Rectangle 19"/>
            <p:cNvSpPr>
              <a:spLocks noChangeArrowheads="1"/>
            </p:cNvSpPr>
            <p:nvPr userDrawn="1"/>
          </p:nvSpPr>
          <p:spPr bwMode="auto">
            <a:xfrm>
              <a:off x="7834312" y="695058"/>
              <a:ext cx="19050" cy="128587"/>
            </a:xfrm>
            <a:prstGeom prst="rect">
              <a:avLst/>
            </a:pr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7" name="Freeform 20"/>
            <p:cNvSpPr>
              <a:spLocks/>
            </p:cNvSpPr>
            <p:nvPr userDrawn="1"/>
          </p:nvSpPr>
          <p:spPr bwMode="auto">
            <a:xfrm>
              <a:off x="7872413" y="695058"/>
              <a:ext cx="101600" cy="128587"/>
            </a:xfrm>
            <a:custGeom>
              <a:avLst/>
              <a:gdLst>
                <a:gd name="T0" fmla="*/ 168 w 283"/>
                <a:gd name="T1" fmla="*/ 47 h 363"/>
                <a:gd name="T2" fmla="*/ 168 w 283"/>
                <a:gd name="T3" fmla="*/ 363 h 363"/>
                <a:gd name="T4" fmla="*/ 114 w 283"/>
                <a:gd name="T5" fmla="*/ 363 h 363"/>
                <a:gd name="T6" fmla="*/ 114 w 283"/>
                <a:gd name="T7" fmla="*/ 47 h 363"/>
                <a:gd name="T8" fmla="*/ 0 w 283"/>
                <a:gd name="T9" fmla="*/ 47 h 363"/>
                <a:gd name="T10" fmla="*/ 0 w 283"/>
                <a:gd name="T11" fmla="*/ 0 h 363"/>
                <a:gd name="T12" fmla="*/ 283 w 283"/>
                <a:gd name="T13" fmla="*/ 0 h 363"/>
                <a:gd name="T14" fmla="*/ 283 w 283"/>
                <a:gd name="T15" fmla="*/ 47 h 363"/>
                <a:gd name="T16" fmla="*/ 168 w 283"/>
                <a:gd name="T17" fmla="*/ 47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3" h="363">
                  <a:moveTo>
                    <a:pt x="168" y="47"/>
                  </a:moveTo>
                  <a:lnTo>
                    <a:pt x="168" y="363"/>
                  </a:lnTo>
                  <a:lnTo>
                    <a:pt x="114" y="363"/>
                  </a:lnTo>
                  <a:lnTo>
                    <a:pt x="114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83" y="0"/>
                  </a:lnTo>
                  <a:lnTo>
                    <a:pt x="283" y="47"/>
                  </a:lnTo>
                  <a:lnTo>
                    <a:pt x="168" y="4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8" name="Freeform 21"/>
            <p:cNvSpPr>
              <a:spLocks noEditPoints="1"/>
            </p:cNvSpPr>
            <p:nvPr userDrawn="1"/>
          </p:nvSpPr>
          <p:spPr bwMode="auto">
            <a:xfrm>
              <a:off x="7969250" y="660133"/>
              <a:ext cx="114299" cy="163512"/>
            </a:xfrm>
            <a:custGeom>
              <a:avLst/>
              <a:gdLst>
                <a:gd name="T0" fmla="*/ 199 w 321"/>
                <a:gd name="T1" fmla="*/ 57 h 459"/>
                <a:gd name="T2" fmla="*/ 185 w 321"/>
                <a:gd name="T3" fmla="*/ 43 h 459"/>
                <a:gd name="T4" fmla="*/ 185 w 321"/>
                <a:gd name="T5" fmla="*/ 14 h 459"/>
                <a:gd name="T6" fmla="*/ 199 w 321"/>
                <a:gd name="T7" fmla="*/ 0 h 459"/>
                <a:gd name="T8" fmla="*/ 215 w 321"/>
                <a:gd name="T9" fmla="*/ 0 h 459"/>
                <a:gd name="T10" fmla="*/ 230 w 321"/>
                <a:gd name="T11" fmla="*/ 14 h 459"/>
                <a:gd name="T12" fmla="*/ 230 w 321"/>
                <a:gd name="T13" fmla="*/ 43 h 459"/>
                <a:gd name="T14" fmla="*/ 215 w 321"/>
                <a:gd name="T15" fmla="*/ 57 h 459"/>
                <a:gd name="T16" fmla="*/ 199 w 321"/>
                <a:gd name="T17" fmla="*/ 57 h 459"/>
                <a:gd name="T18" fmla="*/ 176 w 321"/>
                <a:gd name="T19" fmla="*/ 166 h 459"/>
                <a:gd name="T20" fmla="*/ 167 w 321"/>
                <a:gd name="T21" fmla="*/ 137 h 459"/>
                <a:gd name="T22" fmla="*/ 153 w 321"/>
                <a:gd name="T23" fmla="*/ 137 h 459"/>
                <a:gd name="T24" fmla="*/ 144 w 321"/>
                <a:gd name="T25" fmla="*/ 166 h 459"/>
                <a:gd name="T26" fmla="*/ 102 w 321"/>
                <a:gd name="T27" fmla="*/ 304 h 459"/>
                <a:gd name="T28" fmla="*/ 218 w 321"/>
                <a:gd name="T29" fmla="*/ 304 h 459"/>
                <a:gd name="T30" fmla="*/ 176 w 321"/>
                <a:gd name="T31" fmla="*/ 166 h 459"/>
                <a:gd name="T32" fmla="*/ 105 w 321"/>
                <a:gd name="T33" fmla="*/ 57 h 459"/>
                <a:gd name="T34" fmla="*/ 92 w 321"/>
                <a:gd name="T35" fmla="*/ 43 h 459"/>
                <a:gd name="T36" fmla="*/ 92 w 321"/>
                <a:gd name="T37" fmla="*/ 14 h 459"/>
                <a:gd name="T38" fmla="*/ 105 w 321"/>
                <a:gd name="T39" fmla="*/ 0 h 459"/>
                <a:gd name="T40" fmla="*/ 122 w 321"/>
                <a:gd name="T41" fmla="*/ 0 h 459"/>
                <a:gd name="T42" fmla="*/ 136 w 321"/>
                <a:gd name="T43" fmla="*/ 14 h 459"/>
                <a:gd name="T44" fmla="*/ 136 w 321"/>
                <a:gd name="T45" fmla="*/ 43 h 459"/>
                <a:gd name="T46" fmla="*/ 122 w 321"/>
                <a:gd name="T47" fmla="*/ 57 h 459"/>
                <a:gd name="T48" fmla="*/ 105 w 321"/>
                <a:gd name="T49" fmla="*/ 57 h 459"/>
                <a:gd name="T50" fmla="*/ 88 w 321"/>
                <a:gd name="T51" fmla="*/ 350 h 459"/>
                <a:gd name="T52" fmla="*/ 54 w 321"/>
                <a:gd name="T53" fmla="*/ 459 h 459"/>
                <a:gd name="T54" fmla="*/ 0 w 321"/>
                <a:gd name="T55" fmla="*/ 459 h 459"/>
                <a:gd name="T56" fmla="*/ 114 w 321"/>
                <a:gd name="T57" fmla="*/ 110 h 459"/>
                <a:gd name="T58" fmla="*/ 133 w 321"/>
                <a:gd name="T59" fmla="*/ 96 h 459"/>
                <a:gd name="T60" fmla="*/ 187 w 321"/>
                <a:gd name="T61" fmla="*/ 96 h 459"/>
                <a:gd name="T62" fmla="*/ 206 w 321"/>
                <a:gd name="T63" fmla="*/ 110 h 459"/>
                <a:gd name="T64" fmla="*/ 321 w 321"/>
                <a:gd name="T65" fmla="*/ 459 h 459"/>
                <a:gd name="T66" fmla="*/ 266 w 321"/>
                <a:gd name="T67" fmla="*/ 459 h 459"/>
                <a:gd name="T68" fmla="*/ 233 w 321"/>
                <a:gd name="T69" fmla="*/ 350 h 459"/>
                <a:gd name="T70" fmla="*/ 88 w 321"/>
                <a:gd name="T71" fmla="*/ 35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21" h="459">
                  <a:moveTo>
                    <a:pt x="199" y="57"/>
                  </a:moveTo>
                  <a:cubicBezTo>
                    <a:pt x="189" y="57"/>
                    <a:pt x="185" y="53"/>
                    <a:pt x="185" y="43"/>
                  </a:cubicBezTo>
                  <a:lnTo>
                    <a:pt x="185" y="14"/>
                  </a:lnTo>
                  <a:cubicBezTo>
                    <a:pt x="185" y="6"/>
                    <a:pt x="189" y="0"/>
                    <a:pt x="199" y="0"/>
                  </a:cubicBezTo>
                  <a:lnTo>
                    <a:pt x="215" y="0"/>
                  </a:lnTo>
                  <a:cubicBezTo>
                    <a:pt x="224" y="0"/>
                    <a:pt x="230" y="6"/>
                    <a:pt x="230" y="14"/>
                  </a:cubicBezTo>
                  <a:lnTo>
                    <a:pt x="230" y="43"/>
                  </a:lnTo>
                  <a:cubicBezTo>
                    <a:pt x="230" y="53"/>
                    <a:pt x="224" y="57"/>
                    <a:pt x="215" y="57"/>
                  </a:cubicBezTo>
                  <a:lnTo>
                    <a:pt x="199" y="57"/>
                  </a:lnTo>
                  <a:close/>
                  <a:moveTo>
                    <a:pt x="176" y="166"/>
                  </a:moveTo>
                  <a:cubicBezTo>
                    <a:pt x="173" y="157"/>
                    <a:pt x="170" y="146"/>
                    <a:pt x="167" y="137"/>
                  </a:cubicBezTo>
                  <a:lnTo>
                    <a:pt x="153" y="137"/>
                  </a:lnTo>
                  <a:cubicBezTo>
                    <a:pt x="150" y="146"/>
                    <a:pt x="147" y="157"/>
                    <a:pt x="144" y="166"/>
                  </a:cubicBezTo>
                  <a:lnTo>
                    <a:pt x="102" y="304"/>
                  </a:lnTo>
                  <a:lnTo>
                    <a:pt x="218" y="304"/>
                  </a:lnTo>
                  <a:lnTo>
                    <a:pt x="176" y="166"/>
                  </a:lnTo>
                  <a:close/>
                  <a:moveTo>
                    <a:pt x="105" y="57"/>
                  </a:moveTo>
                  <a:cubicBezTo>
                    <a:pt x="96" y="57"/>
                    <a:pt x="92" y="53"/>
                    <a:pt x="92" y="43"/>
                  </a:cubicBezTo>
                  <a:lnTo>
                    <a:pt x="92" y="14"/>
                  </a:lnTo>
                  <a:cubicBezTo>
                    <a:pt x="92" y="6"/>
                    <a:pt x="96" y="0"/>
                    <a:pt x="105" y="0"/>
                  </a:cubicBezTo>
                  <a:lnTo>
                    <a:pt x="122" y="0"/>
                  </a:lnTo>
                  <a:cubicBezTo>
                    <a:pt x="132" y="0"/>
                    <a:pt x="136" y="6"/>
                    <a:pt x="136" y="14"/>
                  </a:cubicBezTo>
                  <a:lnTo>
                    <a:pt x="136" y="43"/>
                  </a:lnTo>
                  <a:cubicBezTo>
                    <a:pt x="136" y="53"/>
                    <a:pt x="132" y="57"/>
                    <a:pt x="122" y="57"/>
                  </a:cubicBezTo>
                  <a:lnTo>
                    <a:pt x="105" y="57"/>
                  </a:lnTo>
                  <a:close/>
                  <a:moveTo>
                    <a:pt x="88" y="350"/>
                  </a:moveTo>
                  <a:lnTo>
                    <a:pt x="54" y="459"/>
                  </a:lnTo>
                  <a:lnTo>
                    <a:pt x="0" y="459"/>
                  </a:lnTo>
                  <a:lnTo>
                    <a:pt x="114" y="110"/>
                  </a:lnTo>
                  <a:cubicBezTo>
                    <a:pt x="116" y="102"/>
                    <a:pt x="124" y="96"/>
                    <a:pt x="133" y="96"/>
                  </a:cubicBezTo>
                  <a:lnTo>
                    <a:pt x="187" y="96"/>
                  </a:lnTo>
                  <a:cubicBezTo>
                    <a:pt x="196" y="96"/>
                    <a:pt x="204" y="102"/>
                    <a:pt x="206" y="110"/>
                  </a:cubicBezTo>
                  <a:lnTo>
                    <a:pt x="321" y="459"/>
                  </a:lnTo>
                  <a:lnTo>
                    <a:pt x="266" y="459"/>
                  </a:lnTo>
                  <a:lnTo>
                    <a:pt x="233" y="350"/>
                  </a:lnTo>
                  <a:lnTo>
                    <a:pt x="88" y="350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9" name="Freeform 22"/>
            <p:cNvSpPr>
              <a:spLocks/>
            </p:cNvSpPr>
            <p:nvPr userDrawn="1"/>
          </p:nvSpPr>
          <p:spPr bwMode="auto">
            <a:xfrm>
              <a:off x="8078788" y="695058"/>
              <a:ext cx="100012" cy="128587"/>
            </a:xfrm>
            <a:custGeom>
              <a:avLst/>
              <a:gdLst>
                <a:gd name="T0" fmla="*/ 167 w 282"/>
                <a:gd name="T1" fmla="*/ 47 h 363"/>
                <a:gd name="T2" fmla="*/ 167 w 282"/>
                <a:gd name="T3" fmla="*/ 363 h 363"/>
                <a:gd name="T4" fmla="*/ 114 w 282"/>
                <a:gd name="T5" fmla="*/ 363 h 363"/>
                <a:gd name="T6" fmla="*/ 114 w 282"/>
                <a:gd name="T7" fmla="*/ 47 h 363"/>
                <a:gd name="T8" fmla="*/ 0 w 282"/>
                <a:gd name="T9" fmla="*/ 47 h 363"/>
                <a:gd name="T10" fmla="*/ 0 w 282"/>
                <a:gd name="T11" fmla="*/ 0 h 363"/>
                <a:gd name="T12" fmla="*/ 282 w 282"/>
                <a:gd name="T13" fmla="*/ 0 h 363"/>
                <a:gd name="T14" fmla="*/ 282 w 282"/>
                <a:gd name="T15" fmla="*/ 47 h 363"/>
                <a:gd name="T16" fmla="*/ 167 w 282"/>
                <a:gd name="T17" fmla="*/ 47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2" h="363">
                  <a:moveTo>
                    <a:pt x="167" y="47"/>
                  </a:moveTo>
                  <a:lnTo>
                    <a:pt x="167" y="363"/>
                  </a:lnTo>
                  <a:lnTo>
                    <a:pt x="114" y="363"/>
                  </a:lnTo>
                  <a:lnTo>
                    <a:pt x="114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82" y="0"/>
                  </a:lnTo>
                  <a:lnTo>
                    <a:pt x="282" y="47"/>
                  </a:lnTo>
                  <a:lnTo>
                    <a:pt x="167" y="4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</p:grpSp>
    </p:spTree>
    <p:extLst>
      <p:ext uri="{BB962C8B-B14F-4D97-AF65-F5344CB8AC3E}">
        <p14:creationId xmlns:p14="http://schemas.microsoft.com/office/powerpoint/2010/main" val="404114441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81614" y="1618335"/>
            <a:ext cx="5523886" cy="4382316"/>
          </a:xfrm>
        </p:spPr>
        <p:txBody>
          <a:bodyPr/>
          <a:lstStyle>
            <a:lvl1pPr>
              <a:defRPr sz="2645"/>
            </a:lvl1pPr>
            <a:lvl2pPr>
              <a:defRPr sz="2645"/>
            </a:lvl2pPr>
            <a:lvl3pPr>
              <a:defRPr sz="2645"/>
            </a:lvl3pPr>
            <a:lvl4pPr>
              <a:defRPr sz="2645"/>
            </a:lvl4pPr>
            <a:lvl5pPr>
              <a:defRPr sz="2645"/>
            </a:lvl5pPr>
            <a:lvl6pPr>
              <a:defRPr sz="2381"/>
            </a:lvl6pPr>
            <a:lvl7pPr>
              <a:defRPr sz="2381"/>
            </a:lvl7pPr>
            <a:lvl8pPr>
              <a:defRPr sz="2381"/>
            </a:lvl8pPr>
            <a:lvl9pPr>
              <a:defRPr sz="2381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86499" y="1619806"/>
            <a:ext cx="5523886" cy="4380845"/>
          </a:xfrm>
        </p:spPr>
        <p:txBody>
          <a:bodyPr/>
          <a:lstStyle>
            <a:lvl1pPr>
              <a:defRPr sz="2645"/>
            </a:lvl1pPr>
            <a:lvl2pPr>
              <a:defRPr sz="2645"/>
            </a:lvl2pPr>
            <a:lvl3pPr>
              <a:defRPr sz="2645"/>
            </a:lvl3pPr>
            <a:lvl4pPr>
              <a:defRPr sz="2645"/>
            </a:lvl4pPr>
            <a:lvl5pPr>
              <a:defRPr sz="2645"/>
            </a:lvl5pPr>
            <a:lvl6pPr>
              <a:defRPr sz="2381"/>
            </a:lvl6pPr>
            <a:lvl7pPr>
              <a:defRPr sz="2381"/>
            </a:lvl7pPr>
            <a:lvl8pPr>
              <a:defRPr sz="2381"/>
            </a:lvl8pPr>
            <a:lvl9pPr>
              <a:defRPr sz="2381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F23B7-A4E0-4A45-AADF-CD5A63F6F289}" type="datetime1">
              <a:rPr lang="de-DE" smtClean="0"/>
              <a:t>25.09.2023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Präsentationstitel/Autor/Veranstaltung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485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81614" y="1619382"/>
            <a:ext cx="5523886" cy="571415"/>
          </a:xfrm>
        </p:spPr>
        <p:txBody>
          <a:bodyPr wrap="none" anchor="ctr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3174" b="0" cap="all" baseline="0"/>
            </a:lvl1pPr>
            <a:lvl2pPr marL="604738" indent="0">
              <a:buNone/>
              <a:defRPr sz="2645" b="1"/>
            </a:lvl2pPr>
            <a:lvl3pPr marL="1209477" indent="0">
              <a:buNone/>
              <a:defRPr sz="2381" b="1"/>
            </a:lvl3pPr>
            <a:lvl4pPr marL="1814215" indent="0">
              <a:buNone/>
              <a:defRPr sz="2116" b="1"/>
            </a:lvl4pPr>
            <a:lvl5pPr marL="2418954" indent="0">
              <a:buNone/>
              <a:defRPr sz="2116" b="1"/>
            </a:lvl5pPr>
            <a:lvl6pPr marL="3023692" indent="0">
              <a:buNone/>
              <a:defRPr sz="2116" b="1"/>
            </a:lvl6pPr>
            <a:lvl7pPr marL="3628431" indent="0">
              <a:buNone/>
              <a:defRPr sz="2116" b="1"/>
            </a:lvl7pPr>
            <a:lvl8pPr marL="4233169" indent="0">
              <a:buNone/>
              <a:defRPr sz="2116" b="1"/>
            </a:lvl8pPr>
            <a:lvl9pPr marL="4837908" indent="0">
              <a:buNone/>
              <a:defRPr sz="2116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80672" y="2380665"/>
            <a:ext cx="5524827" cy="3619985"/>
          </a:xfrm>
        </p:spPr>
        <p:txBody>
          <a:bodyPr/>
          <a:lstStyle>
            <a:lvl1pPr>
              <a:defRPr sz="2645"/>
            </a:lvl1pPr>
            <a:lvl2pPr>
              <a:defRPr sz="2645"/>
            </a:lvl2pPr>
            <a:lvl3pPr>
              <a:defRPr sz="2645"/>
            </a:lvl3pPr>
            <a:lvl4pPr>
              <a:defRPr sz="2645"/>
            </a:lvl4pPr>
            <a:lvl5pPr>
              <a:defRPr sz="2645"/>
            </a:lvl5pPr>
            <a:lvl6pPr>
              <a:defRPr sz="2116"/>
            </a:lvl6pPr>
            <a:lvl7pPr>
              <a:defRPr sz="2116"/>
            </a:lvl7pPr>
            <a:lvl8pPr>
              <a:defRPr sz="2116"/>
            </a:lvl8pPr>
            <a:lvl9pPr>
              <a:defRPr sz="2116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286170" y="1619382"/>
            <a:ext cx="5524829" cy="571415"/>
          </a:xfrm>
        </p:spPr>
        <p:txBody>
          <a:bodyPr wrap="none" anchor="ctr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3174" b="0" cap="all" baseline="0"/>
            </a:lvl1pPr>
            <a:lvl2pPr marL="604738" indent="0">
              <a:buNone/>
              <a:defRPr sz="2645" b="1"/>
            </a:lvl2pPr>
            <a:lvl3pPr marL="1209477" indent="0">
              <a:buNone/>
              <a:defRPr sz="2381" b="1"/>
            </a:lvl3pPr>
            <a:lvl4pPr marL="1814215" indent="0">
              <a:buNone/>
              <a:defRPr sz="2116" b="1"/>
            </a:lvl4pPr>
            <a:lvl5pPr marL="2418954" indent="0">
              <a:buNone/>
              <a:defRPr sz="2116" b="1"/>
            </a:lvl5pPr>
            <a:lvl6pPr marL="3023692" indent="0">
              <a:buNone/>
              <a:defRPr sz="2116" b="1"/>
            </a:lvl6pPr>
            <a:lvl7pPr marL="3628431" indent="0">
              <a:buNone/>
              <a:defRPr sz="2116" b="1"/>
            </a:lvl7pPr>
            <a:lvl8pPr marL="4233169" indent="0">
              <a:buNone/>
              <a:defRPr sz="2116" b="1"/>
            </a:lvl8pPr>
            <a:lvl9pPr marL="4837908" indent="0">
              <a:buNone/>
              <a:defRPr sz="2116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287113" y="2381692"/>
            <a:ext cx="5523886" cy="3618959"/>
          </a:xfrm>
        </p:spPr>
        <p:txBody>
          <a:bodyPr/>
          <a:lstStyle>
            <a:lvl1pPr>
              <a:defRPr sz="2645"/>
            </a:lvl1pPr>
            <a:lvl2pPr>
              <a:defRPr sz="2645"/>
            </a:lvl2pPr>
            <a:lvl3pPr>
              <a:defRPr sz="2645"/>
            </a:lvl3pPr>
            <a:lvl4pPr>
              <a:defRPr sz="2645"/>
            </a:lvl4pPr>
            <a:lvl5pPr>
              <a:defRPr sz="2645"/>
            </a:lvl5pPr>
            <a:lvl6pPr>
              <a:defRPr sz="2116"/>
            </a:lvl6pPr>
            <a:lvl7pPr>
              <a:defRPr sz="2116"/>
            </a:lvl7pPr>
            <a:lvl8pPr>
              <a:defRPr sz="2116"/>
            </a:lvl8pPr>
            <a:lvl9pPr>
              <a:defRPr sz="2116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EA310-62CF-4C13-8E83-90FE2584EEDC}" type="datetime1">
              <a:rPr lang="de-DE" smtClean="0"/>
              <a:t>25.09.2023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Präsentationstitel/Autor/Veranstaltung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926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el, Text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381000" y="1618335"/>
            <a:ext cx="2476225" cy="438231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56"/>
              </a:spcAft>
              <a:buNone/>
              <a:defRPr sz="1852"/>
            </a:lvl1pPr>
            <a:lvl2pPr marL="285703" indent="0">
              <a:buFont typeface="Arial" panose="020B0604020202020204" pitchFamily="34" charset="0"/>
              <a:buNone/>
              <a:defRPr sz="1852"/>
            </a:lvl2pPr>
            <a:lvl3pPr marL="571406" indent="0">
              <a:buNone/>
              <a:defRPr sz="1852"/>
            </a:lvl3pPr>
            <a:lvl4pPr marL="857110" indent="0">
              <a:buNone/>
              <a:defRPr sz="1852"/>
            </a:lvl4pPr>
            <a:lvl5pPr marL="1142813" indent="0">
              <a:buNone/>
              <a:defRPr sz="1852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238500" y="1618335"/>
            <a:ext cx="8572499" cy="438231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 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0439F-E434-4863-9F94-40224B9CDFEB}" type="datetime1">
              <a:rPr lang="de-DE" smtClean="0"/>
              <a:t>25.09.2023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Präsentationstitel/Autor/Veranstaltung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8454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el und Text üb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381000" y="1619319"/>
            <a:ext cx="11428729" cy="1143316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556"/>
              </a:spcAft>
              <a:buNone/>
              <a:defRPr sz="1852"/>
            </a:lvl1pPr>
            <a:lvl2pPr marL="285703" indent="0">
              <a:buNone/>
              <a:defRPr sz="1852"/>
            </a:lvl2pPr>
            <a:lvl3pPr marL="571406" indent="0">
              <a:buNone/>
              <a:defRPr sz="1852"/>
            </a:lvl3pPr>
            <a:lvl4pPr marL="857110" indent="0">
              <a:buNone/>
              <a:defRPr sz="1852"/>
            </a:lvl4pPr>
            <a:lvl5pPr marL="1142813" indent="0">
              <a:buNone/>
              <a:defRPr sz="1852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82270" y="3142879"/>
            <a:ext cx="11428729" cy="2857771"/>
          </a:xfrm>
        </p:spPr>
        <p:txBody>
          <a:bodyPr/>
          <a:lstStyle>
            <a:lvl1pPr marL="0" indent="0">
              <a:buNone/>
              <a:defRPr/>
            </a:lvl1pPr>
            <a:lvl2pPr marL="285703" indent="0">
              <a:buNone/>
              <a:defRPr/>
            </a:lvl2pPr>
            <a:lvl3pPr marL="571406" indent="0">
              <a:buNone/>
              <a:defRPr/>
            </a:lvl3pPr>
            <a:lvl4pPr marL="857110" indent="0">
              <a:buNone/>
              <a:defRPr/>
            </a:lvl4pPr>
            <a:lvl5pPr marL="1142813" indent="0">
              <a:buNone/>
              <a:defRPr/>
            </a:lvl5pPr>
          </a:lstStyle>
          <a:p>
            <a:pPr lvl="0"/>
            <a:r>
              <a:rPr lang="de-DE" dirty="0"/>
              <a:t> 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826E6-14F6-4DCD-8A58-C4BA917EDB34}" type="datetime1">
              <a:rPr lang="de-DE" smtClean="0"/>
              <a:t>25.09.2023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Präsentationstitel/Autor/Veranstaltung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1200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el und Inhalt üb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381000" y="1619319"/>
            <a:ext cx="11428729" cy="2857073"/>
          </a:xfrm>
        </p:spPr>
        <p:txBody>
          <a:bodyPr/>
          <a:lstStyle>
            <a:lvl1pPr marL="0" indent="0">
              <a:buNone/>
              <a:defRPr sz="1852"/>
            </a:lvl1pPr>
            <a:lvl2pPr marL="285703" indent="0">
              <a:buNone/>
              <a:defRPr sz="1852"/>
            </a:lvl2pPr>
            <a:lvl3pPr marL="571406" indent="0">
              <a:buNone/>
              <a:defRPr sz="1852"/>
            </a:lvl3pPr>
            <a:lvl4pPr marL="857110" indent="0">
              <a:buNone/>
              <a:defRPr sz="1852"/>
            </a:lvl4pPr>
            <a:lvl5pPr marL="1142813" indent="0">
              <a:buNone/>
              <a:defRPr sz="1852"/>
            </a:lvl5pPr>
          </a:lstStyle>
          <a:p>
            <a:pPr lvl="0"/>
            <a:r>
              <a:rPr lang="de-DE" dirty="0"/>
              <a:t> 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81000" y="4857822"/>
            <a:ext cx="11428729" cy="1142829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556"/>
              </a:spcAft>
              <a:buNone/>
              <a:defRPr sz="1852"/>
            </a:lvl1pPr>
            <a:lvl2pPr marL="285703" indent="0">
              <a:buNone/>
              <a:defRPr sz="1852"/>
            </a:lvl2pPr>
            <a:lvl3pPr marL="571406" indent="0">
              <a:buNone/>
              <a:defRPr sz="1852"/>
            </a:lvl3pPr>
            <a:lvl4pPr marL="857110" indent="0">
              <a:buNone/>
              <a:defRPr sz="1852"/>
            </a:lvl4pPr>
            <a:lvl5pPr marL="1142813" indent="0">
              <a:buNone/>
              <a:defRPr sz="1852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110B-FC60-4FAB-ACE1-146858AC5C12}" type="datetime1">
              <a:rPr lang="de-DE" smtClean="0"/>
              <a:t>25.09.2023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Präsentationstitel/Autor/Veranstaltung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5705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el, zwei Inhalte üb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 hasCustomPrompt="1"/>
          </p:nvPr>
        </p:nvSpPr>
        <p:spPr>
          <a:xfrm>
            <a:off x="381000" y="1619636"/>
            <a:ext cx="5523886" cy="2857073"/>
          </a:xfrm>
        </p:spPr>
        <p:txBody>
          <a:bodyPr/>
          <a:lstStyle>
            <a:lvl1pPr marL="0" indent="0">
              <a:buNone/>
              <a:defRPr/>
            </a:lvl1pPr>
            <a:lvl2pPr marL="285703" indent="0">
              <a:buNone/>
              <a:defRPr/>
            </a:lvl2pPr>
            <a:lvl3pPr marL="571406" indent="0">
              <a:buNone/>
              <a:defRPr/>
            </a:lvl3pPr>
            <a:lvl4pPr marL="857110" indent="0">
              <a:buNone/>
              <a:defRPr/>
            </a:lvl4pPr>
            <a:lvl5pPr marL="1142813" indent="0">
              <a:buNone/>
              <a:defRPr/>
            </a:lvl5pPr>
          </a:lstStyle>
          <a:p>
            <a:pPr lvl="0"/>
            <a:r>
              <a:rPr lang="de-DE" dirty="0"/>
              <a:t> 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2" hasCustomPrompt="1"/>
          </p:nvPr>
        </p:nvSpPr>
        <p:spPr>
          <a:xfrm>
            <a:off x="6287113" y="1619636"/>
            <a:ext cx="5523886" cy="2857073"/>
          </a:xfrm>
        </p:spPr>
        <p:txBody>
          <a:bodyPr/>
          <a:lstStyle>
            <a:lvl1pPr marL="0" indent="0">
              <a:buNone/>
              <a:defRPr/>
            </a:lvl1pPr>
            <a:lvl2pPr marL="285703" indent="0">
              <a:buNone/>
              <a:defRPr/>
            </a:lvl2pPr>
            <a:lvl3pPr marL="571406" indent="0">
              <a:buNone/>
              <a:defRPr/>
            </a:lvl3pPr>
            <a:lvl4pPr marL="857110" indent="0">
              <a:buNone/>
              <a:defRPr/>
            </a:lvl4pPr>
            <a:lvl5pPr marL="1142813" indent="0">
              <a:buNone/>
              <a:defRPr/>
            </a:lvl5pPr>
          </a:lstStyle>
          <a:p>
            <a:pPr lvl="0"/>
            <a:r>
              <a:rPr lang="de-DE" dirty="0"/>
              <a:t> 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half" idx="3"/>
          </p:nvPr>
        </p:nvSpPr>
        <p:spPr>
          <a:xfrm>
            <a:off x="381000" y="4857822"/>
            <a:ext cx="11431837" cy="1142829"/>
          </a:xfrm>
        </p:spPr>
        <p:txBody>
          <a:bodyPr/>
          <a:lstStyle>
            <a:lvl1pPr marL="0" indent="0">
              <a:spcAft>
                <a:spcPts val="556"/>
              </a:spcAft>
              <a:buNone/>
              <a:defRPr sz="1852"/>
            </a:lvl1pPr>
            <a:lvl2pPr marL="285703" indent="0">
              <a:spcAft>
                <a:spcPts val="556"/>
              </a:spcAft>
              <a:buNone/>
              <a:defRPr sz="1852"/>
            </a:lvl2pPr>
            <a:lvl3pPr marL="571406" indent="0">
              <a:spcAft>
                <a:spcPts val="556"/>
              </a:spcAft>
              <a:buNone/>
              <a:defRPr sz="1852"/>
            </a:lvl3pPr>
            <a:lvl4pPr marL="857110" indent="0">
              <a:spcAft>
                <a:spcPts val="556"/>
              </a:spcAft>
              <a:buNone/>
              <a:defRPr sz="1852"/>
            </a:lvl4pPr>
            <a:lvl5pPr marL="1142813" indent="0">
              <a:spcAft>
                <a:spcPts val="556"/>
              </a:spcAft>
              <a:buNone/>
              <a:defRPr sz="1852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09F38-DEF5-4898-9CDF-BDB6157DFE11}" type="datetime1">
              <a:rPr lang="de-DE" smtClean="0"/>
              <a:t>25.09.2023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Präsentationstitel/Autor/Veranstaltung</a:t>
            </a: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6317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el, Text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380084" y="1618960"/>
            <a:ext cx="5524827" cy="4382316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2" hasCustomPrompt="1"/>
          </p:nvPr>
        </p:nvSpPr>
        <p:spPr>
          <a:xfrm>
            <a:off x="6287091" y="1618960"/>
            <a:ext cx="5524829" cy="2001124"/>
          </a:xfrm>
        </p:spPr>
        <p:txBody>
          <a:bodyPr/>
          <a:lstStyle>
            <a:lvl1pPr marL="0" indent="0">
              <a:buNone/>
              <a:defRPr/>
            </a:lvl1pPr>
            <a:lvl2pPr marL="285703" indent="0">
              <a:buNone/>
              <a:defRPr/>
            </a:lvl2pPr>
            <a:lvl3pPr marL="571406" indent="0">
              <a:buNone/>
              <a:defRPr/>
            </a:lvl3pPr>
            <a:lvl4pPr marL="857110" indent="0">
              <a:buNone/>
              <a:defRPr/>
            </a:lvl4pPr>
            <a:lvl5pPr marL="1142813" indent="0">
              <a:buNone/>
              <a:defRPr/>
            </a:lvl5pPr>
          </a:lstStyle>
          <a:p>
            <a:pPr lvl="0"/>
            <a:r>
              <a:rPr lang="de-DE" dirty="0"/>
              <a:t> 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3" hasCustomPrompt="1"/>
          </p:nvPr>
        </p:nvSpPr>
        <p:spPr>
          <a:xfrm>
            <a:off x="6287091" y="4000151"/>
            <a:ext cx="5524829" cy="2001124"/>
          </a:xfrm>
        </p:spPr>
        <p:txBody>
          <a:bodyPr/>
          <a:lstStyle>
            <a:lvl1pPr marL="0" indent="0">
              <a:buNone/>
              <a:defRPr/>
            </a:lvl1pPr>
            <a:lvl2pPr marL="285703" indent="0">
              <a:buNone/>
              <a:defRPr/>
            </a:lvl2pPr>
            <a:lvl3pPr marL="571406" indent="0">
              <a:buNone/>
              <a:defRPr/>
            </a:lvl3pPr>
            <a:lvl4pPr marL="857110" indent="0">
              <a:buNone/>
              <a:defRPr/>
            </a:lvl4pPr>
            <a:lvl5pPr marL="1142813" indent="0">
              <a:buNone/>
              <a:defRPr/>
            </a:lvl5pPr>
          </a:lstStyle>
          <a:p>
            <a:pPr lvl="0"/>
            <a:r>
              <a:rPr lang="de-DE" dirty="0"/>
              <a:t> 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6026F-1588-4FB1-8845-F95DAFF0F3E9}" type="datetime1">
              <a:rPr lang="de-DE" smtClean="0"/>
              <a:t>25.09.2023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Präsentationstitel/Autor/Veranstaltung</a:t>
            </a: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1572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el und 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380082" y="1618960"/>
            <a:ext cx="5524827" cy="2001124"/>
          </a:xfrm>
        </p:spPr>
        <p:txBody>
          <a:bodyPr/>
          <a:lstStyle>
            <a:lvl1pPr marL="190469" indent="-190469">
              <a:spcBef>
                <a:spcPts val="0"/>
              </a:spcBef>
              <a:spcAft>
                <a:spcPts val="556"/>
              </a:spcAft>
              <a:defRPr sz="1852"/>
            </a:lvl1pPr>
            <a:lvl2pPr marL="380938" indent="-190469">
              <a:spcBef>
                <a:spcPts val="0"/>
              </a:spcBef>
              <a:spcAft>
                <a:spcPts val="556"/>
              </a:spcAft>
              <a:defRPr sz="1852"/>
            </a:lvl2pPr>
            <a:lvl3pPr marL="571406" indent="-190469">
              <a:spcBef>
                <a:spcPts val="0"/>
              </a:spcBef>
              <a:spcAft>
                <a:spcPts val="556"/>
              </a:spcAft>
              <a:defRPr sz="1852"/>
            </a:lvl3pPr>
            <a:lvl4pPr marL="761875" indent="-190469">
              <a:spcBef>
                <a:spcPts val="0"/>
              </a:spcBef>
              <a:spcAft>
                <a:spcPts val="556"/>
              </a:spcAft>
              <a:defRPr sz="1852"/>
            </a:lvl4pPr>
            <a:lvl5pPr marL="952344" indent="-190469">
              <a:spcAft>
                <a:spcPts val="556"/>
              </a:spcAft>
              <a:defRPr sz="1852"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2"/>
          </p:nvPr>
        </p:nvSpPr>
        <p:spPr>
          <a:xfrm>
            <a:off x="6287091" y="1618960"/>
            <a:ext cx="5524829" cy="2001124"/>
          </a:xfrm>
        </p:spPr>
        <p:txBody>
          <a:bodyPr/>
          <a:lstStyle>
            <a:lvl1pPr marL="190469" indent="-190469">
              <a:spcBef>
                <a:spcPts val="0"/>
              </a:spcBef>
              <a:spcAft>
                <a:spcPts val="556"/>
              </a:spcAft>
              <a:defRPr sz="1852"/>
            </a:lvl1pPr>
            <a:lvl2pPr marL="380938" indent="-190469">
              <a:spcBef>
                <a:spcPts val="0"/>
              </a:spcBef>
              <a:spcAft>
                <a:spcPts val="556"/>
              </a:spcAft>
              <a:defRPr sz="1852"/>
            </a:lvl2pPr>
            <a:lvl3pPr marL="571406" indent="-190469">
              <a:spcBef>
                <a:spcPts val="0"/>
              </a:spcBef>
              <a:spcAft>
                <a:spcPts val="556"/>
              </a:spcAft>
              <a:defRPr sz="1852"/>
            </a:lvl3pPr>
            <a:lvl4pPr marL="761875" indent="-190469">
              <a:spcBef>
                <a:spcPts val="0"/>
              </a:spcBef>
              <a:spcAft>
                <a:spcPts val="556"/>
              </a:spcAft>
              <a:defRPr sz="1852"/>
            </a:lvl4pPr>
            <a:lvl5pPr marL="952344" indent="-190469">
              <a:spcAft>
                <a:spcPts val="556"/>
              </a:spcAft>
              <a:defRPr sz="1852"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3"/>
          </p:nvPr>
        </p:nvSpPr>
        <p:spPr>
          <a:xfrm>
            <a:off x="394977" y="4000151"/>
            <a:ext cx="5509932" cy="2001124"/>
          </a:xfrm>
        </p:spPr>
        <p:txBody>
          <a:bodyPr/>
          <a:lstStyle>
            <a:lvl1pPr marL="190469" indent="-190469">
              <a:spcBef>
                <a:spcPts val="0"/>
              </a:spcBef>
              <a:spcAft>
                <a:spcPts val="556"/>
              </a:spcAft>
              <a:defRPr sz="1852"/>
            </a:lvl1pPr>
            <a:lvl2pPr marL="380938" indent="-190469">
              <a:spcBef>
                <a:spcPts val="0"/>
              </a:spcBef>
              <a:spcAft>
                <a:spcPts val="556"/>
              </a:spcAft>
              <a:defRPr sz="1852"/>
            </a:lvl2pPr>
            <a:lvl3pPr marL="571406" indent="-190469">
              <a:spcBef>
                <a:spcPts val="0"/>
              </a:spcBef>
              <a:spcAft>
                <a:spcPts val="556"/>
              </a:spcAft>
              <a:defRPr sz="1852"/>
            </a:lvl3pPr>
            <a:lvl4pPr marL="761875" indent="-190469">
              <a:spcBef>
                <a:spcPts val="0"/>
              </a:spcBef>
              <a:spcAft>
                <a:spcPts val="556"/>
              </a:spcAft>
              <a:defRPr sz="1852"/>
            </a:lvl4pPr>
            <a:lvl5pPr marL="952344" indent="-190469">
              <a:spcAft>
                <a:spcPts val="556"/>
              </a:spcAft>
              <a:defRPr sz="1852"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287091" y="4000151"/>
            <a:ext cx="5524829" cy="2001124"/>
          </a:xfrm>
        </p:spPr>
        <p:txBody>
          <a:bodyPr/>
          <a:lstStyle>
            <a:lvl1pPr marL="190469" indent="-190469">
              <a:spcBef>
                <a:spcPts val="0"/>
              </a:spcBef>
              <a:spcAft>
                <a:spcPts val="556"/>
              </a:spcAft>
              <a:defRPr sz="1852"/>
            </a:lvl1pPr>
            <a:lvl2pPr marL="380938" indent="-190469">
              <a:spcBef>
                <a:spcPts val="0"/>
              </a:spcBef>
              <a:spcAft>
                <a:spcPts val="556"/>
              </a:spcAft>
              <a:defRPr sz="1852"/>
            </a:lvl2pPr>
            <a:lvl3pPr marL="571406" indent="-190469">
              <a:spcBef>
                <a:spcPts val="0"/>
              </a:spcBef>
              <a:spcAft>
                <a:spcPts val="556"/>
              </a:spcAft>
              <a:defRPr sz="1852"/>
            </a:lvl3pPr>
            <a:lvl4pPr marL="761875" indent="-190469">
              <a:spcBef>
                <a:spcPts val="0"/>
              </a:spcBef>
              <a:spcAft>
                <a:spcPts val="556"/>
              </a:spcAft>
              <a:defRPr sz="1852"/>
            </a:lvl4pPr>
            <a:lvl5pPr marL="952344" indent="-190469">
              <a:spcAft>
                <a:spcPts val="556"/>
              </a:spcAft>
              <a:defRPr sz="1852"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37377-EED6-47C3-9B1D-CF36F0FCD8B4}" type="datetime1">
              <a:rPr lang="de-DE" smtClean="0"/>
              <a:t>25.09.2023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Präsentationstitel/Autor/Veranstaltung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7812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9452" y="382166"/>
            <a:ext cx="8571547" cy="856511"/>
          </a:xfrm>
        </p:spPr>
        <p:txBody>
          <a:bodyPr anchor="b"/>
          <a:lstStyle>
            <a:lvl1pPr algn="l">
              <a:defRPr sz="3174" b="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82270" y="1618959"/>
            <a:ext cx="11428729" cy="3904666"/>
          </a:xfrm>
          <a:pattFill prst="ltUpDiag">
            <a:fgClr>
              <a:schemeClr val="accent1"/>
            </a:fgClr>
            <a:bgClr>
              <a:schemeClr val="bg1"/>
            </a:bgClr>
          </a:pattFill>
        </p:spPr>
        <p:txBody>
          <a:bodyPr lIns="144000" tIns="144000"/>
          <a:lstStyle>
            <a:lvl1pPr marL="0" indent="0">
              <a:buNone/>
              <a:defRPr sz="1852"/>
            </a:lvl1pPr>
            <a:lvl2pPr marL="604738" indent="0">
              <a:buNone/>
              <a:defRPr sz="3704"/>
            </a:lvl2pPr>
            <a:lvl3pPr marL="1209477" indent="0">
              <a:buNone/>
              <a:defRPr sz="3174"/>
            </a:lvl3pPr>
            <a:lvl4pPr marL="1814215" indent="0">
              <a:buNone/>
              <a:defRPr sz="2645"/>
            </a:lvl4pPr>
            <a:lvl5pPr marL="2418954" indent="0">
              <a:buNone/>
              <a:defRPr sz="2645"/>
            </a:lvl5pPr>
            <a:lvl6pPr marL="3023692" indent="0">
              <a:buNone/>
              <a:defRPr sz="2645"/>
            </a:lvl6pPr>
            <a:lvl7pPr marL="3628431" indent="0">
              <a:buNone/>
              <a:defRPr sz="2645"/>
            </a:lvl7pPr>
            <a:lvl8pPr marL="4233169" indent="0">
              <a:buNone/>
              <a:defRPr sz="2645"/>
            </a:lvl8pPr>
            <a:lvl9pPr marL="4837908" indent="0">
              <a:buNone/>
              <a:defRPr sz="2645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80081" y="5524472"/>
            <a:ext cx="11428729" cy="476179"/>
          </a:xfrm>
        </p:spPr>
        <p:txBody>
          <a:bodyPr anchor="ctr" anchorCtr="0"/>
          <a:lstStyle>
            <a:lvl1pPr marL="0" indent="0">
              <a:buNone/>
              <a:defRPr sz="1852"/>
            </a:lvl1pPr>
            <a:lvl2pPr marL="604738" indent="0">
              <a:buNone/>
              <a:defRPr sz="1587"/>
            </a:lvl2pPr>
            <a:lvl3pPr marL="1209477" indent="0">
              <a:buNone/>
              <a:defRPr sz="1323"/>
            </a:lvl3pPr>
            <a:lvl4pPr marL="1814215" indent="0">
              <a:buNone/>
              <a:defRPr sz="1190"/>
            </a:lvl4pPr>
            <a:lvl5pPr marL="2418954" indent="0">
              <a:buNone/>
              <a:defRPr sz="1190"/>
            </a:lvl5pPr>
            <a:lvl6pPr marL="3023692" indent="0">
              <a:buNone/>
              <a:defRPr sz="1190"/>
            </a:lvl6pPr>
            <a:lvl7pPr marL="3628431" indent="0">
              <a:buNone/>
              <a:defRPr sz="1190"/>
            </a:lvl7pPr>
            <a:lvl8pPr marL="4233169" indent="0">
              <a:buNone/>
              <a:defRPr sz="1190"/>
            </a:lvl8pPr>
            <a:lvl9pPr marL="4837908" indent="0">
              <a:buNone/>
              <a:defRPr sz="119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1E8E8-8A29-4D85-A2C3-6995032989B7}" type="datetime1">
              <a:rPr lang="de-DE" smtClean="0"/>
              <a:t>25.09.2023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Präsentationstitel/Autor/Veranstaltung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1100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9452" y="382166"/>
            <a:ext cx="8571547" cy="857122"/>
          </a:xfrm>
        </p:spPr>
        <p:txBody>
          <a:bodyPr anchor="b"/>
          <a:lstStyle>
            <a:lvl1pPr algn="l">
              <a:defRPr sz="3174" b="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81868" y="1618958"/>
            <a:ext cx="7809631" cy="4380845"/>
          </a:xfrm>
          <a:pattFill prst="ltUpDiag">
            <a:fgClr>
              <a:schemeClr val="accent1"/>
            </a:fgClr>
            <a:bgClr>
              <a:schemeClr val="bg1"/>
            </a:bgClr>
          </a:pattFill>
        </p:spPr>
        <p:txBody>
          <a:bodyPr lIns="144000" tIns="144000"/>
          <a:lstStyle>
            <a:lvl1pPr marL="0" indent="0">
              <a:buNone/>
              <a:defRPr sz="1852"/>
            </a:lvl1pPr>
            <a:lvl2pPr marL="604738" indent="0">
              <a:buNone/>
              <a:defRPr sz="3704"/>
            </a:lvl2pPr>
            <a:lvl3pPr marL="1209477" indent="0">
              <a:buNone/>
              <a:defRPr sz="3174"/>
            </a:lvl3pPr>
            <a:lvl4pPr marL="1814215" indent="0">
              <a:buNone/>
              <a:defRPr sz="2645"/>
            </a:lvl4pPr>
            <a:lvl5pPr marL="2418954" indent="0">
              <a:buNone/>
              <a:defRPr sz="2645"/>
            </a:lvl5pPr>
            <a:lvl6pPr marL="3023692" indent="0">
              <a:buNone/>
              <a:defRPr sz="2645"/>
            </a:lvl6pPr>
            <a:lvl7pPr marL="3628431" indent="0">
              <a:buNone/>
              <a:defRPr sz="2645"/>
            </a:lvl7pPr>
            <a:lvl8pPr marL="4233169" indent="0">
              <a:buNone/>
              <a:defRPr sz="2645"/>
            </a:lvl8pPr>
            <a:lvl9pPr marL="4837908" indent="0">
              <a:buNone/>
              <a:defRPr sz="2645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572499" y="1618958"/>
            <a:ext cx="3239420" cy="4380845"/>
          </a:xfrm>
        </p:spPr>
        <p:txBody>
          <a:bodyPr/>
          <a:lstStyle>
            <a:lvl1pPr marL="0" indent="0">
              <a:buNone/>
              <a:defRPr sz="1852"/>
            </a:lvl1pPr>
            <a:lvl2pPr marL="604738" indent="0">
              <a:buNone/>
              <a:defRPr sz="1587"/>
            </a:lvl2pPr>
            <a:lvl3pPr marL="1209477" indent="0">
              <a:buNone/>
              <a:defRPr sz="1323"/>
            </a:lvl3pPr>
            <a:lvl4pPr marL="1814215" indent="0">
              <a:buNone/>
              <a:defRPr sz="1190"/>
            </a:lvl4pPr>
            <a:lvl5pPr marL="2418954" indent="0">
              <a:buNone/>
              <a:defRPr sz="1190"/>
            </a:lvl5pPr>
            <a:lvl6pPr marL="3023692" indent="0">
              <a:buNone/>
              <a:defRPr sz="1190"/>
            </a:lvl6pPr>
            <a:lvl7pPr marL="3628431" indent="0">
              <a:buNone/>
              <a:defRPr sz="1190"/>
            </a:lvl7pPr>
            <a:lvl8pPr marL="4233169" indent="0">
              <a:buNone/>
              <a:defRPr sz="1190"/>
            </a:lvl8pPr>
            <a:lvl9pPr marL="4837908" indent="0">
              <a:buNone/>
              <a:defRPr sz="119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6A51E-5224-4001-A6A1-6147DB41844D}" type="datetime1">
              <a:rPr lang="de-DE" smtClean="0"/>
              <a:t>25.09.2023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Präsentationstitel/Autor/Veranstaltung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29042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 mit 2-spaltigem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9452" y="382166"/>
            <a:ext cx="8571547" cy="857122"/>
          </a:xfrm>
        </p:spPr>
        <p:txBody>
          <a:bodyPr anchor="b" anchorCtr="0"/>
          <a:lstStyle>
            <a:lvl1pPr algn="l">
              <a:defRPr lang="de-DE" dirty="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81868" y="1618957"/>
            <a:ext cx="2476092" cy="2001126"/>
          </a:xfrm>
          <a:pattFill prst="ltUpDiag">
            <a:fgClr>
              <a:schemeClr val="accent1"/>
            </a:fgClr>
            <a:bgClr>
              <a:schemeClr val="bg1"/>
            </a:bgClr>
          </a:pattFill>
        </p:spPr>
        <p:txBody>
          <a:bodyPr lIns="144000" tIns="144000"/>
          <a:lstStyle>
            <a:lvl1pPr marL="0" indent="0">
              <a:buNone/>
              <a:defRPr sz="1852"/>
            </a:lvl1pPr>
            <a:lvl2pPr marL="604738" indent="0">
              <a:buNone/>
              <a:defRPr sz="3704"/>
            </a:lvl2pPr>
            <a:lvl3pPr marL="1209477" indent="0">
              <a:buNone/>
              <a:defRPr sz="3174"/>
            </a:lvl3pPr>
            <a:lvl4pPr marL="1814215" indent="0">
              <a:buNone/>
              <a:defRPr sz="2645"/>
            </a:lvl4pPr>
            <a:lvl5pPr marL="2418954" indent="0">
              <a:buNone/>
              <a:defRPr sz="2645"/>
            </a:lvl5pPr>
            <a:lvl6pPr marL="3023692" indent="0">
              <a:buNone/>
              <a:defRPr sz="2645"/>
            </a:lvl6pPr>
            <a:lvl7pPr marL="3628431" indent="0">
              <a:buNone/>
              <a:defRPr sz="2645"/>
            </a:lvl7pPr>
            <a:lvl8pPr marL="4233169" indent="0">
              <a:buNone/>
              <a:defRPr sz="2645"/>
            </a:lvl8pPr>
            <a:lvl9pPr marL="4837908" indent="0">
              <a:buNone/>
              <a:defRPr sz="2645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238500" y="1618958"/>
            <a:ext cx="8573420" cy="4380845"/>
          </a:xfrm>
        </p:spPr>
        <p:txBody>
          <a:bodyPr numCol="2" spcCol="216000"/>
          <a:lstStyle>
            <a:lvl1pPr marL="0" indent="0">
              <a:buNone/>
              <a:defRPr sz="1852"/>
            </a:lvl1pPr>
            <a:lvl2pPr marL="604738" indent="0">
              <a:buNone/>
              <a:defRPr sz="1587"/>
            </a:lvl2pPr>
            <a:lvl3pPr marL="1209477" indent="0">
              <a:buNone/>
              <a:defRPr sz="1323"/>
            </a:lvl3pPr>
            <a:lvl4pPr marL="1814215" indent="0">
              <a:buNone/>
              <a:defRPr sz="1190"/>
            </a:lvl4pPr>
            <a:lvl5pPr marL="2418954" indent="0">
              <a:buNone/>
              <a:defRPr sz="1190"/>
            </a:lvl5pPr>
            <a:lvl6pPr marL="3023692" indent="0">
              <a:buNone/>
              <a:defRPr sz="1190"/>
            </a:lvl6pPr>
            <a:lvl7pPr marL="3628431" indent="0">
              <a:buNone/>
              <a:defRPr sz="1190"/>
            </a:lvl7pPr>
            <a:lvl8pPr marL="4233169" indent="0">
              <a:buNone/>
              <a:defRPr sz="1190"/>
            </a:lvl8pPr>
            <a:lvl9pPr marL="4837908" indent="0">
              <a:buNone/>
              <a:defRPr sz="119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59EA-2A08-45BF-9248-C0AD7AEF30D3}" type="datetime1">
              <a:rPr lang="de-DE" smtClean="0"/>
              <a:t>25.09.2023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Präsentationstitel/Autor/Veranstaltung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3"/>
          </p:nvPr>
        </p:nvSpPr>
        <p:spPr>
          <a:xfrm>
            <a:off x="380082" y="4000151"/>
            <a:ext cx="2477878" cy="2001124"/>
          </a:xfrm>
          <a:pattFill prst="ltUpDiag">
            <a:fgClr>
              <a:schemeClr val="accent1"/>
            </a:fgClr>
            <a:bgClr>
              <a:schemeClr val="bg1"/>
            </a:bgClr>
          </a:pattFill>
        </p:spPr>
        <p:txBody>
          <a:bodyPr lIns="144000" tIns="144000"/>
          <a:lstStyle>
            <a:lvl1pPr marL="0" indent="0">
              <a:buNone/>
              <a:defRPr sz="1852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43456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6472-5AB0-4742-9C4D-F8F2B67B83AE}" type="datetime1">
              <a:rPr lang="de-DE" smtClean="0"/>
              <a:t>25.09.2023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Präsentationstitel/Autor/Veranstaltung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82324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F520C-6F56-480F-8597-220998799912}" type="datetime1">
              <a:rPr lang="de-DE" smtClean="0"/>
              <a:t>25.09.2023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Präsentationstitel/Autor/Veranstaltung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1466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-1" y="1238893"/>
            <a:ext cx="12192000" cy="5619108"/>
          </a:xfrm>
          <a:noFill/>
        </p:spPr>
        <p:txBody>
          <a:bodyPr lIns="1296000" tIns="720000" rIns="1440000"/>
          <a:lstStyle>
            <a:lvl1pPr marL="0" indent="0">
              <a:lnSpc>
                <a:spcPts val="4233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10341" algn="l"/>
              </a:tabLst>
              <a:defRPr sz="3704" baseline="0"/>
            </a:lvl1pPr>
          </a:lstStyle>
          <a:p>
            <a:pPr lvl="0"/>
            <a:r>
              <a:rPr lang="de-DE" dirty="0"/>
              <a:t>Durch Klicken individuelle Dankesformel hinzufügen</a:t>
            </a:r>
          </a:p>
        </p:txBody>
      </p:sp>
      <p:sp>
        <p:nvSpPr>
          <p:cNvPr id="9" name="Textplatzhalter 8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714500" y="4382317"/>
            <a:ext cx="5524827" cy="1618958"/>
          </a:xfrm>
        </p:spPr>
        <p:txBody>
          <a:bodyPr/>
          <a:lstStyle>
            <a:lvl1pPr marL="0" indent="0">
              <a:buNone/>
              <a:defRPr sz="1852" baseline="0"/>
            </a:lvl1pPr>
          </a:lstStyle>
          <a:p>
            <a:pPr lvl="0"/>
            <a:r>
              <a:rPr lang="de-DE" dirty="0"/>
              <a:t>Durch Klicken Autor/Adresse/Kontaktdaten hinzufügen</a:t>
            </a:r>
          </a:p>
        </p:txBody>
      </p:sp>
      <p:grpSp>
        <p:nvGrpSpPr>
          <p:cNvPr id="31" name="Gruppieren 30"/>
          <p:cNvGrpSpPr>
            <a:grpSpLocks noChangeAspect="1"/>
          </p:cNvGrpSpPr>
          <p:nvPr userDrawn="1"/>
        </p:nvGrpSpPr>
        <p:grpSpPr>
          <a:xfrm>
            <a:off x="381001" y="381211"/>
            <a:ext cx="2230875" cy="857122"/>
            <a:chOff x="7081838" y="144463"/>
            <a:chExt cx="1871662" cy="719137"/>
          </a:xfrm>
        </p:grpSpPr>
        <p:sp>
          <p:nvSpPr>
            <p:cNvPr id="52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7081838" y="144463"/>
              <a:ext cx="1871662" cy="719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53" name="Freeform 5"/>
            <p:cNvSpPr>
              <a:spLocks/>
            </p:cNvSpPr>
            <p:nvPr userDrawn="1"/>
          </p:nvSpPr>
          <p:spPr bwMode="auto">
            <a:xfrm>
              <a:off x="8216900" y="144463"/>
              <a:ext cx="455612" cy="392112"/>
            </a:xfrm>
            <a:custGeom>
              <a:avLst/>
              <a:gdLst>
                <a:gd name="T0" fmla="*/ 944 w 1277"/>
                <a:gd name="T1" fmla="*/ 552 h 1104"/>
                <a:gd name="T2" fmla="*/ 1277 w 1277"/>
                <a:gd name="T3" fmla="*/ 0 h 1104"/>
                <a:gd name="T4" fmla="*/ 0 w 1277"/>
                <a:gd name="T5" fmla="*/ 0 h 1104"/>
                <a:gd name="T6" fmla="*/ 0 w 1277"/>
                <a:gd name="T7" fmla="*/ 1104 h 1104"/>
                <a:gd name="T8" fmla="*/ 944 w 1277"/>
                <a:gd name="T9" fmla="*/ 552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7" h="1104">
                  <a:moveTo>
                    <a:pt x="944" y="552"/>
                  </a:moveTo>
                  <a:cubicBezTo>
                    <a:pt x="1110" y="357"/>
                    <a:pt x="1203" y="197"/>
                    <a:pt x="1277" y="0"/>
                  </a:cubicBezTo>
                  <a:lnTo>
                    <a:pt x="0" y="0"/>
                  </a:lnTo>
                  <a:lnTo>
                    <a:pt x="0" y="1104"/>
                  </a:lnTo>
                  <a:cubicBezTo>
                    <a:pt x="253" y="1070"/>
                    <a:pt x="607" y="949"/>
                    <a:pt x="944" y="552"/>
                  </a:cubicBezTo>
                  <a:close/>
                </a:path>
              </a:pathLst>
            </a:custGeom>
            <a:solidFill>
              <a:srgbClr val="07529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54" name="Rectangle 6"/>
            <p:cNvSpPr>
              <a:spLocks noChangeArrowheads="1"/>
            </p:cNvSpPr>
            <p:nvPr userDrawn="1"/>
          </p:nvSpPr>
          <p:spPr bwMode="auto">
            <a:xfrm>
              <a:off x="8216900" y="654050"/>
              <a:ext cx="714375" cy="200025"/>
            </a:xfrm>
            <a:prstGeom prst="rect">
              <a:avLst/>
            </a:prstGeom>
            <a:solidFill>
              <a:srgbClr val="EAB90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55" name="Freeform 7"/>
            <p:cNvSpPr>
              <a:spLocks/>
            </p:cNvSpPr>
            <p:nvPr userDrawn="1"/>
          </p:nvSpPr>
          <p:spPr bwMode="auto">
            <a:xfrm>
              <a:off x="8216900" y="144463"/>
              <a:ext cx="714375" cy="477837"/>
            </a:xfrm>
            <a:custGeom>
              <a:avLst/>
              <a:gdLst>
                <a:gd name="T0" fmla="*/ 2000 w 2000"/>
                <a:gd name="T1" fmla="*/ 0 h 1349"/>
                <a:gd name="T2" fmla="*/ 1361 w 2000"/>
                <a:gd name="T3" fmla="*/ 0 h 1349"/>
                <a:gd name="T4" fmla="*/ 992 w 2000"/>
                <a:gd name="T5" fmla="*/ 627 h 1349"/>
                <a:gd name="T6" fmla="*/ 0 w 2000"/>
                <a:gd name="T7" fmla="*/ 1193 h 1349"/>
                <a:gd name="T8" fmla="*/ 0 w 2000"/>
                <a:gd name="T9" fmla="*/ 1349 h 1349"/>
                <a:gd name="T10" fmla="*/ 2000 w 2000"/>
                <a:gd name="T11" fmla="*/ 1349 h 1349"/>
                <a:gd name="T12" fmla="*/ 2000 w 2000"/>
                <a:gd name="T13" fmla="*/ 0 h 1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00" h="1349">
                  <a:moveTo>
                    <a:pt x="2000" y="0"/>
                  </a:moveTo>
                  <a:lnTo>
                    <a:pt x="1361" y="0"/>
                  </a:lnTo>
                  <a:cubicBezTo>
                    <a:pt x="1285" y="208"/>
                    <a:pt x="1168" y="419"/>
                    <a:pt x="992" y="627"/>
                  </a:cubicBezTo>
                  <a:cubicBezTo>
                    <a:pt x="644" y="1036"/>
                    <a:pt x="259" y="1159"/>
                    <a:pt x="0" y="1193"/>
                  </a:cubicBezTo>
                  <a:lnTo>
                    <a:pt x="0" y="1349"/>
                  </a:lnTo>
                  <a:lnTo>
                    <a:pt x="2000" y="1349"/>
                  </a:lnTo>
                  <a:lnTo>
                    <a:pt x="2000" y="0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56" name="Freeform 8"/>
            <p:cNvSpPr>
              <a:spLocks noEditPoints="1"/>
            </p:cNvSpPr>
            <p:nvPr userDrawn="1"/>
          </p:nvSpPr>
          <p:spPr bwMode="auto">
            <a:xfrm>
              <a:off x="8250238" y="690563"/>
              <a:ext cx="95250" cy="131762"/>
            </a:xfrm>
            <a:custGeom>
              <a:avLst/>
              <a:gdLst>
                <a:gd name="T0" fmla="*/ 134 w 264"/>
                <a:gd name="T1" fmla="*/ 318 h 371"/>
                <a:gd name="T2" fmla="*/ 198 w 264"/>
                <a:gd name="T3" fmla="*/ 265 h 371"/>
                <a:gd name="T4" fmla="*/ 132 w 264"/>
                <a:gd name="T5" fmla="*/ 203 h 371"/>
                <a:gd name="T6" fmla="*/ 65 w 264"/>
                <a:gd name="T7" fmla="*/ 203 h 371"/>
                <a:gd name="T8" fmla="*/ 65 w 264"/>
                <a:gd name="T9" fmla="*/ 318 h 371"/>
                <a:gd name="T10" fmla="*/ 134 w 264"/>
                <a:gd name="T11" fmla="*/ 318 h 371"/>
                <a:gd name="T12" fmla="*/ 65 w 264"/>
                <a:gd name="T13" fmla="*/ 53 h 371"/>
                <a:gd name="T14" fmla="*/ 65 w 264"/>
                <a:gd name="T15" fmla="*/ 155 h 371"/>
                <a:gd name="T16" fmla="*/ 131 w 264"/>
                <a:gd name="T17" fmla="*/ 155 h 371"/>
                <a:gd name="T18" fmla="*/ 190 w 264"/>
                <a:gd name="T19" fmla="*/ 103 h 371"/>
                <a:gd name="T20" fmla="*/ 126 w 264"/>
                <a:gd name="T21" fmla="*/ 53 h 371"/>
                <a:gd name="T22" fmla="*/ 65 w 264"/>
                <a:gd name="T23" fmla="*/ 53 h 371"/>
                <a:gd name="T24" fmla="*/ 191 w 264"/>
                <a:gd name="T25" fmla="*/ 180 h 371"/>
                <a:gd name="T26" fmla="*/ 264 w 264"/>
                <a:gd name="T27" fmla="*/ 277 h 371"/>
                <a:gd name="T28" fmla="*/ 145 w 264"/>
                <a:gd name="T29" fmla="*/ 371 h 371"/>
                <a:gd name="T30" fmla="*/ 0 w 264"/>
                <a:gd name="T31" fmla="*/ 367 h 371"/>
                <a:gd name="T32" fmla="*/ 0 w 264"/>
                <a:gd name="T33" fmla="*/ 4 h 371"/>
                <a:gd name="T34" fmla="*/ 129 w 264"/>
                <a:gd name="T35" fmla="*/ 0 h 371"/>
                <a:gd name="T36" fmla="*/ 253 w 264"/>
                <a:gd name="T37" fmla="*/ 95 h 371"/>
                <a:gd name="T38" fmla="*/ 191 w 264"/>
                <a:gd name="T39" fmla="*/ 178 h 371"/>
                <a:gd name="T40" fmla="*/ 191 w 264"/>
                <a:gd name="T41" fmla="*/ 18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64" h="371">
                  <a:moveTo>
                    <a:pt x="134" y="318"/>
                  </a:moveTo>
                  <a:cubicBezTo>
                    <a:pt x="183" y="318"/>
                    <a:pt x="198" y="308"/>
                    <a:pt x="198" y="265"/>
                  </a:cubicBezTo>
                  <a:cubicBezTo>
                    <a:pt x="198" y="216"/>
                    <a:pt x="182" y="204"/>
                    <a:pt x="132" y="203"/>
                  </a:cubicBezTo>
                  <a:lnTo>
                    <a:pt x="65" y="203"/>
                  </a:lnTo>
                  <a:lnTo>
                    <a:pt x="65" y="318"/>
                  </a:lnTo>
                  <a:lnTo>
                    <a:pt x="134" y="318"/>
                  </a:lnTo>
                  <a:close/>
                  <a:moveTo>
                    <a:pt x="65" y="53"/>
                  </a:moveTo>
                  <a:lnTo>
                    <a:pt x="65" y="155"/>
                  </a:lnTo>
                  <a:lnTo>
                    <a:pt x="131" y="155"/>
                  </a:lnTo>
                  <a:cubicBezTo>
                    <a:pt x="175" y="155"/>
                    <a:pt x="190" y="145"/>
                    <a:pt x="190" y="103"/>
                  </a:cubicBezTo>
                  <a:cubicBezTo>
                    <a:pt x="190" y="63"/>
                    <a:pt x="174" y="53"/>
                    <a:pt x="126" y="53"/>
                  </a:cubicBezTo>
                  <a:lnTo>
                    <a:pt x="65" y="53"/>
                  </a:lnTo>
                  <a:close/>
                  <a:moveTo>
                    <a:pt x="191" y="180"/>
                  </a:moveTo>
                  <a:cubicBezTo>
                    <a:pt x="245" y="185"/>
                    <a:pt x="264" y="219"/>
                    <a:pt x="264" y="277"/>
                  </a:cubicBezTo>
                  <a:cubicBezTo>
                    <a:pt x="264" y="351"/>
                    <a:pt x="230" y="371"/>
                    <a:pt x="145" y="371"/>
                  </a:cubicBezTo>
                  <a:cubicBezTo>
                    <a:pt x="79" y="371"/>
                    <a:pt x="44" y="371"/>
                    <a:pt x="0" y="367"/>
                  </a:cubicBezTo>
                  <a:lnTo>
                    <a:pt x="0" y="4"/>
                  </a:lnTo>
                  <a:cubicBezTo>
                    <a:pt x="39" y="1"/>
                    <a:pt x="71" y="0"/>
                    <a:pt x="129" y="0"/>
                  </a:cubicBezTo>
                  <a:cubicBezTo>
                    <a:pt x="220" y="0"/>
                    <a:pt x="253" y="20"/>
                    <a:pt x="253" y="95"/>
                  </a:cubicBezTo>
                  <a:cubicBezTo>
                    <a:pt x="253" y="147"/>
                    <a:pt x="235" y="174"/>
                    <a:pt x="191" y="178"/>
                  </a:cubicBezTo>
                  <a:lnTo>
                    <a:pt x="191" y="1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57" name="Freeform 9"/>
            <p:cNvSpPr>
              <a:spLocks noEditPoints="1"/>
            </p:cNvSpPr>
            <p:nvPr userDrawn="1"/>
          </p:nvSpPr>
          <p:spPr bwMode="auto">
            <a:xfrm>
              <a:off x="8364538" y="688975"/>
              <a:ext cx="106362" cy="133350"/>
            </a:xfrm>
            <a:custGeom>
              <a:avLst/>
              <a:gdLst>
                <a:gd name="T0" fmla="*/ 69 w 299"/>
                <a:gd name="T1" fmla="*/ 188 h 376"/>
                <a:gd name="T2" fmla="*/ 149 w 299"/>
                <a:gd name="T3" fmla="*/ 320 h 376"/>
                <a:gd name="T4" fmla="*/ 230 w 299"/>
                <a:gd name="T5" fmla="*/ 188 h 376"/>
                <a:gd name="T6" fmla="*/ 149 w 299"/>
                <a:gd name="T7" fmla="*/ 56 h 376"/>
                <a:gd name="T8" fmla="*/ 69 w 299"/>
                <a:gd name="T9" fmla="*/ 188 h 376"/>
                <a:gd name="T10" fmla="*/ 299 w 299"/>
                <a:gd name="T11" fmla="*/ 188 h 376"/>
                <a:gd name="T12" fmla="*/ 149 w 299"/>
                <a:gd name="T13" fmla="*/ 376 h 376"/>
                <a:gd name="T14" fmla="*/ 0 w 299"/>
                <a:gd name="T15" fmla="*/ 188 h 376"/>
                <a:gd name="T16" fmla="*/ 149 w 299"/>
                <a:gd name="T17" fmla="*/ 0 h 376"/>
                <a:gd name="T18" fmla="*/ 299 w 299"/>
                <a:gd name="T19" fmla="*/ 188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9" h="376">
                  <a:moveTo>
                    <a:pt x="69" y="188"/>
                  </a:moveTo>
                  <a:cubicBezTo>
                    <a:pt x="69" y="289"/>
                    <a:pt x="88" y="320"/>
                    <a:pt x="149" y="320"/>
                  </a:cubicBezTo>
                  <a:cubicBezTo>
                    <a:pt x="211" y="320"/>
                    <a:pt x="230" y="289"/>
                    <a:pt x="230" y="188"/>
                  </a:cubicBezTo>
                  <a:cubicBezTo>
                    <a:pt x="230" y="87"/>
                    <a:pt x="211" y="56"/>
                    <a:pt x="149" y="56"/>
                  </a:cubicBezTo>
                  <a:cubicBezTo>
                    <a:pt x="88" y="56"/>
                    <a:pt x="69" y="87"/>
                    <a:pt x="69" y="188"/>
                  </a:cubicBezTo>
                  <a:close/>
                  <a:moveTo>
                    <a:pt x="299" y="188"/>
                  </a:moveTo>
                  <a:cubicBezTo>
                    <a:pt x="299" y="332"/>
                    <a:pt x="260" y="376"/>
                    <a:pt x="149" y="376"/>
                  </a:cubicBezTo>
                  <a:cubicBezTo>
                    <a:pt x="39" y="376"/>
                    <a:pt x="0" y="332"/>
                    <a:pt x="0" y="188"/>
                  </a:cubicBezTo>
                  <a:cubicBezTo>
                    <a:pt x="0" y="44"/>
                    <a:pt x="39" y="0"/>
                    <a:pt x="149" y="0"/>
                  </a:cubicBezTo>
                  <a:cubicBezTo>
                    <a:pt x="260" y="0"/>
                    <a:pt x="299" y="44"/>
                    <a:pt x="299" y="1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58" name="Freeform 10"/>
            <p:cNvSpPr>
              <a:spLocks/>
            </p:cNvSpPr>
            <p:nvPr userDrawn="1"/>
          </p:nvSpPr>
          <p:spPr bwMode="auto">
            <a:xfrm>
              <a:off x="8496300" y="692150"/>
              <a:ext cx="104775" cy="128587"/>
            </a:xfrm>
            <a:custGeom>
              <a:avLst/>
              <a:gdLst>
                <a:gd name="T0" fmla="*/ 295 w 295"/>
                <a:gd name="T1" fmla="*/ 339 h 363"/>
                <a:gd name="T2" fmla="*/ 271 w 295"/>
                <a:gd name="T3" fmla="*/ 363 h 363"/>
                <a:gd name="T4" fmla="*/ 219 w 295"/>
                <a:gd name="T5" fmla="*/ 363 h 363"/>
                <a:gd name="T6" fmla="*/ 192 w 295"/>
                <a:gd name="T7" fmla="*/ 343 h 363"/>
                <a:gd name="T8" fmla="*/ 90 w 295"/>
                <a:gd name="T9" fmla="*/ 121 h 363"/>
                <a:gd name="T10" fmla="*/ 68 w 295"/>
                <a:gd name="T11" fmla="*/ 67 h 363"/>
                <a:gd name="T12" fmla="*/ 62 w 295"/>
                <a:gd name="T13" fmla="*/ 67 h 363"/>
                <a:gd name="T14" fmla="*/ 65 w 295"/>
                <a:gd name="T15" fmla="*/ 121 h 363"/>
                <a:gd name="T16" fmla="*/ 65 w 295"/>
                <a:gd name="T17" fmla="*/ 363 h 363"/>
                <a:gd name="T18" fmla="*/ 0 w 295"/>
                <a:gd name="T19" fmla="*/ 363 h 363"/>
                <a:gd name="T20" fmla="*/ 0 w 295"/>
                <a:gd name="T21" fmla="*/ 25 h 363"/>
                <a:gd name="T22" fmla="*/ 25 w 295"/>
                <a:gd name="T23" fmla="*/ 0 h 363"/>
                <a:gd name="T24" fmla="*/ 76 w 295"/>
                <a:gd name="T25" fmla="*/ 0 h 363"/>
                <a:gd name="T26" fmla="*/ 103 w 295"/>
                <a:gd name="T27" fmla="*/ 20 h 363"/>
                <a:gd name="T28" fmla="*/ 202 w 295"/>
                <a:gd name="T29" fmla="*/ 237 h 363"/>
                <a:gd name="T30" fmla="*/ 227 w 295"/>
                <a:gd name="T31" fmla="*/ 294 h 363"/>
                <a:gd name="T32" fmla="*/ 234 w 295"/>
                <a:gd name="T33" fmla="*/ 294 h 363"/>
                <a:gd name="T34" fmla="*/ 231 w 295"/>
                <a:gd name="T35" fmla="*/ 235 h 363"/>
                <a:gd name="T36" fmla="*/ 231 w 295"/>
                <a:gd name="T37" fmla="*/ 0 h 363"/>
                <a:gd name="T38" fmla="*/ 295 w 295"/>
                <a:gd name="T39" fmla="*/ 0 h 363"/>
                <a:gd name="T40" fmla="*/ 295 w 295"/>
                <a:gd name="T41" fmla="*/ 339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5" h="363">
                  <a:moveTo>
                    <a:pt x="295" y="339"/>
                  </a:moveTo>
                  <a:cubicBezTo>
                    <a:pt x="295" y="355"/>
                    <a:pt x="287" y="363"/>
                    <a:pt x="271" y="363"/>
                  </a:cubicBezTo>
                  <a:lnTo>
                    <a:pt x="219" y="363"/>
                  </a:lnTo>
                  <a:cubicBezTo>
                    <a:pt x="205" y="363"/>
                    <a:pt x="197" y="357"/>
                    <a:pt x="192" y="343"/>
                  </a:cubicBezTo>
                  <a:lnTo>
                    <a:pt x="90" y="121"/>
                  </a:lnTo>
                  <a:cubicBezTo>
                    <a:pt x="83" y="106"/>
                    <a:pt x="72" y="84"/>
                    <a:pt x="68" y="67"/>
                  </a:cubicBezTo>
                  <a:lnTo>
                    <a:pt x="62" y="67"/>
                  </a:lnTo>
                  <a:cubicBezTo>
                    <a:pt x="64" y="85"/>
                    <a:pt x="65" y="104"/>
                    <a:pt x="65" y="121"/>
                  </a:cubicBezTo>
                  <a:lnTo>
                    <a:pt x="65" y="363"/>
                  </a:lnTo>
                  <a:lnTo>
                    <a:pt x="0" y="363"/>
                  </a:lnTo>
                  <a:lnTo>
                    <a:pt x="0" y="25"/>
                  </a:lnTo>
                  <a:cubicBezTo>
                    <a:pt x="0" y="9"/>
                    <a:pt x="9" y="0"/>
                    <a:pt x="25" y="0"/>
                  </a:cubicBezTo>
                  <a:lnTo>
                    <a:pt x="76" y="0"/>
                  </a:lnTo>
                  <a:cubicBezTo>
                    <a:pt x="90" y="0"/>
                    <a:pt x="97" y="7"/>
                    <a:pt x="103" y="20"/>
                  </a:cubicBezTo>
                  <a:lnTo>
                    <a:pt x="202" y="237"/>
                  </a:lnTo>
                  <a:cubicBezTo>
                    <a:pt x="209" y="252"/>
                    <a:pt x="219" y="274"/>
                    <a:pt x="227" y="294"/>
                  </a:cubicBezTo>
                  <a:lnTo>
                    <a:pt x="234" y="294"/>
                  </a:lnTo>
                  <a:cubicBezTo>
                    <a:pt x="232" y="274"/>
                    <a:pt x="231" y="254"/>
                    <a:pt x="231" y="235"/>
                  </a:cubicBezTo>
                  <a:lnTo>
                    <a:pt x="231" y="0"/>
                  </a:lnTo>
                  <a:lnTo>
                    <a:pt x="295" y="0"/>
                  </a:lnTo>
                  <a:lnTo>
                    <a:pt x="295" y="3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59" name="Freeform 11"/>
            <p:cNvSpPr>
              <a:spLocks/>
            </p:cNvSpPr>
            <p:nvPr userDrawn="1"/>
          </p:nvSpPr>
          <p:spPr bwMode="auto">
            <a:xfrm>
              <a:off x="8629650" y="692150"/>
              <a:ext cx="104775" cy="128587"/>
            </a:xfrm>
            <a:custGeom>
              <a:avLst/>
              <a:gdLst>
                <a:gd name="T0" fmla="*/ 295 w 295"/>
                <a:gd name="T1" fmla="*/ 339 h 363"/>
                <a:gd name="T2" fmla="*/ 271 w 295"/>
                <a:gd name="T3" fmla="*/ 363 h 363"/>
                <a:gd name="T4" fmla="*/ 219 w 295"/>
                <a:gd name="T5" fmla="*/ 363 h 363"/>
                <a:gd name="T6" fmla="*/ 191 w 295"/>
                <a:gd name="T7" fmla="*/ 343 h 363"/>
                <a:gd name="T8" fmla="*/ 89 w 295"/>
                <a:gd name="T9" fmla="*/ 121 h 363"/>
                <a:gd name="T10" fmla="*/ 68 w 295"/>
                <a:gd name="T11" fmla="*/ 67 h 363"/>
                <a:gd name="T12" fmla="*/ 62 w 295"/>
                <a:gd name="T13" fmla="*/ 67 h 363"/>
                <a:gd name="T14" fmla="*/ 65 w 295"/>
                <a:gd name="T15" fmla="*/ 121 h 363"/>
                <a:gd name="T16" fmla="*/ 65 w 295"/>
                <a:gd name="T17" fmla="*/ 363 h 363"/>
                <a:gd name="T18" fmla="*/ 0 w 295"/>
                <a:gd name="T19" fmla="*/ 363 h 363"/>
                <a:gd name="T20" fmla="*/ 0 w 295"/>
                <a:gd name="T21" fmla="*/ 25 h 363"/>
                <a:gd name="T22" fmla="*/ 25 w 295"/>
                <a:gd name="T23" fmla="*/ 0 h 363"/>
                <a:gd name="T24" fmla="*/ 76 w 295"/>
                <a:gd name="T25" fmla="*/ 0 h 363"/>
                <a:gd name="T26" fmla="*/ 103 w 295"/>
                <a:gd name="T27" fmla="*/ 20 h 363"/>
                <a:gd name="T28" fmla="*/ 202 w 295"/>
                <a:gd name="T29" fmla="*/ 237 h 363"/>
                <a:gd name="T30" fmla="*/ 227 w 295"/>
                <a:gd name="T31" fmla="*/ 294 h 363"/>
                <a:gd name="T32" fmla="*/ 233 w 295"/>
                <a:gd name="T33" fmla="*/ 294 h 363"/>
                <a:gd name="T34" fmla="*/ 231 w 295"/>
                <a:gd name="T35" fmla="*/ 235 h 363"/>
                <a:gd name="T36" fmla="*/ 231 w 295"/>
                <a:gd name="T37" fmla="*/ 0 h 363"/>
                <a:gd name="T38" fmla="*/ 295 w 295"/>
                <a:gd name="T39" fmla="*/ 0 h 363"/>
                <a:gd name="T40" fmla="*/ 295 w 295"/>
                <a:gd name="T41" fmla="*/ 339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5" h="363">
                  <a:moveTo>
                    <a:pt x="295" y="339"/>
                  </a:moveTo>
                  <a:cubicBezTo>
                    <a:pt x="295" y="355"/>
                    <a:pt x="286" y="363"/>
                    <a:pt x="271" y="363"/>
                  </a:cubicBezTo>
                  <a:lnTo>
                    <a:pt x="219" y="363"/>
                  </a:lnTo>
                  <a:cubicBezTo>
                    <a:pt x="204" y="363"/>
                    <a:pt x="197" y="357"/>
                    <a:pt x="191" y="343"/>
                  </a:cubicBezTo>
                  <a:lnTo>
                    <a:pt x="89" y="121"/>
                  </a:lnTo>
                  <a:cubicBezTo>
                    <a:pt x="83" y="106"/>
                    <a:pt x="72" y="84"/>
                    <a:pt x="68" y="67"/>
                  </a:cubicBezTo>
                  <a:lnTo>
                    <a:pt x="62" y="67"/>
                  </a:lnTo>
                  <a:cubicBezTo>
                    <a:pt x="64" y="85"/>
                    <a:pt x="65" y="104"/>
                    <a:pt x="65" y="121"/>
                  </a:cubicBezTo>
                  <a:lnTo>
                    <a:pt x="65" y="363"/>
                  </a:lnTo>
                  <a:lnTo>
                    <a:pt x="0" y="363"/>
                  </a:lnTo>
                  <a:lnTo>
                    <a:pt x="0" y="25"/>
                  </a:lnTo>
                  <a:cubicBezTo>
                    <a:pt x="0" y="9"/>
                    <a:pt x="9" y="0"/>
                    <a:pt x="25" y="0"/>
                  </a:cubicBezTo>
                  <a:lnTo>
                    <a:pt x="76" y="0"/>
                  </a:lnTo>
                  <a:cubicBezTo>
                    <a:pt x="90" y="0"/>
                    <a:pt x="97" y="7"/>
                    <a:pt x="103" y="20"/>
                  </a:cubicBezTo>
                  <a:lnTo>
                    <a:pt x="202" y="237"/>
                  </a:lnTo>
                  <a:cubicBezTo>
                    <a:pt x="209" y="252"/>
                    <a:pt x="219" y="274"/>
                    <a:pt x="227" y="294"/>
                  </a:cubicBezTo>
                  <a:lnTo>
                    <a:pt x="233" y="294"/>
                  </a:lnTo>
                  <a:cubicBezTo>
                    <a:pt x="232" y="274"/>
                    <a:pt x="231" y="254"/>
                    <a:pt x="231" y="235"/>
                  </a:cubicBezTo>
                  <a:lnTo>
                    <a:pt x="231" y="0"/>
                  </a:lnTo>
                  <a:lnTo>
                    <a:pt x="295" y="0"/>
                  </a:lnTo>
                  <a:lnTo>
                    <a:pt x="295" y="3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60" name="Freeform 12"/>
            <p:cNvSpPr>
              <a:spLocks/>
            </p:cNvSpPr>
            <p:nvPr userDrawn="1"/>
          </p:nvSpPr>
          <p:spPr bwMode="auto">
            <a:xfrm>
              <a:off x="7081838" y="692150"/>
              <a:ext cx="95250" cy="130175"/>
            </a:xfrm>
            <a:custGeom>
              <a:avLst/>
              <a:gdLst>
                <a:gd name="T0" fmla="*/ 267 w 267"/>
                <a:gd name="T1" fmla="*/ 223 h 370"/>
                <a:gd name="T2" fmla="*/ 136 w 267"/>
                <a:gd name="T3" fmla="*/ 370 h 370"/>
                <a:gd name="T4" fmla="*/ 0 w 267"/>
                <a:gd name="T5" fmla="*/ 223 h 370"/>
                <a:gd name="T6" fmla="*/ 0 w 267"/>
                <a:gd name="T7" fmla="*/ 0 h 370"/>
                <a:gd name="T8" fmla="*/ 53 w 267"/>
                <a:gd name="T9" fmla="*/ 0 h 370"/>
                <a:gd name="T10" fmla="*/ 53 w 267"/>
                <a:gd name="T11" fmla="*/ 223 h 370"/>
                <a:gd name="T12" fmla="*/ 134 w 267"/>
                <a:gd name="T13" fmla="*/ 323 h 370"/>
                <a:gd name="T14" fmla="*/ 215 w 267"/>
                <a:gd name="T15" fmla="*/ 223 h 370"/>
                <a:gd name="T16" fmla="*/ 215 w 267"/>
                <a:gd name="T17" fmla="*/ 0 h 370"/>
                <a:gd name="T18" fmla="*/ 267 w 267"/>
                <a:gd name="T19" fmla="*/ 0 h 370"/>
                <a:gd name="T20" fmla="*/ 267 w 267"/>
                <a:gd name="T21" fmla="*/ 223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7" h="370">
                  <a:moveTo>
                    <a:pt x="267" y="223"/>
                  </a:moveTo>
                  <a:cubicBezTo>
                    <a:pt x="267" y="330"/>
                    <a:pt x="232" y="370"/>
                    <a:pt x="136" y="370"/>
                  </a:cubicBezTo>
                  <a:cubicBezTo>
                    <a:pt x="36" y="370"/>
                    <a:pt x="0" y="330"/>
                    <a:pt x="0" y="223"/>
                  </a:cubicBezTo>
                  <a:lnTo>
                    <a:pt x="0" y="0"/>
                  </a:lnTo>
                  <a:lnTo>
                    <a:pt x="53" y="0"/>
                  </a:lnTo>
                  <a:lnTo>
                    <a:pt x="53" y="223"/>
                  </a:lnTo>
                  <a:cubicBezTo>
                    <a:pt x="53" y="298"/>
                    <a:pt x="73" y="323"/>
                    <a:pt x="134" y="323"/>
                  </a:cubicBezTo>
                  <a:cubicBezTo>
                    <a:pt x="193" y="323"/>
                    <a:pt x="215" y="298"/>
                    <a:pt x="215" y="223"/>
                  </a:cubicBezTo>
                  <a:lnTo>
                    <a:pt x="215" y="0"/>
                  </a:lnTo>
                  <a:lnTo>
                    <a:pt x="267" y="0"/>
                  </a:lnTo>
                  <a:lnTo>
                    <a:pt x="267" y="223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61" name="Freeform 13"/>
            <p:cNvSpPr>
              <a:spLocks/>
            </p:cNvSpPr>
            <p:nvPr userDrawn="1"/>
          </p:nvSpPr>
          <p:spPr bwMode="auto">
            <a:xfrm>
              <a:off x="7207250" y="692150"/>
              <a:ext cx="101600" cy="128587"/>
            </a:xfrm>
            <a:custGeom>
              <a:avLst/>
              <a:gdLst>
                <a:gd name="T0" fmla="*/ 284 w 284"/>
                <a:gd name="T1" fmla="*/ 343 h 363"/>
                <a:gd name="T2" fmla="*/ 265 w 284"/>
                <a:gd name="T3" fmla="*/ 363 h 363"/>
                <a:gd name="T4" fmla="*/ 215 w 284"/>
                <a:gd name="T5" fmla="*/ 363 h 363"/>
                <a:gd name="T6" fmla="*/ 192 w 284"/>
                <a:gd name="T7" fmla="*/ 347 h 363"/>
                <a:gd name="T8" fmla="*/ 79 w 284"/>
                <a:gd name="T9" fmla="*/ 100 h 363"/>
                <a:gd name="T10" fmla="*/ 57 w 284"/>
                <a:gd name="T11" fmla="*/ 49 h 363"/>
                <a:gd name="T12" fmla="*/ 50 w 284"/>
                <a:gd name="T13" fmla="*/ 49 h 363"/>
                <a:gd name="T14" fmla="*/ 53 w 284"/>
                <a:gd name="T15" fmla="*/ 100 h 363"/>
                <a:gd name="T16" fmla="*/ 53 w 284"/>
                <a:gd name="T17" fmla="*/ 363 h 363"/>
                <a:gd name="T18" fmla="*/ 0 w 284"/>
                <a:gd name="T19" fmla="*/ 363 h 363"/>
                <a:gd name="T20" fmla="*/ 0 w 284"/>
                <a:gd name="T21" fmla="*/ 21 h 363"/>
                <a:gd name="T22" fmla="*/ 20 w 284"/>
                <a:gd name="T23" fmla="*/ 0 h 363"/>
                <a:gd name="T24" fmla="*/ 68 w 284"/>
                <a:gd name="T25" fmla="*/ 0 h 363"/>
                <a:gd name="T26" fmla="*/ 92 w 284"/>
                <a:gd name="T27" fmla="*/ 17 h 363"/>
                <a:gd name="T28" fmla="*/ 202 w 284"/>
                <a:gd name="T29" fmla="*/ 257 h 363"/>
                <a:gd name="T30" fmla="*/ 227 w 284"/>
                <a:gd name="T31" fmla="*/ 312 h 363"/>
                <a:gd name="T32" fmla="*/ 235 w 284"/>
                <a:gd name="T33" fmla="*/ 312 h 363"/>
                <a:gd name="T34" fmla="*/ 232 w 284"/>
                <a:gd name="T35" fmla="*/ 255 h 363"/>
                <a:gd name="T36" fmla="*/ 232 w 284"/>
                <a:gd name="T37" fmla="*/ 0 h 363"/>
                <a:gd name="T38" fmla="*/ 284 w 284"/>
                <a:gd name="T39" fmla="*/ 0 h 363"/>
                <a:gd name="T40" fmla="*/ 284 w 284"/>
                <a:gd name="T41" fmla="*/ 343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4" h="363">
                  <a:moveTo>
                    <a:pt x="284" y="343"/>
                  </a:moveTo>
                  <a:cubicBezTo>
                    <a:pt x="284" y="356"/>
                    <a:pt x="277" y="363"/>
                    <a:pt x="265" y="363"/>
                  </a:cubicBezTo>
                  <a:lnTo>
                    <a:pt x="215" y="363"/>
                  </a:lnTo>
                  <a:cubicBezTo>
                    <a:pt x="203" y="363"/>
                    <a:pt x="197" y="358"/>
                    <a:pt x="192" y="347"/>
                  </a:cubicBezTo>
                  <a:lnTo>
                    <a:pt x="79" y="100"/>
                  </a:lnTo>
                  <a:cubicBezTo>
                    <a:pt x="73" y="86"/>
                    <a:pt x="62" y="64"/>
                    <a:pt x="57" y="49"/>
                  </a:cubicBezTo>
                  <a:lnTo>
                    <a:pt x="50" y="49"/>
                  </a:lnTo>
                  <a:cubicBezTo>
                    <a:pt x="52" y="66"/>
                    <a:pt x="53" y="83"/>
                    <a:pt x="53" y="100"/>
                  </a:cubicBezTo>
                  <a:lnTo>
                    <a:pt x="53" y="363"/>
                  </a:lnTo>
                  <a:lnTo>
                    <a:pt x="0" y="363"/>
                  </a:lnTo>
                  <a:lnTo>
                    <a:pt x="0" y="21"/>
                  </a:lnTo>
                  <a:cubicBezTo>
                    <a:pt x="0" y="7"/>
                    <a:pt x="7" y="0"/>
                    <a:pt x="20" y="0"/>
                  </a:cubicBezTo>
                  <a:lnTo>
                    <a:pt x="68" y="0"/>
                  </a:lnTo>
                  <a:cubicBezTo>
                    <a:pt x="80" y="0"/>
                    <a:pt x="86" y="6"/>
                    <a:pt x="92" y="17"/>
                  </a:cubicBezTo>
                  <a:lnTo>
                    <a:pt x="202" y="257"/>
                  </a:lnTo>
                  <a:cubicBezTo>
                    <a:pt x="208" y="272"/>
                    <a:pt x="219" y="293"/>
                    <a:pt x="227" y="312"/>
                  </a:cubicBezTo>
                  <a:lnTo>
                    <a:pt x="235" y="312"/>
                  </a:lnTo>
                  <a:cubicBezTo>
                    <a:pt x="233" y="293"/>
                    <a:pt x="232" y="274"/>
                    <a:pt x="232" y="255"/>
                  </a:cubicBezTo>
                  <a:lnTo>
                    <a:pt x="232" y="0"/>
                  </a:lnTo>
                  <a:lnTo>
                    <a:pt x="284" y="0"/>
                  </a:lnTo>
                  <a:lnTo>
                    <a:pt x="284" y="343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62" name="Rectangle 14"/>
            <p:cNvSpPr>
              <a:spLocks noChangeArrowheads="1"/>
            </p:cNvSpPr>
            <p:nvPr userDrawn="1"/>
          </p:nvSpPr>
          <p:spPr bwMode="auto">
            <a:xfrm>
              <a:off x="7340600" y="692150"/>
              <a:ext cx="19050" cy="128587"/>
            </a:xfrm>
            <a:prstGeom prst="rect">
              <a:avLst/>
            </a:pr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63" name="Freeform 15"/>
            <p:cNvSpPr>
              <a:spLocks/>
            </p:cNvSpPr>
            <p:nvPr userDrawn="1"/>
          </p:nvSpPr>
          <p:spPr bwMode="auto">
            <a:xfrm>
              <a:off x="7378700" y="692150"/>
              <a:ext cx="109537" cy="128587"/>
            </a:xfrm>
            <a:custGeom>
              <a:avLst/>
              <a:gdLst>
                <a:gd name="T0" fmla="*/ 199 w 306"/>
                <a:gd name="T1" fmla="*/ 348 h 363"/>
                <a:gd name="T2" fmla="*/ 179 w 306"/>
                <a:gd name="T3" fmla="*/ 363 h 363"/>
                <a:gd name="T4" fmla="*/ 128 w 306"/>
                <a:gd name="T5" fmla="*/ 363 h 363"/>
                <a:gd name="T6" fmla="*/ 108 w 306"/>
                <a:gd name="T7" fmla="*/ 348 h 363"/>
                <a:gd name="T8" fmla="*/ 0 w 306"/>
                <a:gd name="T9" fmla="*/ 0 h 363"/>
                <a:gd name="T10" fmla="*/ 55 w 306"/>
                <a:gd name="T11" fmla="*/ 0 h 363"/>
                <a:gd name="T12" fmla="*/ 137 w 306"/>
                <a:gd name="T13" fmla="*/ 283 h 363"/>
                <a:gd name="T14" fmla="*/ 147 w 306"/>
                <a:gd name="T15" fmla="*/ 323 h 363"/>
                <a:gd name="T16" fmla="*/ 161 w 306"/>
                <a:gd name="T17" fmla="*/ 323 h 363"/>
                <a:gd name="T18" fmla="*/ 171 w 306"/>
                <a:gd name="T19" fmla="*/ 283 h 363"/>
                <a:gd name="T20" fmla="*/ 252 w 306"/>
                <a:gd name="T21" fmla="*/ 0 h 363"/>
                <a:gd name="T22" fmla="*/ 306 w 306"/>
                <a:gd name="T23" fmla="*/ 0 h 363"/>
                <a:gd name="T24" fmla="*/ 199 w 306"/>
                <a:gd name="T25" fmla="*/ 348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6" h="363">
                  <a:moveTo>
                    <a:pt x="199" y="348"/>
                  </a:moveTo>
                  <a:cubicBezTo>
                    <a:pt x="197" y="357"/>
                    <a:pt x="189" y="363"/>
                    <a:pt x="179" y="363"/>
                  </a:cubicBezTo>
                  <a:lnTo>
                    <a:pt x="128" y="363"/>
                  </a:lnTo>
                  <a:cubicBezTo>
                    <a:pt x="118" y="363"/>
                    <a:pt x="110" y="357"/>
                    <a:pt x="108" y="348"/>
                  </a:cubicBezTo>
                  <a:lnTo>
                    <a:pt x="0" y="0"/>
                  </a:lnTo>
                  <a:lnTo>
                    <a:pt x="55" y="0"/>
                  </a:lnTo>
                  <a:lnTo>
                    <a:pt x="137" y="283"/>
                  </a:lnTo>
                  <a:cubicBezTo>
                    <a:pt x="140" y="296"/>
                    <a:pt x="143" y="310"/>
                    <a:pt x="147" y="323"/>
                  </a:cubicBezTo>
                  <a:lnTo>
                    <a:pt x="161" y="323"/>
                  </a:lnTo>
                  <a:cubicBezTo>
                    <a:pt x="163" y="310"/>
                    <a:pt x="167" y="296"/>
                    <a:pt x="171" y="283"/>
                  </a:cubicBezTo>
                  <a:lnTo>
                    <a:pt x="252" y="0"/>
                  </a:lnTo>
                  <a:lnTo>
                    <a:pt x="306" y="0"/>
                  </a:lnTo>
                  <a:lnTo>
                    <a:pt x="199" y="348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64" name="Freeform 16"/>
            <p:cNvSpPr>
              <a:spLocks/>
            </p:cNvSpPr>
            <p:nvPr userDrawn="1"/>
          </p:nvSpPr>
          <p:spPr bwMode="auto">
            <a:xfrm>
              <a:off x="7505700" y="692150"/>
              <a:ext cx="80962" cy="128587"/>
            </a:xfrm>
            <a:custGeom>
              <a:avLst/>
              <a:gdLst>
                <a:gd name="T0" fmla="*/ 228 w 228"/>
                <a:gd name="T1" fmla="*/ 361 h 365"/>
                <a:gd name="T2" fmla="*/ 73 w 228"/>
                <a:gd name="T3" fmla="*/ 365 h 365"/>
                <a:gd name="T4" fmla="*/ 0 w 228"/>
                <a:gd name="T5" fmla="*/ 300 h 365"/>
                <a:gd name="T6" fmla="*/ 0 w 228"/>
                <a:gd name="T7" fmla="*/ 65 h 365"/>
                <a:gd name="T8" fmla="*/ 73 w 228"/>
                <a:gd name="T9" fmla="*/ 0 h 365"/>
                <a:gd name="T10" fmla="*/ 228 w 228"/>
                <a:gd name="T11" fmla="*/ 4 h 365"/>
                <a:gd name="T12" fmla="*/ 226 w 228"/>
                <a:gd name="T13" fmla="*/ 45 h 365"/>
                <a:gd name="T14" fmla="*/ 82 w 228"/>
                <a:gd name="T15" fmla="*/ 45 h 365"/>
                <a:gd name="T16" fmla="*/ 53 w 228"/>
                <a:gd name="T17" fmla="*/ 79 h 365"/>
                <a:gd name="T18" fmla="*/ 53 w 228"/>
                <a:gd name="T19" fmla="*/ 152 h 365"/>
                <a:gd name="T20" fmla="*/ 206 w 228"/>
                <a:gd name="T21" fmla="*/ 152 h 365"/>
                <a:gd name="T22" fmla="*/ 206 w 228"/>
                <a:gd name="T23" fmla="*/ 194 h 365"/>
                <a:gd name="T24" fmla="*/ 53 w 228"/>
                <a:gd name="T25" fmla="*/ 194 h 365"/>
                <a:gd name="T26" fmla="*/ 53 w 228"/>
                <a:gd name="T27" fmla="*/ 287 h 365"/>
                <a:gd name="T28" fmla="*/ 82 w 228"/>
                <a:gd name="T29" fmla="*/ 321 h 365"/>
                <a:gd name="T30" fmla="*/ 226 w 228"/>
                <a:gd name="T31" fmla="*/ 321 h 365"/>
                <a:gd name="T32" fmla="*/ 228 w 228"/>
                <a:gd name="T33" fmla="*/ 361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8" h="365">
                  <a:moveTo>
                    <a:pt x="228" y="361"/>
                  </a:moveTo>
                  <a:cubicBezTo>
                    <a:pt x="180" y="365"/>
                    <a:pt x="125" y="365"/>
                    <a:pt x="73" y="365"/>
                  </a:cubicBezTo>
                  <a:cubicBezTo>
                    <a:pt x="27" y="365"/>
                    <a:pt x="0" y="340"/>
                    <a:pt x="0" y="300"/>
                  </a:cubicBezTo>
                  <a:lnTo>
                    <a:pt x="0" y="65"/>
                  </a:lnTo>
                  <a:cubicBezTo>
                    <a:pt x="0" y="25"/>
                    <a:pt x="28" y="0"/>
                    <a:pt x="73" y="0"/>
                  </a:cubicBezTo>
                  <a:cubicBezTo>
                    <a:pt x="125" y="0"/>
                    <a:pt x="180" y="0"/>
                    <a:pt x="228" y="4"/>
                  </a:cubicBezTo>
                  <a:lnTo>
                    <a:pt x="226" y="45"/>
                  </a:lnTo>
                  <a:lnTo>
                    <a:pt x="82" y="45"/>
                  </a:lnTo>
                  <a:cubicBezTo>
                    <a:pt x="61" y="45"/>
                    <a:pt x="53" y="54"/>
                    <a:pt x="53" y="79"/>
                  </a:cubicBezTo>
                  <a:lnTo>
                    <a:pt x="53" y="152"/>
                  </a:lnTo>
                  <a:lnTo>
                    <a:pt x="206" y="152"/>
                  </a:lnTo>
                  <a:lnTo>
                    <a:pt x="206" y="194"/>
                  </a:lnTo>
                  <a:lnTo>
                    <a:pt x="53" y="194"/>
                  </a:lnTo>
                  <a:lnTo>
                    <a:pt x="53" y="287"/>
                  </a:lnTo>
                  <a:cubicBezTo>
                    <a:pt x="53" y="312"/>
                    <a:pt x="61" y="321"/>
                    <a:pt x="82" y="321"/>
                  </a:cubicBezTo>
                  <a:lnTo>
                    <a:pt x="226" y="321"/>
                  </a:lnTo>
                  <a:lnTo>
                    <a:pt x="228" y="361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65" name="Freeform 17"/>
            <p:cNvSpPr>
              <a:spLocks noEditPoints="1"/>
            </p:cNvSpPr>
            <p:nvPr userDrawn="1"/>
          </p:nvSpPr>
          <p:spPr bwMode="auto">
            <a:xfrm>
              <a:off x="7612063" y="690563"/>
              <a:ext cx="92075" cy="130175"/>
            </a:xfrm>
            <a:custGeom>
              <a:avLst/>
              <a:gdLst>
                <a:gd name="T0" fmla="*/ 126 w 260"/>
                <a:gd name="T1" fmla="*/ 173 h 367"/>
                <a:gd name="T2" fmla="*/ 194 w 260"/>
                <a:gd name="T3" fmla="*/ 108 h 367"/>
                <a:gd name="T4" fmla="*/ 126 w 260"/>
                <a:gd name="T5" fmla="*/ 45 h 367"/>
                <a:gd name="T6" fmla="*/ 52 w 260"/>
                <a:gd name="T7" fmla="*/ 45 h 367"/>
                <a:gd name="T8" fmla="*/ 52 w 260"/>
                <a:gd name="T9" fmla="*/ 173 h 367"/>
                <a:gd name="T10" fmla="*/ 126 w 260"/>
                <a:gd name="T11" fmla="*/ 173 h 367"/>
                <a:gd name="T12" fmla="*/ 204 w 260"/>
                <a:gd name="T13" fmla="*/ 367 h 367"/>
                <a:gd name="T14" fmla="*/ 173 w 260"/>
                <a:gd name="T15" fmla="*/ 254 h 367"/>
                <a:gd name="T16" fmla="*/ 127 w 260"/>
                <a:gd name="T17" fmla="*/ 218 h 367"/>
                <a:gd name="T18" fmla="*/ 52 w 260"/>
                <a:gd name="T19" fmla="*/ 217 h 367"/>
                <a:gd name="T20" fmla="*/ 52 w 260"/>
                <a:gd name="T21" fmla="*/ 367 h 367"/>
                <a:gd name="T22" fmla="*/ 0 w 260"/>
                <a:gd name="T23" fmla="*/ 367 h 367"/>
                <a:gd name="T24" fmla="*/ 0 w 260"/>
                <a:gd name="T25" fmla="*/ 4 h 367"/>
                <a:gd name="T26" fmla="*/ 127 w 260"/>
                <a:gd name="T27" fmla="*/ 0 h 367"/>
                <a:gd name="T28" fmla="*/ 247 w 260"/>
                <a:gd name="T29" fmla="*/ 105 h 367"/>
                <a:gd name="T30" fmla="*/ 180 w 260"/>
                <a:gd name="T31" fmla="*/ 197 h 367"/>
                <a:gd name="T32" fmla="*/ 180 w 260"/>
                <a:gd name="T33" fmla="*/ 200 h 367"/>
                <a:gd name="T34" fmla="*/ 226 w 260"/>
                <a:gd name="T35" fmla="*/ 252 h 367"/>
                <a:gd name="T36" fmla="*/ 260 w 260"/>
                <a:gd name="T37" fmla="*/ 367 h 367"/>
                <a:gd name="T38" fmla="*/ 204 w 260"/>
                <a:gd name="T39" fmla="*/ 367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60" h="367">
                  <a:moveTo>
                    <a:pt x="126" y="173"/>
                  </a:moveTo>
                  <a:cubicBezTo>
                    <a:pt x="177" y="172"/>
                    <a:pt x="194" y="158"/>
                    <a:pt x="194" y="108"/>
                  </a:cubicBezTo>
                  <a:cubicBezTo>
                    <a:pt x="194" y="58"/>
                    <a:pt x="177" y="45"/>
                    <a:pt x="126" y="45"/>
                  </a:cubicBezTo>
                  <a:cubicBezTo>
                    <a:pt x="98" y="45"/>
                    <a:pt x="72" y="45"/>
                    <a:pt x="52" y="45"/>
                  </a:cubicBezTo>
                  <a:lnTo>
                    <a:pt x="52" y="173"/>
                  </a:lnTo>
                  <a:lnTo>
                    <a:pt x="126" y="173"/>
                  </a:lnTo>
                  <a:close/>
                  <a:moveTo>
                    <a:pt x="204" y="367"/>
                  </a:moveTo>
                  <a:lnTo>
                    <a:pt x="173" y="254"/>
                  </a:lnTo>
                  <a:cubicBezTo>
                    <a:pt x="164" y="228"/>
                    <a:pt x="150" y="218"/>
                    <a:pt x="127" y="218"/>
                  </a:cubicBezTo>
                  <a:lnTo>
                    <a:pt x="52" y="217"/>
                  </a:lnTo>
                  <a:lnTo>
                    <a:pt x="52" y="367"/>
                  </a:lnTo>
                  <a:lnTo>
                    <a:pt x="0" y="367"/>
                  </a:lnTo>
                  <a:lnTo>
                    <a:pt x="0" y="4"/>
                  </a:lnTo>
                  <a:cubicBezTo>
                    <a:pt x="40" y="0"/>
                    <a:pt x="68" y="0"/>
                    <a:pt x="127" y="0"/>
                  </a:cubicBezTo>
                  <a:cubicBezTo>
                    <a:pt x="212" y="0"/>
                    <a:pt x="247" y="23"/>
                    <a:pt x="247" y="105"/>
                  </a:cubicBezTo>
                  <a:cubicBezTo>
                    <a:pt x="247" y="162"/>
                    <a:pt x="229" y="191"/>
                    <a:pt x="180" y="197"/>
                  </a:cubicBezTo>
                  <a:lnTo>
                    <a:pt x="180" y="200"/>
                  </a:lnTo>
                  <a:cubicBezTo>
                    <a:pt x="198" y="205"/>
                    <a:pt x="218" y="221"/>
                    <a:pt x="226" y="252"/>
                  </a:cubicBezTo>
                  <a:lnTo>
                    <a:pt x="260" y="367"/>
                  </a:lnTo>
                  <a:lnTo>
                    <a:pt x="204" y="36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66" name="Freeform 18"/>
            <p:cNvSpPr>
              <a:spLocks/>
            </p:cNvSpPr>
            <p:nvPr userDrawn="1"/>
          </p:nvSpPr>
          <p:spPr bwMode="auto">
            <a:xfrm>
              <a:off x="7723188" y="688975"/>
              <a:ext cx="85725" cy="133350"/>
            </a:xfrm>
            <a:custGeom>
              <a:avLst/>
              <a:gdLst>
                <a:gd name="T0" fmla="*/ 229 w 243"/>
                <a:gd name="T1" fmla="*/ 11 h 375"/>
                <a:gd name="T2" fmla="*/ 226 w 243"/>
                <a:gd name="T3" fmla="*/ 49 h 375"/>
                <a:gd name="T4" fmla="*/ 122 w 243"/>
                <a:gd name="T5" fmla="*/ 47 h 375"/>
                <a:gd name="T6" fmla="*/ 53 w 243"/>
                <a:gd name="T7" fmla="*/ 97 h 375"/>
                <a:gd name="T8" fmla="*/ 97 w 243"/>
                <a:gd name="T9" fmla="*/ 152 h 375"/>
                <a:gd name="T10" fmla="*/ 169 w 243"/>
                <a:gd name="T11" fmla="*/ 172 h 375"/>
                <a:gd name="T12" fmla="*/ 243 w 243"/>
                <a:gd name="T13" fmla="*/ 276 h 375"/>
                <a:gd name="T14" fmla="*/ 119 w 243"/>
                <a:gd name="T15" fmla="*/ 375 h 375"/>
                <a:gd name="T16" fmla="*/ 5 w 243"/>
                <a:gd name="T17" fmla="*/ 365 h 375"/>
                <a:gd name="T18" fmla="*/ 9 w 243"/>
                <a:gd name="T19" fmla="*/ 326 h 375"/>
                <a:gd name="T20" fmla="*/ 120 w 243"/>
                <a:gd name="T21" fmla="*/ 329 h 375"/>
                <a:gd name="T22" fmla="*/ 189 w 243"/>
                <a:gd name="T23" fmla="*/ 275 h 375"/>
                <a:gd name="T24" fmla="*/ 146 w 243"/>
                <a:gd name="T25" fmla="*/ 219 h 375"/>
                <a:gd name="T26" fmla="*/ 72 w 243"/>
                <a:gd name="T27" fmla="*/ 199 h 375"/>
                <a:gd name="T28" fmla="*/ 0 w 243"/>
                <a:gd name="T29" fmla="*/ 96 h 375"/>
                <a:gd name="T30" fmla="*/ 120 w 243"/>
                <a:gd name="T31" fmla="*/ 0 h 375"/>
                <a:gd name="T32" fmla="*/ 229 w 243"/>
                <a:gd name="T33" fmla="*/ 1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3" h="375">
                  <a:moveTo>
                    <a:pt x="229" y="11"/>
                  </a:moveTo>
                  <a:lnTo>
                    <a:pt x="226" y="49"/>
                  </a:lnTo>
                  <a:cubicBezTo>
                    <a:pt x="195" y="48"/>
                    <a:pt x="156" y="47"/>
                    <a:pt x="122" y="47"/>
                  </a:cubicBezTo>
                  <a:cubicBezTo>
                    <a:pt x="72" y="47"/>
                    <a:pt x="53" y="49"/>
                    <a:pt x="53" y="97"/>
                  </a:cubicBezTo>
                  <a:cubicBezTo>
                    <a:pt x="53" y="135"/>
                    <a:pt x="67" y="145"/>
                    <a:pt x="97" y="152"/>
                  </a:cubicBezTo>
                  <a:lnTo>
                    <a:pt x="169" y="172"/>
                  </a:lnTo>
                  <a:cubicBezTo>
                    <a:pt x="225" y="188"/>
                    <a:pt x="243" y="221"/>
                    <a:pt x="243" y="276"/>
                  </a:cubicBezTo>
                  <a:cubicBezTo>
                    <a:pt x="243" y="359"/>
                    <a:pt x="206" y="375"/>
                    <a:pt x="119" y="375"/>
                  </a:cubicBezTo>
                  <a:cubicBezTo>
                    <a:pt x="96" y="375"/>
                    <a:pt x="56" y="374"/>
                    <a:pt x="5" y="365"/>
                  </a:cubicBezTo>
                  <a:lnTo>
                    <a:pt x="9" y="326"/>
                  </a:lnTo>
                  <a:cubicBezTo>
                    <a:pt x="75" y="328"/>
                    <a:pt x="93" y="329"/>
                    <a:pt x="120" y="329"/>
                  </a:cubicBezTo>
                  <a:cubicBezTo>
                    <a:pt x="173" y="328"/>
                    <a:pt x="189" y="320"/>
                    <a:pt x="189" y="275"/>
                  </a:cubicBezTo>
                  <a:cubicBezTo>
                    <a:pt x="189" y="236"/>
                    <a:pt x="175" y="227"/>
                    <a:pt x="146" y="219"/>
                  </a:cubicBezTo>
                  <a:lnTo>
                    <a:pt x="72" y="199"/>
                  </a:lnTo>
                  <a:cubicBezTo>
                    <a:pt x="19" y="184"/>
                    <a:pt x="0" y="151"/>
                    <a:pt x="0" y="96"/>
                  </a:cubicBezTo>
                  <a:cubicBezTo>
                    <a:pt x="0" y="12"/>
                    <a:pt x="38" y="0"/>
                    <a:pt x="120" y="0"/>
                  </a:cubicBezTo>
                  <a:cubicBezTo>
                    <a:pt x="154" y="0"/>
                    <a:pt x="192" y="2"/>
                    <a:pt x="229" y="11"/>
                  </a:cubicBez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67" name="Rectangle 19"/>
            <p:cNvSpPr>
              <a:spLocks noChangeArrowheads="1"/>
            </p:cNvSpPr>
            <p:nvPr userDrawn="1"/>
          </p:nvSpPr>
          <p:spPr bwMode="auto">
            <a:xfrm>
              <a:off x="7834313" y="692150"/>
              <a:ext cx="19050" cy="128587"/>
            </a:xfrm>
            <a:prstGeom prst="rect">
              <a:avLst/>
            </a:pr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68" name="Freeform 20"/>
            <p:cNvSpPr>
              <a:spLocks/>
            </p:cNvSpPr>
            <p:nvPr userDrawn="1"/>
          </p:nvSpPr>
          <p:spPr bwMode="auto">
            <a:xfrm>
              <a:off x="7872413" y="692150"/>
              <a:ext cx="101600" cy="128587"/>
            </a:xfrm>
            <a:custGeom>
              <a:avLst/>
              <a:gdLst>
                <a:gd name="T0" fmla="*/ 168 w 283"/>
                <a:gd name="T1" fmla="*/ 47 h 363"/>
                <a:gd name="T2" fmla="*/ 168 w 283"/>
                <a:gd name="T3" fmla="*/ 363 h 363"/>
                <a:gd name="T4" fmla="*/ 114 w 283"/>
                <a:gd name="T5" fmla="*/ 363 h 363"/>
                <a:gd name="T6" fmla="*/ 114 w 283"/>
                <a:gd name="T7" fmla="*/ 47 h 363"/>
                <a:gd name="T8" fmla="*/ 0 w 283"/>
                <a:gd name="T9" fmla="*/ 47 h 363"/>
                <a:gd name="T10" fmla="*/ 0 w 283"/>
                <a:gd name="T11" fmla="*/ 0 h 363"/>
                <a:gd name="T12" fmla="*/ 283 w 283"/>
                <a:gd name="T13" fmla="*/ 0 h 363"/>
                <a:gd name="T14" fmla="*/ 283 w 283"/>
                <a:gd name="T15" fmla="*/ 47 h 363"/>
                <a:gd name="T16" fmla="*/ 168 w 283"/>
                <a:gd name="T17" fmla="*/ 47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3" h="363">
                  <a:moveTo>
                    <a:pt x="168" y="47"/>
                  </a:moveTo>
                  <a:lnTo>
                    <a:pt x="168" y="363"/>
                  </a:lnTo>
                  <a:lnTo>
                    <a:pt x="114" y="363"/>
                  </a:lnTo>
                  <a:lnTo>
                    <a:pt x="114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83" y="0"/>
                  </a:lnTo>
                  <a:lnTo>
                    <a:pt x="283" y="47"/>
                  </a:lnTo>
                  <a:lnTo>
                    <a:pt x="168" y="4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69" name="Freeform 21"/>
            <p:cNvSpPr>
              <a:spLocks noEditPoints="1"/>
            </p:cNvSpPr>
            <p:nvPr userDrawn="1"/>
          </p:nvSpPr>
          <p:spPr bwMode="auto">
            <a:xfrm>
              <a:off x="7969250" y="657225"/>
              <a:ext cx="114300" cy="163512"/>
            </a:xfrm>
            <a:custGeom>
              <a:avLst/>
              <a:gdLst>
                <a:gd name="T0" fmla="*/ 199 w 321"/>
                <a:gd name="T1" fmla="*/ 57 h 459"/>
                <a:gd name="T2" fmla="*/ 185 w 321"/>
                <a:gd name="T3" fmla="*/ 43 h 459"/>
                <a:gd name="T4" fmla="*/ 185 w 321"/>
                <a:gd name="T5" fmla="*/ 14 h 459"/>
                <a:gd name="T6" fmla="*/ 199 w 321"/>
                <a:gd name="T7" fmla="*/ 0 h 459"/>
                <a:gd name="T8" fmla="*/ 215 w 321"/>
                <a:gd name="T9" fmla="*/ 0 h 459"/>
                <a:gd name="T10" fmla="*/ 230 w 321"/>
                <a:gd name="T11" fmla="*/ 14 h 459"/>
                <a:gd name="T12" fmla="*/ 230 w 321"/>
                <a:gd name="T13" fmla="*/ 43 h 459"/>
                <a:gd name="T14" fmla="*/ 215 w 321"/>
                <a:gd name="T15" fmla="*/ 57 h 459"/>
                <a:gd name="T16" fmla="*/ 199 w 321"/>
                <a:gd name="T17" fmla="*/ 57 h 459"/>
                <a:gd name="T18" fmla="*/ 176 w 321"/>
                <a:gd name="T19" fmla="*/ 166 h 459"/>
                <a:gd name="T20" fmla="*/ 167 w 321"/>
                <a:gd name="T21" fmla="*/ 137 h 459"/>
                <a:gd name="T22" fmla="*/ 153 w 321"/>
                <a:gd name="T23" fmla="*/ 137 h 459"/>
                <a:gd name="T24" fmla="*/ 144 w 321"/>
                <a:gd name="T25" fmla="*/ 166 h 459"/>
                <a:gd name="T26" fmla="*/ 102 w 321"/>
                <a:gd name="T27" fmla="*/ 304 h 459"/>
                <a:gd name="T28" fmla="*/ 218 w 321"/>
                <a:gd name="T29" fmla="*/ 304 h 459"/>
                <a:gd name="T30" fmla="*/ 176 w 321"/>
                <a:gd name="T31" fmla="*/ 166 h 459"/>
                <a:gd name="T32" fmla="*/ 105 w 321"/>
                <a:gd name="T33" fmla="*/ 57 h 459"/>
                <a:gd name="T34" fmla="*/ 92 w 321"/>
                <a:gd name="T35" fmla="*/ 43 h 459"/>
                <a:gd name="T36" fmla="*/ 92 w 321"/>
                <a:gd name="T37" fmla="*/ 14 h 459"/>
                <a:gd name="T38" fmla="*/ 105 w 321"/>
                <a:gd name="T39" fmla="*/ 0 h 459"/>
                <a:gd name="T40" fmla="*/ 122 w 321"/>
                <a:gd name="T41" fmla="*/ 0 h 459"/>
                <a:gd name="T42" fmla="*/ 136 w 321"/>
                <a:gd name="T43" fmla="*/ 14 h 459"/>
                <a:gd name="T44" fmla="*/ 136 w 321"/>
                <a:gd name="T45" fmla="*/ 43 h 459"/>
                <a:gd name="T46" fmla="*/ 122 w 321"/>
                <a:gd name="T47" fmla="*/ 57 h 459"/>
                <a:gd name="T48" fmla="*/ 105 w 321"/>
                <a:gd name="T49" fmla="*/ 57 h 459"/>
                <a:gd name="T50" fmla="*/ 88 w 321"/>
                <a:gd name="T51" fmla="*/ 350 h 459"/>
                <a:gd name="T52" fmla="*/ 54 w 321"/>
                <a:gd name="T53" fmla="*/ 459 h 459"/>
                <a:gd name="T54" fmla="*/ 0 w 321"/>
                <a:gd name="T55" fmla="*/ 459 h 459"/>
                <a:gd name="T56" fmla="*/ 114 w 321"/>
                <a:gd name="T57" fmla="*/ 110 h 459"/>
                <a:gd name="T58" fmla="*/ 133 w 321"/>
                <a:gd name="T59" fmla="*/ 96 h 459"/>
                <a:gd name="T60" fmla="*/ 187 w 321"/>
                <a:gd name="T61" fmla="*/ 96 h 459"/>
                <a:gd name="T62" fmla="*/ 206 w 321"/>
                <a:gd name="T63" fmla="*/ 110 h 459"/>
                <a:gd name="T64" fmla="*/ 321 w 321"/>
                <a:gd name="T65" fmla="*/ 459 h 459"/>
                <a:gd name="T66" fmla="*/ 266 w 321"/>
                <a:gd name="T67" fmla="*/ 459 h 459"/>
                <a:gd name="T68" fmla="*/ 233 w 321"/>
                <a:gd name="T69" fmla="*/ 350 h 459"/>
                <a:gd name="T70" fmla="*/ 88 w 321"/>
                <a:gd name="T71" fmla="*/ 35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21" h="459">
                  <a:moveTo>
                    <a:pt x="199" y="57"/>
                  </a:moveTo>
                  <a:cubicBezTo>
                    <a:pt x="189" y="57"/>
                    <a:pt x="185" y="53"/>
                    <a:pt x="185" y="43"/>
                  </a:cubicBezTo>
                  <a:lnTo>
                    <a:pt x="185" y="14"/>
                  </a:lnTo>
                  <a:cubicBezTo>
                    <a:pt x="185" y="6"/>
                    <a:pt x="189" y="0"/>
                    <a:pt x="199" y="0"/>
                  </a:cubicBezTo>
                  <a:lnTo>
                    <a:pt x="215" y="0"/>
                  </a:lnTo>
                  <a:cubicBezTo>
                    <a:pt x="224" y="0"/>
                    <a:pt x="230" y="6"/>
                    <a:pt x="230" y="14"/>
                  </a:cubicBezTo>
                  <a:lnTo>
                    <a:pt x="230" y="43"/>
                  </a:lnTo>
                  <a:cubicBezTo>
                    <a:pt x="230" y="53"/>
                    <a:pt x="224" y="57"/>
                    <a:pt x="215" y="57"/>
                  </a:cubicBezTo>
                  <a:lnTo>
                    <a:pt x="199" y="57"/>
                  </a:lnTo>
                  <a:close/>
                  <a:moveTo>
                    <a:pt x="176" y="166"/>
                  </a:moveTo>
                  <a:cubicBezTo>
                    <a:pt x="173" y="157"/>
                    <a:pt x="170" y="146"/>
                    <a:pt x="167" y="137"/>
                  </a:cubicBezTo>
                  <a:lnTo>
                    <a:pt x="153" y="137"/>
                  </a:lnTo>
                  <a:cubicBezTo>
                    <a:pt x="150" y="146"/>
                    <a:pt x="147" y="157"/>
                    <a:pt x="144" y="166"/>
                  </a:cubicBezTo>
                  <a:lnTo>
                    <a:pt x="102" y="304"/>
                  </a:lnTo>
                  <a:lnTo>
                    <a:pt x="218" y="304"/>
                  </a:lnTo>
                  <a:lnTo>
                    <a:pt x="176" y="166"/>
                  </a:lnTo>
                  <a:close/>
                  <a:moveTo>
                    <a:pt x="105" y="57"/>
                  </a:moveTo>
                  <a:cubicBezTo>
                    <a:pt x="96" y="57"/>
                    <a:pt x="92" y="53"/>
                    <a:pt x="92" y="43"/>
                  </a:cubicBezTo>
                  <a:lnTo>
                    <a:pt x="92" y="14"/>
                  </a:lnTo>
                  <a:cubicBezTo>
                    <a:pt x="92" y="6"/>
                    <a:pt x="96" y="0"/>
                    <a:pt x="105" y="0"/>
                  </a:cubicBezTo>
                  <a:lnTo>
                    <a:pt x="122" y="0"/>
                  </a:lnTo>
                  <a:cubicBezTo>
                    <a:pt x="132" y="0"/>
                    <a:pt x="136" y="6"/>
                    <a:pt x="136" y="14"/>
                  </a:cubicBezTo>
                  <a:lnTo>
                    <a:pt x="136" y="43"/>
                  </a:lnTo>
                  <a:cubicBezTo>
                    <a:pt x="136" y="53"/>
                    <a:pt x="132" y="57"/>
                    <a:pt x="122" y="57"/>
                  </a:cubicBezTo>
                  <a:lnTo>
                    <a:pt x="105" y="57"/>
                  </a:lnTo>
                  <a:close/>
                  <a:moveTo>
                    <a:pt x="88" y="350"/>
                  </a:moveTo>
                  <a:lnTo>
                    <a:pt x="54" y="459"/>
                  </a:lnTo>
                  <a:lnTo>
                    <a:pt x="0" y="459"/>
                  </a:lnTo>
                  <a:lnTo>
                    <a:pt x="114" y="110"/>
                  </a:lnTo>
                  <a:cubicBezTo>
                    <a:pt x="116" y="102"/>
                    <a:pt x="124" y="96"/>
                    <a:pt x="133" y="96"/>
                  </a:cubicBezTo>
                  <a:lnTo>
                    <a:pt x="187" y="96"/>
                  </a:lnTo>
                  <a:cubicBezTo>
                    <a:pt x="196" y="96"/>
                    <a:pt x="204" y="102"/>
                    <a:pt x="206" y="110"/>
                  </a:cubicBezTo>
                  <a:lnTo>
                    <a:pt x="321" y="459"/>
                  </a:lnTo>
                  <a:lnTo>
                    <a:pt x="266" y="459"/>
                  </a:lnTo>
                  <a:lnTo>
                    <a:pt x="233" y="350"/>
                  </a:lnTo>
                  <a:lnTo>
                    <a:pt x="88" y="350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70" name="Freeform 22"/>
            <p:cNvSpPr>
              <a:spLocks/>
            </p:cNvSpPr>
            <p:nvPr userDrawn="1"/>
          </p:nvSpPr>
          <p:spPr bwMode="auto">
            <a:xfrm>
              <a:off x="8078788" y="692150"/>
              <a:ext cx="100012" cy="128587"/>
            </a:xfrm>
            <a:custGeom>
              <a:avLst/>
              <a:gdLst>
                <a:gd name="T0" fmla="*/ 167 w 282"/>
                <a:gd name="T1" fmla="*/ 47 h 363"/>
                <a:gd name="T2" fmla="*/ 167 w 282"/>
                <a:gd name="T3" fmla="*/ 363 h 363"/>
                <a:gd name="T4" fmla="*/ 114 w 282"/>
                <a:gd name="T5" fmla="*/ 363 h 363"/>
                <a:gd name="T6" fmla="*/ 114 w 282"/>
                <a:gd name="T7" fmla="*/ 47 h 363"/>
                <a:gd name="T8" fmla="*/ 0 w 282"/>
                <a:gd name="T9" fmla="*/ 47 h 363"/>
                <a:gd name="T10" fmla="*/ 0 w 282"/>
                <a:gd name="T11" fmla="*/ 0 h 363"/>
                <a:gd name="T12" fmla="*/ 282 w 282"/>
                <a:gd name="T13" fmla="*/ 0 h 363"/>
                <a:gd name="T14" fmla="*/ 282 w 282"/>
                <a:gd name="T15" fmla="*/ 47 h 363"/>
                <a:gd name="T16" fmla="*/ 167 w 282"/>
                <a:gd name="T17" fmla="*/ 47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2" h="363">
                  <a:moveTo>
                    <a:pt x="167" y="47"/>
                  </a:moveTo>
                  <a:lnTo>
                    <a:pt x="167" y="363"/>
                  </a:lnTo>
                  <a:lnTo>
                    <a:pt x="114" y="363"/>
                  </a:lnTo>
                  <a:lnTo>
                    <a:pt x="114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82" y="0"/>
                  </a:lnTo>
                  <a:lnTo>
                    <a:pt x="282" y="47"/>
                  </a:lnTo>
                  <a:lnTo>
                    <a:pt x="167" y="4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</p:grpSp>
      <p:sp>
        <p:nvSpPr>
          <p:cNvPr id="71" name="Freeform 7"/>
          <p:cNvSpPr>
            <a:spLocks noChangeAspect="1"/>
          </p:cNvSpPr>
          <p:nvPr userDrawn="1"/>
        </p:nvSpPr>
        <p:spPr bwMode="auto">
          <a:xfrm>
            <a:off x="1714499" y="0"/>
            <a:ext cx="10477500" cy="6856975"/>
          </a:xfrm>
          <a:custGeom>
            <a:avLst/>
            <a:gdLst>
              <a:gd name="T0" fmla="*/ 2000 w 2000"/>
              <a:gd name="T1" fmla="*/ 0 h 1349"/>
              <a:gd name="T2" fmla="*/ 1361 w 2000"/>
              <a:gd name="T3" fmla="*/ 0 h 1349"/>
              <a:gd name="T4" fmla="*/ 992 w 2000"/>
              <a:gd name="T5" fmla="*/ 627 h 1349"/>
              <a:gd name="T6" fmla="*/ 0 w 2000"/>
              <a:gd name="T7" fmla="*/ 1193 h 1349"/>
              <a:gd name="T8" fmla="*/ 0 w 2000"/>
              <a:gd name="T9" fmla="*/ 1349 h 1349"/>
              <a:gd name="T10" fmla="*/ 2000 w 2000"/>
              <a:gd name="T11" fmla="*/ 1349 h 1349"/>
              <a:gd name="T12" fmla="*/ 2000 w 2000"/>
              <a:gd name="T13" fmla="*/ 0 h 13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00" h="1349">
                <a:moveTo>
                  <a:pt x="2000" y="0"/>
                </a:moveTo>
                <a:lnTo>
                  <a:pt x="1361" y="0"/>
                </a:lnTo>
                <a:cubicBezTo>
                  <a:pt x="1285" y="208"/>
                  <a:pt x="1168" y="419"/>
                  <a:pt x="992" y="627"/>
                </a:cubicBezTo>
                <a:cubicBezTo>
                  <a:pt x="644" y="1036"/>
                  <a:pt x="259" y="1159"/>
                  <a:pt x="0" y="1193"/>
                </a:cubicBezTo>
                <a:lnTo>
                  <a:pt x="0" y="1349"/>
                </a:lnTo>
                <a:lnTo>
                  <a:pt x="2000" y="1349"/>
                </a:lnTo>
                <a:lnTo>
                  <a:pt x="2000" y="0"/>
                </a:lnTo>
                <a:close/>
              </a:path>
            </a:pathLst>
          </a:custGeom>
          <a:solidFill>
            <a:srgbClr val="7A786C">
              <a:alpha val="15000"/>
            </a:srgbClr>
          </a:solidFill>
          <a:ln>
            <a:noFill/>
          </a:ln>
        </p:spPr>
        <p:txBody>
          <a:bodyPr vert="horz" wrap="square" lIns="120949" tIns="60475" rIns="120949" bIns="60475" numCol="1" anchor="t" anchorCtr="0" compatLnSpc="1">
            <a:prstTxWarp prst="textNoShape">
              <a:avLst/>
            </a:prstTxWarp>
          </a:bodyPr>
          <a:lstStyle/>
          <a:p>
            <a:endParaRPr lang="de-DE" sz="2381"/>
          </a:p>
        </p:txBody>
      </p:sp>
      <p:sp>
        <p:nvSpPr>
          <p:cNvPr id="5" name="Datumsplatzhalter 4" hidden="1"/>
          <p:cNvSpPr>
            <a:spLocks noGrp="1"/>
          </p:cNvSpPr>
          <p:nvPr>
            <p:ph type="dt" sz="half" idx="15"/>
          </p:nvPr>
        </p:nvSpPr>
        <p:spPr>
          <a:xfrm>
            <a:off x="381000" y="6953114"/>
            <a:ext cx="1142873" cy="380943"/>
          </a:xfrm>
        </p:spPr>
        <p:txBody>
          <a:bodyPr/>
          <a:lstStyle/>
          <a:p>
            <a:fld id="{30A2658B-9DCA-4C61-BE60-88DEF3D1D478}" type="datetime1">
              <a:rPr lang="de-DE" smtClean="0"/>
              <a:t>25.09.2023</a:t>
            </a:fld>
            <a:endParaRPr lang="de-DE"/>
          </a:p>
        </p:txBody>
      </p:sp>
      <p:sp>
        <p:nvSpPr>
          <p:cNvPr id="6" name="Fußzeilenplatzhalter 5" hidden="1"/>
          <p:cNvSpPr>
            <a:spLocks noGrp="1"/>
          </p:cNvSpPr>
          <p:nvPr>
            <p:ph type="ftr" sz="quarter" idx="16"/>
          </p:nvPr>
        </p:nvSpPr>
        <p:spPr>
          <a:xfrm>
            <a:off x="2762249" y="6953156"/>
            <a:ext cx="6666759" cy="380943"/>
          </a:xfrm>
        </p:spPr>
        <p:txBody>
          <a:bodyPr/>
          <a:lstStyle/>
          <a:p>
            <a:r>
              <a:rPr lang="de-DE"/>
              <a:t>Präsentationstitel/Autor/Veranstaltung</a:t>
            </a:r>
            <a:endParaRPr lang="de-DE" dirty="0"/>
          </a:p>
        </p:txBody>
      </p:sp>
      <p:sp>
        <p:nvSpPr>
          <p:cNvPr id="8" name="Foliennummernplatzhalter 7" hidden="1"/>
          <p:cNvSpPr>
            <a:spLocks noGrp="1"/>
          </p:cNvSpPr>
          <p:nvPr>
            <p:ph type="sldNum" sz="quarter" idx="17"/>
          </p:nvPr>
        </p:nvSpPr>
        <p:spPr>
          <a:xfrm>
            <a:off x="11049084" y="6953114"/>
            <a:ext cx="761915" cy="380943"/>
          </a:xfrm>
        </p:spPr>
        <p:txBody>
          <a:bodyPr/>
          <a:lstStyle/>
          <a:p>
            <a:fld id="{527F1E04-A1A3-475C-A843-CFD0985386EF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257475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234-98B7-49F4-85EF-8DAF56499769}" type="datetime1">
              <a:rPr lang="de-DE" smtClean="0"/>
              <a:t>25.09.2023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Präsentationstitel/Autor/Veranstaltung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40256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953499" y="1618959"/>
            <a:ext cx="2858420" cy="4382316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380083" y="1618959"/>
            <a:ext cx="8190589" cy="4380845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06BC5-04D9-4099-9923-D3D721330691}" type="datetime1">
              <a:rPr lang="de-DE" smtClean="0"/>
              <a:t>25.09.2023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Präsentationstitel/Autor/Veranstaltung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99159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239452" y="382166"/>
            <a:ext cx="8571547" cy="85616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81000" y="1619319"/>
            <a:ext cx="11428729" cy="43808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381000" y="6381636"/>
            <a:ext cx="1142873" cy="380943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323">
                <a:solidFill>
                  <a:schemeClr val="accent1"/>
                </a:solidFill>
              </a:defRPr>
            </a:lvl1pPr>
          </a:lstStyle>
          <a:p>
            <a:fld id="{30A2658B-9DCA-4C61-BE60-88DEF3D1D478}" type="datetime1">
              <a:rPr lang="de-DE" smtClean="0"/>
              <a:t>25.09.2023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762249" y="6381678"/>
            <a:ext cx="6666759" cy="380943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ctr">
              <a:defRPr sz="1323">
                <a:solidFill>
                  <a:schemeClr val="accent1"/>
                </a:solidFill>
              </a:defRPr>
            </a:lvl1pPr>
          </a:lstStyle>
          <a:p>
            <a:r>
              <a:rPr lang="de-DE"/>
              <a:t>Präsentationstitel/Autor/Veranstaltung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049084" y="6381636"/>
            <a:ext cx="761915" cy="380943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r">
              <a:defRPr sz="1323">
                <a:solidFill>
                  <a:schemeClr val="accent1"/>
                </a:solidFill>
              </a:defRPr>
            </a:lvl1pPr>
          </a:lstStyle>
          <a:p>
            <a:fld id="{527F1E04-A1A3-475C-A843-CFD0985386EF}" type="slidenum">
              <a:rPr lang="de-DE" smtClean="0"/>
              <a:pPr/>
              <a:t>‹#›</a:t>
            </a:fld>
            <a:endParaRPr lang="de-DE"/>
          </a:p>
        </p:txBody>
      </p:sp>
      <p:grpSp>
        <p:nvGrpSpPr>
          <p:cNvPr id="30" name="Gruppieren 29"/>
          <p:cNvGrpSpPr>
            <a:grpSpLocks noChangeAspect="1"/>
          </p:cNvGrpSpPr>
          <p:nvPr/>
        </p:nvGrpSpPr>
        <p:grpSpPr>
          <a:xfrm>
            <a:off x="381003" y="381211"/>
            <a:ext cx="2230877" cy="857122"/>
            <a:chOff x="7081838" y="144463"/>
            <a:chExt cx="1871662" cy="719137"/>
          </a:xfrm>
        </p:grpSpPr>
        <p:sp>
          <p:nvSpPr>
            <p:cNvPr id="10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7081838" y="144463"/>
              <a:ext cx="1871662" cy="719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1" name="Freeform 5"/>
            <p:cNvSpPr>
              <a:spLocks/>
            </p:cNvSpPr>
            <p:nvPr userDrawn="1"/>
          </p:nvSpPr>
          <p:spPr bwMode="auto">
            <a:xfrm>
              <a:off x="8216900" y="144463"/>
              <a:ext cx="455612" cy="392112"/>
            </a:xfrm>
            <a:custGeom>
              <a:avLst/>
              <a:gdLst>
                <a:gd name="T0" fmla="*/ 944 w 1277"/>
                <a:gd name="T1" fmla="*/ 552 h 1104"/>
                <a:gd name="T2" fmla="*/ 1277 w 1277"/>
                <a:gd name="T3" fmla="*/ 0 h 1104"/>
                <a:gd name="T4" fmla="*/ 0 w 1277"/>
                <a:gd name="T5" fmla="*/ 0 h 1104"/>
                <a:gd name="T6" fmla="*/ 0 w 1277"/>
                <a:gd name="T7" fmla="*/ 1104 h 1104"/>
                <a:gd name="T8" fmla="*/ 944 w 1277"/>
                <a:gd name="T9" fmla="*/ 552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7" h="1104">
                  <a:moveTo>
                    <a:pt x="944" y="552"/>
                  </a:moveTo>
                  <a:cubicBezTo>
                    <a:pt x="1110" y="357"/>
                    <a:pt x="1203" y="197"/>
                    <a:pt x="1277" y="0"/>
                  </a:cubicBezTo>
                  <a:lnTo>
                    <a:pt x="0" y="0"/>
                  </a:lnTo>
                  <a:lnTo>
                    <a:pt x="0" y="1104"/>
                  </a:lnTo>
                  <a:cubicBezTo>
                    <a:pt x="253" y="1070"/>
                    <a:pt x="607" y="949"/>
                    <a:pt x="944" y="552"/>
                  </a:cubicBezTo>
                  <a:close/>
                </a:path>
              </a:pathLst>
            </a:custGeom>
            <a:solidFill>
              <a:srgbClr val="07529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3" name="Rectangle 6"/>
            <p:cNvSpPr>
              <a:spLocks noChangeArrowheads="1"/>
            </p:cNvSpPr>
            <p:nvPr userDrawn="1"/>
          </p:nvSpPr>
          <p:spPr bwMode="auto">
            <a:xfrm>
              <a:off x="8216900" y="654050"/>
              <a:ext cx="714375" cy="200025"/>
            </a:xfrm>
            <a:prstGeom prst="rect">
              <a:avLst/>
            </a:prstGeom>
            <a:solidFill>
              <a:srgbClr val="EAB90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8216900" y="144463"/>
              <a:ext cx="714375" cy="477837"/>
            </a:xfrm>
            <a:custGeom>
              <a:avLst/>
              <a:gdLst>
                <a:gd name="T0" fmla="*/ 2000 w 2000"/>
                <a:gd name="T1" fmla="*/ 0 h 1349"/>
                <a:gd name="T2" fmla="*/ 1361 w 2000"/>
                <a:gd name="T3" fmla="*/ 0 h 1349"/>
                <a:gd name="T4" fmla="*/ 992 w 2000"/>
                <a:gd name="T5" fmla="*/ 627 h 1349"/>
                <a:gd name="T6" fmla="*/ 0 w 2000"/>
                <a:gd name="T7" fmla="*/ 1193 h 1349"/>
                <a:gd name="T8" fmla="*/ 0 w 2000"/>
                <a:gd name="T9" fmla="*/ 1349 h 1349"/>
                <a:gd name="T10" fmla="*/ 2000 w 2000"/>
                <a:gd name="T11" fmla="*/ 1349 h 1349"/>
                <a:gd name="T12" fmla="*/ 2000 w 2000"/>
                <a:gd name="T13" fmla="*/ 0 h 1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00" h="1349">
                  <a:moveTo>
                    <a:pt x="2000" y="0"/>
                  </a:moveTo>
                  <a:lnTo>
                    <a:pt x="1361" y="0"/>
                  </a:lnTo>
                  <a:cubicBezTo>
                    <a:pt x="1285" y="208"/>
                    <a:pt x="1168" y="419"/>
                    <a:pt x="992" y="627"/>
                  </a:cubicBezTo>
                  <a:cubicBezTo>
                    <a:pt x="644" y="1036"/>
                    <a:pt x="259" y="1159"/>
                    <a:pt x="0" y="1193"/>
                  </a:cubicBezTo>
                  <a:lnTo>
                    <a:pt x="0" y="1349"/>
                  </a:lnTo>
                  <a:lnTo>
                    <a:pt x="2000" y="1349"/>
                  </a:lnTo>
                  <a:lnTo>
                    <a:pt x="2000" y="0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8250238" y="690563"/>
              <a:ext cx="95250" cy="131762"/>
            </a:xfrm>
            <a:custGeom>
              <a:avLst/>
              <a:gdLst>
                <a:gd name="T0" fmla="*/ 134 w 264"/>
                <a:gd name="T1" fmla="*/ 318 h 371"/>
                <a:gd name="T2" fmla="*/ 198 w 264"/>
                <a:gd name="T3" fmla="*/ 265 h 371"/>
                <a:gd name="T4" fmla="*/ 132 w 264"/>
                <a:gd name="T5" fmla="*/ 203 h 371"/>
                <a:gd name="T6" fmla="*/ 65 w 264"/>
                <a:gd name="T7" fmla="*/ 203 h 371"/>
                <a:gd name="T8" fmla="*/ 65 w 264"/>
                <a:gd name="T9" fmla="*/ 318 h 371"/>
                <a:gd name="T10" fmla="*/ 134 w 264"/>
                <a:gd name="T11" fmla="*/ 318 h 371"/>
                <a:gd name="T12" fmla="*/ 65 w 264"/>
                <a:gd name="T13" fmla="*/ 53 h 371"/>
                <a:gd name="T14" fmla="*/ 65 w 264"/>
                <a:gd name="T15" fmla="*/ 155 h 371"/>
                <a:gd name="T16" fmla="*/ 131 w 264"/>
                <a:gd name="T17" fmla="*/ 155 h 371"/>
                <a:gd name="T18" fmla="*/ 190 w 264"/>
                <a:gd name="T19" fmla="*/ 103 h 371"/>
                <a:gd name="T20" fmla="*/ 126 w 264"/>
                <a:gd name="T21" fmla="*/ 53 h 371"/>
                <a:gd name="T22" fmla="*/ 65 w 264"/>
                <a:gd name="T23" fmla="*/ 53 h 371"/>
                <a:gd name="T24" fmla="*/ 191 w 264"/>
                <a:gd name="T25" fmla="*/ 180 h 371"/>
                <a:gd name="T26" fmla="*/ 264 w 264"/>
                <a:gd name="T27" fmla="*/ 277 h 371"/>
                <a:gd name="T28" fmla="*/ 145 w 264"/>
                <a:gd name="T29" fmla="*/ 371 h 371"/>
                <a:gd name="T30" fmla="*/ 0 w 264"/>
                <a:gd name="T31" fmla="*/ 367 h 371"/>
                <a:gd name="T32" fmla="*/ 0 w 264"/>
                <a:gd name="T33" fmla="*/ 4 h 371"/>
                <a:gd name="T34" fmla="*/ 129 w 264"/>
                <a:gd name="T35" fmla="*/ 0 h 371"/>
                <a:gd name="T36" fmla="*/ 253 w 264"/>
                <a:gd name="T37" fmla="*/ 95 h 371"/>
                <a:gd name="T38" fmla="*/ 191 w 264"/>
                <a:gd name="T39" fmla="*/ 178 h 371"/>
                <a:gd name="T40" fmla="*/ 191 w 264"/>
                <a:gd name="T41" fmla="*/ 18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64" h="371">
                  <a:moveTo>
                    <a:pt x="134" y="318"/>
                  </a:moveTo>
                  <a:cubicBezTo>
                    <a:pt x="183" y="318"/>
                    <a:pt x="198" y="308"/>
                    <a:pt x="198" y="265"/>
                  </a:cubicBezTo>
                  <a:cubicBezTo>
                    <a:pt x="198" y="216"/>
                    <a:pt x="182" y="204"/>
                    <a:pt x="132" y="203"/>
                  </a:cubicBezTo>
                  <a:lnTo>
                    <a:pt x="65" y="203"/>
                  </a:lnTo>
                  <a:lnTo>
                    <a:pt x="65" y="318"/>
                  </a:lnTo>
                  <a:lnTo>
                    <a:pt x="134" y="318"/>
                  </a:lnTo>
                  <a:close/>
                  <a:moveTo>
                    <a:pt x="65" y="53"/>
                  </a:moveTo>
                  <a:lnTo>
                    <a:pt x="65" y="155"/>
                  </a:lnTo>
                  <a:lnTo>
                    <a:pt x="131" y="155"/>
                  </a:lnTo>
                  <a:cubicBezTo>
                    <a:pt x="175" y="155"/>
                    <a:pt x="190" y="145"/>
                    <a:pt x="190" y="103"/>
                  </a:cubicBezTo>
                  <a:cubicBezTo>
                    <a:pt x="190" y="63"/>
                    <a:pt x="174" y="53"/>
                    <a:pt x="126" y="53"/>
                  </a:cubicBezTo>
                  <a:lnTo>
                    <a:pt x="65" y="53"/>
                  </a:lnTo>
                  <a:close/>
                  <a:moveTo>
                    <a:pt x="191" y="180"/>
                  </a:moveTo>
                  <a:cubicBezTo>
                    <a:pt x="245" y="185"/>
                    <a:pt x="264" y="219"/>
                    <a:pt x="264" y="277"/>
                  </a:cubicBezTo>
                  <a:cubicBezTo>
                    <a:pt x="264" y="351"/>
                    <a:pt x="230" y="371"/>
                    <a:pt x="145" y="371"/>
                  </a:cubicBezTo>
                  <a:cubicBezTo>
                    <a:pt x="79" y="371"/>
                    <a:pt x="44" y="371"/>
                    <a:pt x="0" y="367"/>
                  </a:cubicBezTo>
                  <a:lnTo>
                    <a:pt x="0" y="4"/>
                  </a:lnTo>
                  <a:cubicBezTo>
                    <a:pt x="39" y="1"/>
                    <a:pt x="71" y="0"/>
                    <a:pt x="129" y="0"/>
                  </a:cubicBezTo>
                  <a:cubicBezTo>
                    <a:pt x="220" y="0"/>
                    <a:pt x="253" y="20"/>
                    <a:pt x="253" y="95"/>
                  </a:cubicBezTo>
                  <a:cubicBezTo>
                    <a:pt x="253" y="147"/>
                    <a:pt x="235" y="174"/>
                    <a:pt x="191" y="178"/>
                  </a:cubicBezTo>
                  <a:lnTo>
                    <a:pt x="191" y="1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6" name="Freeform 9"/>
            <p:cNvSpPr>
              <a:spLocks noEditPoints="1"/>
            </p:cNvSpPr>
            <p:nvPr userDrawn="1"/>
          </p:nvSpPr>
          <p:spPr bwMode="auto">
            <a:xfrm>
              <a:off x="8364538" y="688975"/>
              <a:ext cx="106362" cy="133350"/>
            </a:xfrm>
            <a:custGeom>
              <a:avLst/>
              <a:gdLst>
                <a:gd name="T0" fmla="*/ 69 w 299"/>
                <a:gd name="T1" fmla="*/ 188 h 376"/>
                <a:gd name="T2" fmla="*/ 149 w 299"/>
                <a:gd name="T3" fmla="*/ 320 h 376"/>
                <a:gd name="T4" fmla="*/ 230 w 299"/>
                <a:gd name="T5" fmla="*/ 188 h 376"/>
                <a:gd name="T6" fmla="*/ 149 w 299"/>
                <a:gd name="T7" fmla="*/ 56 h 376"/>
                <a:gd name="T8" fmla="*/ 69 w 299"/>
                <a:gd name="T9" fmla="*/ 188 h 376"/>
                <a:gd name="T10" fmla="*/ 299 w 299"/>
                <a:gd name="T11" fmla="*/ 188 h 376"/>
                <a:gd name="T12" fmla="*/ 149 w 299"/>
                <a:gd name="T13" fmla="*/ 376 h 376"/>
                <a:gd name="T14" fmla="*/ 0 w 299"/>
                <a:gd name="T15" fmla="*/ 188 h 376"/>
                <a:gd name="T16" fmla="*/ 149 w 299"/>
                <a:gd name="T17" fmla="*/ 0 h 376"/>
                <a:gd name="T18" fmla="*/ 299 w 299"/>
                <a:gd name="T19" fmla="*/ 188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9" h="376">
                  <a:moveTo>
                    <a:pt x="69" y="188"/>
                  </a:moveTo>
                  <a:cubicBezTo>
                    <a:pt x="69" y="289"/>
                    <a:pt x="88" y="320"/>
                    <a:pt x="149" y="320"/>
                  </a:cubicBezTo>
                  <a:cubicBezTo>
                    <a:pt x="211" y="320"/>
                    <a:pt x="230" y="289"/>
                    <a:pt x="230" y="188"/>
                  </a:cubicBezTo>
                  <a:cubicBezTo>
                    <a:pt x="230" y="87"/>
                    <a:pt x="211" y="56"/>
                    <a:pt x="149" y="56"/>
                  </a:cubicBezTo>
                  <a:cubicBezTo>
                    <a:pt x="88" y="56"/>
                    <a:pt x="69" y="87"/>
                    <a:pt x="69" y="188"/>
                  </a:cubicBezTo>
                  <a:close/>
                  <a:moveTo>
                    <a:pt x="299" y="188"/>
                  </a:moveTo>
                  <a:cubicBezTo>
                    <a:pt x="299" y="332"/>
                    <a:pt x="260" y="376"/>
                    <a:pt x="149" y="376"/>
                  </a:cubicBezTo>
                  <a:cubicBezTo>
                    <a:pt x="39" y="376"/>
                    <a:pt x="0" y="332"/>
                    <a:pt x="0" y="188"/>
                  </a:cubicBezTo>
                  <a:cubicBezTo>
                    <a:pt x="0" y="44"/>
                    <a:pt x="39" y="0"/>
                    <a:pt x="149" y="0"/>
                  </a:cubicBezTo>
                  <a:cubicBezTo>
                    <a:pt x="260" y="0"/>
                    <a:pt x="299" y="44"/>
                    <a:pt x="299" y="1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8496300" y="692150"/>
              <a:ext cx="104775" cy="128587"/>
            </a:xfrm>
            <a:custGeom>
              <a:avLst/>
              <a:gdLst>
                <a:gd name="T0" fmla="*/ 295 w 295"/>
                <a:gd name="T1" fmla="*/ 339 h 363"/>
                <a:gd name="T2" fmla="*/ 271 w 295"/>
                <a:gd name="T3" fmla="*/ 363 h 363"/>
                <a:gd name="T4" fmla="*/ 219 w 295"/>
                <a:gd name="T5" fmla="*/ 363 h 363"/>
                <a:gd name="T6" fmla="*/ 192 w 295"/>
                <a:gd name="T7" fmla="*/ 343 h 363"/>
                <a:gd name="T8" fmla="*/ 90 w 295"/>
                <a:gd name="T9" fmla="*/ 121 h 363"/>
                <a:gd name="T10" fmla="*/ 68 w 295"/>
                <a:gd name="T11" fmla="*/ 67 h 363"/>
                <a:gd name="T12" fmla="*/ 62 w 295"/>
                <a:gd name="T13" fmla="*/ 67 h 363"/>
                <a:gd name="T14" fmla="*/ 65 w 295"/>
                <a:gd name="T15" fmla="*/ 121 h 363"/>
                <a:gd name="T16" fmla="*/ 65 w 295"/>
                <a:gd name="T17" fmla="*/ 363 h 363"/>
                <a:gd name="T18" fmla="*/ 0 w 295"/>
                <a:gd name="T19" fmla="*/ 363 h 363"/>
                <a:gd name="T20" fmla="*/ 0 w 295"/>
                <a:gd name="T21" fmla="*/ 25 h 363"/>
                <a:gd name="T22" fmla="*/ 25 w 295"/>
                <a:gd name="T23" fmla="*/ 0 h 363"/>
                <a:gd name="T24" fmla="*/ 76 w 295"/>
                <a:gd name="T25" fmla="*/ 0 h 363"/>
                <a:gd name="T26" fmla="*/ 103 w 295"/>
                <a:gd name="T27" fmla="*/ 20 h 363"/>
                <a:gd name="T28" fmla="*/ 202 w 295"/>
                <a:gd name="T29" fmla="*/ 237 h 363"/>
                <a:gd name="T30" fmla="*/ 227 w 295"/>
                <a:gd name="T31" fmla="*/ 294 h 363"/>
                <a:gd name="T32" fmla="*/ 234 w 295"/>
                <a:gd name="T33" fmla="*/ 294 h 363"/>
                <a:gd name="T34" fmla="*/ 231 w 295"/>
                <a:gd name="T35" fmla="*/ 235 h 363"/>
                <a:gd name="T36" fmla="*/ 231 w 295"/>
                <a:gd name="T37" fmla="*/ 0 h 363"/>
                <a:gd name="T38" fmla="*/ 295 w 295"/>
                <a:gd name="T39" fmla="*/ 0 h 363"/>
                <a:gd name="T40" fmla="*/ 295 w 295"/>
                <a:gd name="T41" fmla="*/ 339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5" h="363">
                  <a:moveTo>
                    <a:pt x="295" y="339"/>
                  </a:moveTo>
                  <a:cubicBezTo>
                    <a:pt x="295" y="355"/>
                    <a:pt x="287" y="363"/>
                    <a:pt x="271" y="363"/>
                  </a:cubicBezTo>
                  <a:lnTo>
                    <a:pt x="219" y="363"/>
                  </a:lnTo>
                  <a:cubicBezTo>
                    <a:pt x="205" y="363"/>
                    <a:pt x="197" y="357"/>
                    <a:pt x="192" y="343"/>
                  </a:cubicBezTo>
                  <a:lnTo>
                    <a:pt x="90" y="121"/>
                  </a:lnTo>
                  <a:cubicBezTo>
                    <a:pt x="83" y="106"/>
                    <a:pt x="72" y="84"/>
                    <a:pt x="68" y="67"/>
                  </a:cubicBezTo>
                  <a:lnTo>
                    <a:pt x="62" y="67"/>
                  </a:lnTo>
                  <a:cubicBezTo>
                    <a:pt x="64" y="85"/>
                    <a:pt x="65" y="104"/>
                    <a:pt x="65" y="121"/>
                  </a:cubicBezTo>
                  <a:lnTo>
                    <a:pt x="65" y="363"/>
                  </a:lnTo>
                  <a:lnTo>
                    <a:pt x="0" y="363"/>
                  </a:lnTo>
                  <a:lnTo>
                    <a:pt x="0" y="25"/>
                  </a:lnTo>
                  <a:cubicBezTo>
                    <a:pt x="0" y="9"/>
                    <a:pt x="9" y="0"/>
                    <a:pt x="25" y="0"/>
                  </a:cubicBezTo>
                  <a:lnTo>
                    <a:pt x="76" y="0"/>
                  </a:lnTo>
                  <a:cubicBezTo>
                    <a:pt x="90" y="0"/>
                    <a:pt x="97" y="7"/>
                    <a:pt x="103" y="20"/>
                  </a:cubicBezTo>
                  <a:lnTo>
                    <a:pt x="202" y="237"/>
                  </a:lnTo>
                  <a:cubicBezTo>
                    <a:pt x="209" y="252"/>
                    <a:pt x="219" y="274"/>
                    <a:pt x="227" y="294"/>
                  </a:cubicBezTo>
                  <a:lnTo>
                    <a:pt x="234" y="294"/>
                  </a:lnTo>
                  <a:cubicBezTo>
                    <a:pt x="232" y="274"/>
                    <a:pt x="231" y="254"/>
                    <a:pt x="231" y="235"/>
                  </a:cubicBezTo>
                  <a:lnTo>
                    <a:pt x="231" y="0"/>
                  </a:lnTo>
                  <a:lnTo>
                    <a:pt x="295" y="0"/>
                  </a:lnTo>
                  <a:lnTo>
                    <a:pt x="295" y="3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8629650" y="692150"/>
              <a:ext cx="104775" cy="128587"/>
            </a:xfrm>
            <a:custGeom>
              <a:avLst/>
              <a:gdLst>
                <a:gd name="T0" fmla="*/ 295 w 295"/>
                <a:gd name="T1" fmla="*/ 339 h 363"/>
                <a:gd name="T2" fmla="*/ 271 w 295"/>
                <a:gd name="T3" fmla="*/ 363 h 363"/>
                <a:gd name="T4" fmla="*/ 219 w 295"/>
                <a:gd name="T5" fmla="*/ 363 h 363"/>
                <a:gd name="T6" fmla="*/ 191 w 295"/>
                <a:gd name="T7" fmla="*/ 343 h 363"/>
                <a:gd name="T8" fmla="*/ 89 w 295"/>
                <a:gd name="T9" fmla="*/ 121 h 363"/>
                <a:gd name="T10" fmla="*/ 68 w 295"/>
                <a:gd name="T11" fmla="*/ 67 h 363"/>
                <a:gd name="T12" fmla="*/ 62 w 295"/>
                <a:gd name="T13" fmla="*/ 67 h 363"/>
                <a:gd name="T14" fmla="*/ 65 w 295"/>
                <a:gd name="T15" fmla="*/ 121 h 363"/>
                <a:gd name="T16" fmla="*/ 65 w 295"/>
                <a:gd name="T17" fmla="*/ 363 h 363"/>
                <a:gd name="T18" fmla="*/ 0 w 295"/>
                <a:gd name="T19" fmla="*/ 363 h 363"/>
                <a:gd name="T20" fmla="*/ 0 w 295"/>
                <a:gd name="T21" fmla="*/ 25 h 363"/>
                <a:gd name="T22" fmla="*/ 25 w 295"/>
                <a:gd name="T23" fmla="*/ 0 h 363"/>
                <a:gd name="T24" fmla="*/ 76 w 295"/>
                <a:gd name="T25" fmla="*/ 0 h 363"/>
                <a:gd name="T26" fmla="*/ 103 w 295"/>
                <a:gd name="T27" fmla="*/ 20 h 363"/>
                <a:gd name="T28" fmla="*/ 202 w 295"/>
                <a:gd name="T29" fmla="*/ 237 h 363"/>
                <a:gd name="T30" fmla="*/ 227 w 295"/>
                <a:gd name="T31" fmla="*/ 294 h 363"/>
                <a:gd name="T32" fmla="*/ 233 w 295"/>
                <a:gd name="T33" fmla="*/ 294 h 363"/>
                <a:gd name="T34" fmla="*/ 231 w 295"/>
                <a:gd name="T35" fmla="*/ 235 h 363"/>
                <a:gd name="T36" fmla="*/ 231 w 295"/>
                <a:gd name="T37" fmla="*/ 0 h 363"/>
                <a:gd name="T38" fmla="*/ 295 w 295"/>
                <a:gd name="T39" fmla="*/ 0 h 363"/>
                <a:gd name="T40" fmla="*/ 295 w 295"/>
                <a:gd name="T41" fmla="*/ 339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5" h="363">
                  <a:moveTo>
                    <a:pt x="295" y="339"/>
                  </a:moveTo>
                  <a:cubicBezTo>
                    <a:pt x="295" y="355"/>
                    <a:pt x="286" y="363"/>
                    <a:pt x="271" y="363"/>
                  </a:cubicBezTo>
                  <a:lnTo>
                    <a:pt x="219" y="363"/>
                  </a:lnTo>
                  <a:cubicBezTo>
                    <a:pt x="204" y="363"/>
                    <a:pt x="197" y="357"/>
                    <a:pt x="191" y="343"/>
                  </a:cubicBezTo>
                  <a:lnTo>
                    <a:pt x="89" y="121"/>
                  </a:lnTo>
                  <a:cubicBezTo>
                    <a:pt x="83" y="106"/>
                    <a:pt x="72" y="84"/>
                    <a:pt x="68" y="67"/>
                  </a:cubicBezTo>
                  <a:lnTo>
                    <a:pt x="62" y="67"/>
                  </a:lnTo>
                  <a:cubicBezTo>
                    <a:pt x="64" y="85"/>
                    <a:pt x="65" y="104"/>
                    <a:pt x="65" y="121"/>
                  </a:cubicBezTo>
                  <a:lnTo>
                    <a:pt x="65" y="363"/>
                  </a:lnTo>
                  <a:lnTo>
                    <a:pt x="0" y="363"/>
                  </a:lnTo>
                  <a:lnTo>
                    <a:pt x="0" y="25"/>
                  </a:lnTo>
                  <a:cubicBezTo>
                    <a:pt x="0" y="9"/>
                    <a:pt x="9" y="0"/>
                    <a:pt x="25" y="0"/>
                  </a:cubicBezTo>
                  <a:lnTo>
                    <a:pt x="76" y="0"/>
                  </a:lnTo>
                  <a:cubicBezTo>
                    <a:pt x="90" y="0"/>
                    <a:pt x="97" y="7"/>
                    <a:pt x="103" y="20"/>
                  </a:cubicBezTo>
                  <a:lnTo>
                    <a:pt x="202" y="237"/>
                  </a:lnTo>
                  <a:cubicBezTo>
                    <a:pt x="209" y="252"/>
                    <a:pt x="219" y="274"/>
                    <a:pt x="227" y="294"/>
                  </a:cubicBezTo>
                  <a:lnTo>
                    <a:pt x="233" y="294"/>
                  </a:lnTo>
                  <a:cubicBezTo>
                    <a:pt x="232" y="274"/>
                    <a:pt x="231" y="254"/>
                    <a:pt x="231" y="235"/>
                  </a:cubicBezTo>
                  <a:lnTo>
                    <a:pt x="231" y="0"/>
                  </a:lnTo>
                  <a:lnTo>
                    <a:pt x="295" y="0"/>
                  </a:lnTo>
                  <a:lnTo>
                    <a:pt x="295" y="3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7081838" y="695058"/>
              <a:ext cx="95250" cy="130175"/>
            </a:xfrm>
            <a:custGeom>
              <a:avLst/>
              <a:gdLst>
                <a:gd name="T0" fmla="*/ 267 w 267"/>
                <a:gd name="T1" fmla="*/ 223 h 370"/>
                <a:gd name="T2" fmla="*/ 136 w 267"/>
                <a:gd name="T3" fmla="*/ 370 h 370"/>
                <a:gd name="T4" fmla="*/ 0 w 267"/>
                <a:gd name="T5" fmla="*/ 223 h 370"/>
                <a:gd name="T6" fmla="*/ 0 w 267"/>
                <a:gd name="T7" fmla="*/ 0 h 370"/>
                <a:gd name="T8" fmla="*/ 53 w 267"/>
                <a:gd name="T9" fmla="*/ 0 h 370"/>
                <a:gd name="T10" fmla="*/ 53 w 267"/>
                <a:gd name="T11" fmla="*/ 223 h 370"/>
                <a:gd name="T12" fmla="*/ 134 w 267"/>
                <a:gd name="T13" fmla="*/ 323 h 370"/>
                <a:gd name="T14" fmla="*/ 215 w 267"/>
                <a:gd name="T15" fmla="*/ 223 h 370"/>
                <a:gd name="T16" fmla="*/ 215 w 267"/>
                <a:gd name="T17" fmla="*/ 0 h 370"/>
                <a:gd name="T18" fmla="*/ 267 w 267"/>
                <a:gd name="T19" fmla="*/ 0 h 370"/>
                <a:gd name="T20" fmla="*/ 267 w 267"/>
                <a:gd name="T21" fmla="*/ 223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7" h="370">
                  <a:moveTo>
                    <a:pt x="267" y="223"/>
                  </a:moveTo>
                  <a:cubicBezTo>
                    <a:pt x="267" y="330"/>
                    <a:pt x="232" y="370"/>
                    <a:pt x="136" y="370"/>
                  </a:cubicBezTo>
                  <a:cubicBezTo>
                    <a:pt x="36" y="370"/>
                    <a:pt x="0" y="330"/>
                    <a:pt x="0" y="223"/>
                  </a:cubicBezTo>
                  <a:lnTo>
                    <a:pt x="0" y="0"/>
                  </a:lnTo>
                  <a:lnTo>
                    <a:pt x="53" y="0"/>
                  </a:lnTo>
                  <a:lnTo>
                    <a:pt x="53" y="223"/>
                  </a:lnTo>
                  <a:cubicBezTo>
                    <a:pt x="53" y="298"/>
                    <a:pt x="73" y="323"/>
                    <a:pt x="134" y="323"/>
                  </a:cubicBezTo>
                  <a:cubicBezTo>
                    <a:pt x="193" y="323"/>
                    <a:pt x="215" y="298"/>
                    <a:pt x="215" y="223"/>
                  </a:cubicBezTo>
                  <a:lnTo>
                    <a:pt x="215" y="0"/>
                  </a:lnTo>
                  <a:lnTo>
                    <a:pt x="267" y="0"/>
                  </a:lnTo>
                  <a:lnTo>
                    <a:pt x="267" y="223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7207250" y="695058"/>
              <a:ext cx="101600" cy="128587"/>
            </a:xfrm>
            <a:custGeom>
              <a:avLst/>
              <a:gdLst>
                <a:gd name="T0" fmla="*/ 284 w 284"/>
                <a:gd name="T1" fmla="*/ 343 h 363"/>
                <a:gd name="T2" fmla="*/ 265 w 284"/>
                <a:gd name="T3" fmla="*/ 363 h 363"/>
                <a:gd name="T4" fmla="*/ 215 w 284"/>
                <a:gd name="T5" fmla="*/ 363 h 363"/>
                <a:gd name="T6" fmla="*/ 192 w 284"/>
                <a:gd name="T7" fmla="*/ 347 h 363"/>
                <a:gd name="T8" fmla="*/ 79 w 284"/>
                <a:gd name="T9" fmla="*/ 100 h 363"/>
                <a:gd name="T10" fmla="*/ 57 w 284"/>
                <a:gd name="T11" fmla="*/ 49 h 363"/>
                <a:gd name="T12" fmla="*/ 50 w 284"/>
                <a:gd name="T13" fmla="*/ 49 h 363"/>
                <a:gd name="T14" fmla="*/ 53 w 284"/>
                <a:gd name="T15" fmla="*/ 100 h 363"/>
                <a:gd name="T16" fmla="*/ 53 w 284"/>
                <a:gd name="T17" fmla="*/ 363 h 363"/>
                <a:gd name="T18" fmla="*/ 0 w 284"/>
                <a:gd name="T19" fmla="*/ 363 h 363"/>
                <a:gd name="T20" fmla="*/ 0 w 284"/>
                <a:gd name="T21" fmla="*/ 21 h 363"/>
                <a:gd name="T22" fmla="*/ 20 w 284"/>
                <a:gd name="T23" fmla="*/ 0 h 363"/>
                <a:gd name="T24" fmla="*/ 68 w 284"/>
                <a:gd name="T25" fmla="*/ 0 h 363"/>
                <a:gd name="T26" fmla="*/ 92 w 284"/>
                <a:gd name="T27" fmla="*/ 17 h 363"/>
                <a:gd name="T28" fmla="*/ 202 w 284"/>
                <a:gd name="T29" fmla="*/ 257 h 363"/>
                <a:gd name="T30" fmla="*/ 227 w 284"/>
                <a:gd name="T31" fmla="*/ 312 h 363"/>
                <a:gd name="T32" fmla="*/ 235 w 284"/>
                <a:gd name="T33" fmla="*/ 312 h 363"/>
                <a:gd name="T34" fmla="*/ 232 w 284"/>
                <a:gd name="T35" fmla="*/ 255 h 363"/>
                <a:gd name="T36" fmla="*/ 232 w 284"/>
                <a:gd name="T37" fmla="*/ 0 h 363"/>
                <a:gd name="T38" fmla="*/ 284 w 284"/>
                <a:gd name="T39" fmla="*/ 0 h 363"/>
                <a:gd name="T40" fmla="*/ 284 w 284"/>
                <a:gd name="T41" fmla="*/ 343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4" h="363">
                  <a:moveTo>
                    <a:pt x="284" y="343"/>
                  </a:moveTo>
                  <a:cubicBezTo>
                    <a:pt x="284" y="356"/>
                    <a:pt x="277" y="363"/>
                    <a:pt x="265" y="363"/>
                  </a:cubicBezTo>
                  <a:lnTo>
                    <a:pt x="215" y="363"/>
                  </a:lnTo>
                  <a:cubicBezTo>
                    <a:pt x="203" y="363"/>
                    <a:pt x="197" y="358"/>
                    <a:pt x="192" y="347"/>
                  </a:cubicBezTo>
                  <a:lnTo>
                    <a:pt x="79" y="100"/>
                  </a:lnTo>
                  <a:cubicBezTo>
                    <a:pt x="73" y="86"/>
                    <a:pt x="62" y="64"/>
                    <a:pt x="57" y="49"/>
                  </a:cubicBezTo>
                  <a:lnTo>
                    <a:pt x="50" y="49"/>
                  </a:lnTo>
                  <a:cubicBezTo>
                    <a:pt x="52" y="66"/>
                    <a:pt x="53" y="83"/>
                    <a:pt x="53" y="100"/>
                  </a:cubicBezTo>
                  <a:lnTo>
                    <a:pt x="53" y="363"/>
                  </a:lnTo>
                  <a:lnTo>
                    <a:pt x="0" y="363"/>
                  </a:lnTo>
                  <a:lnTo>
                    <a:pt x="0" y="21"/>
                  </a:lnTo>
                  <a:cubicBezTo>
                    <a:pt x="0" y="7"/>
                    <a:pt x="7" y="0"/>
                    <a:pt x="20" y="0"/>
                  </a:cubicBezTo>
                  <a:lnTo>
                    <a:pt x="68" y="0"/>
                  </a:lnTo>
                  <a:cubicBezTo>
                    <a:pt x="80" y="0"/>
                    <a:pt x="86" y="6"/>
                    <a:pt x="92" y="17"/>
                  </a:cubicBezTo>
                  <a:lnTo>
                    <a:pt x="202" y="257"/>
                  </a:lnTo>
                  <a:cubicBezTo>
                    <a:pt x="208" y="272"/>
                    <a:pt x="219" y="293"/>
                    <a:pt x="227" y="312"/>
                  </a:cubicBezTo>
                  <a:lnTo>
                    <a:pt x="235" y="312"/>
                  </a:lnTo>
                  <a:cubicBezTo>
                    <a:pt x="233" y="293"/>
                    <a:pt x="232" y="274"/>
                    <a:pt x="232" y="255"/>
                  </a:cubicBezTo>
                  <a:lnTo>
                    <a:pt x="232" y="0"/>
                  </a:lnTo>
                  <a:lnTo>
                    <a:pt x="284" y="0"/>
                  </a:lnTo>
                  <a:lnTo>
                    <a:pt x="284" y="343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1" name="Rectangle 14"/>
            <p:cNvSpPr>
              <a:spLocks noChangeArrowheads="1"/>
            </p:cNvSpPr>
            <p:nvPr userDrawn="1"/>
          </p:nvSpPr>
          <p:spPr bwMode="auto">
            <a:xfrm>
              <a:off x="7340600" y="695058"/>
              <a:ext cx="19050" cy="128587"/>
            </a:xfrm>
            <a:prstGeom prst="rect">
              <a:avLst/>
            </a:pr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7378701" y="695058"/>
              <a:ext cx="109537" cy="128587"/>
            </a:xfrm>
            <a:custGeom>
              <a:avLst/>
              <a:gdLst>
                <a:gd name="T0" fmla="*/ 199 w 306"/>
                <a:gd name="T1" fmla="*/ 348 h 363"/>
                <a:gd name="T2" fmla="*/ 179 w 306"/>
                <a:gd name="T3" fmla="*/ 363 h 363"/>
                <a:gd name="T4" fmla="*/ 128 w 306"/>
                <a:gd name="T5" fmla="*/ 363 h 363"/>
                <a:gd name="T6" fmla="*/ 108 w 306"/>
                <a:gd name="T7" fmla="*/ 348 h 363"/>
                <a:gd name="T8" fmla="*/ 0 w 306"/>
                <a:gd name="T9" fmla="*/ 0 h 363"/>
                <a:gd name="T10" fmla="*/ 55 w 306"/>
                <a:gd name="T11" fmla="*/ 0 h 363"/>
                <a:gd name="T12" fmla="*/ 137 w 306"/>
                <a:gd name="T13" fmla="*/ 283 h 363"/>
                <a:gd name="T14" fmla="*/ 147 w 306"/>
                <a:gd name="T15" fmla="*/ 323 h 363"/>
                <a:gd name="T16" fmla="*/ 161 w 306"/>
                <a:gd name="T17" fmla="*/ 323 h 363"/>
                <a:gd name="T18" fmla="*/ 171 w 306"/>
                <a:gd name="T19" fmla="*/ 283 h 363"/>
                <a:gd name="T20" fmla="*/ 252 w 306"/>
                <a:gd name="T21" fmla="*/ 0 h 363"/>
                <a:gd name="T22" fmla="*/ 306 w 306"/>
                <a:gd name="T23" fmla="*/ 0 h 363"/>
                <a:gd name="T24" fmla="*/ 199 w 306"/>
                <a:gd name="T25" fmla="*/ 348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6" h="363">
                  <a:moveTo>
                    <a:pt x="199" y="348"/>
                  </a:moveTo>
                  <a:cubicBezTo>
                    <a:pt x="197" y="357"/>
                    <a:pt x="189" y="363"/>
                    <a:pt x="179" y="363"/>
                  </a:cubicBezTo>
                  <a:lnTo>
                    <a:pt x="128" y="363"/>
                  </a:lnTo>
                  <a:cubicBezTo>
                    <a:pt x="118" y="363"/>
                    <a:pt x="110" y="357"/>
                    <a:pt x="108" y="348"/>
                  </a:cubicBezTo>
                  <a:lnTo>
                    <a:pt x="0" y="0"/>
                  </a:lnTo>
                  <a:lnTo>
                    <a:pt x="55" y="0"/>
                  </a:lnTo>
                  <a:lnTo>
                    <a:pt x="137" y="283"/>
                  </a:lnTo>
                  <a:cubicBezTo>
                    <a:pt x="140" y="296"/>
                    <a:pt x="143" y="310"/>
                    <a:pt x="147" y="323"/>
                  </a:cubicBezTo>
                  <a:lnTo>
                    <a:pt x="161" y="323"/>
                  </a:lnTo>
                  <a:cubicBezTo>
                    <a:pt x="163" y="310"/>
                    <a:pt x="167" y="296"/>
                    <a:pt x="171" y="283"/>
                  </a:cubicBezTo>
                  <a:lnTo>
                    <a:pt x="252" y="0"/>
                  </a:lnTo>
                  <a:lnTo>
                    <a:pt x="306" y="0"/>
                  </a:lnTo>
                  <a:lnTo>
                    <a:pt x="199" y="348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7505700" y="695058"/>
              <a:ext cx="80962" cy="128587"/>
            </a:xfrm>
            <a:custGeom>
              <a:avLst/>
              <a:gdLst>
                <a:gd name="T0" fmla="*/ 228 w 228"/>
                <a:gd name="T1" fmla="*/ 361 h 365"/>
                <a:gd name="T2" fmla="*/ 73 w 228"/>
                <a:gd name="T3" fmla="*/ 365 h 365"/>
                <a:gd name="T4" fmla="*/ 0 w 228"/>
                <a:gd name="T5" fmla="*/ 300 h 365"/>
                <a:gd name="T6" fmla="*/ 0 w 228"/>
                <a:gd name="T7" fmla="*/ 65 h 365"/>
                <a:gd name="T8" fmla="*/ 73 w 228"/>
                <a:gd name="T9" fmla="*/ 0 h 365"/>
                <a:gd name="T10" fmla="*/ 228 w 228"/>
                <a:gd name="T11" fmla="*/ 4 h 365"/>
                <a:gd name="T12" fmla="*/ 226 w 228"/>
                <a:gd name="T13" fmla="*/ 45 h 365"/>
                <a:gd name="T14" fmla="*/ 82 w 228"/>
                <a:gd name="T15" fmla="*/ 45 h 365"/>
                <a:gd name="T16" fmla="*/ 53 w 228"/>
                <a:gd name="T17" fmla="*/ 79 h 365"/>
                <a:gd name="T18" fmla="*/ 53 w 228"/>
                <a:gd name="T19" fmla="*/ 152 h 365"/>
                <a:gd name="T20" fmla="*/ 206 w 228"/>
                <a:gd name="T21" fmla="*/ 152 h 365"/>
                <a:gd name="T22" fmla="*/ 206 w 228"/>
                <a:gd name="T23" fmla="*/ 194 h 365"/>
                <a:gd name="T24" fmla="*/ 53 w 228"/>
                <a:gd name="T25" fmla="*/ 194 h 365"/>
                <a:gd name="T26" fmla="*/ 53 w 228"/>
                <a:gd name="T27" fmla="*/ 287 h 365"/>
                <a:gd name="T28" fmla="*/ 82 w 228"/>
                <a:gd name="T29" fmla="*/ 321 h 365"/>
                <a:gd name="T30" fmla="*/ 226 w 228"/>
                <a:gd name="T31" fmla="*/ 321 h 365"/>
                <a:gd name="T32" fmla="*/ 228 w 228"/>
                <a:gd name="T33" fmla="*/ 361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8" h="365">
                  <a:moveTo>
                    <a:pt x="228" y="361"/>
                  </a:moveTo>
                  <a:cubicBezTo>
                    <a:pt x="180" y="365"/>
                    <a:pt x="125" y="365"/>
                    <a:pt x="73" y="365"/>
                  </a:cubicBezTo>
                  <a:cubicBezTo>
                    <a:pt x="27" y="365"/>
                    <a:pt x="0" y="340"/>
                    <a:pt x="0" y="300"/>
                  </a:cubicBezTo>
                  <a:lnTo>
                    <a:pt x="0" y="65"/>
                  </a:lnTo>
                  <a:cubicBezTo>
                    <a:pt x="0" y="25"/>
                    <a:pt x="28" y="0"/>
                    <a:pt x="73" y="0"/>
                  </a:cubicBezTo>
                  <a:cubicBezTo>
                    <a:pt x="125" y="0"/>
                    <a:pt x="180" y="0"/>
                    <a:pt x="228" y="4"/>
                  </a:cubicBezTo>
                  <a:lnTo>
                    <a:pt x="226" y="45"/>
                  </a:lnTo>
                  <a:lnTo>
                    <a:pt x="82" y="45"/>
                  </a:lnTo>
                  <a:cubicBezTo>
                    <a:pt x="61" y="45"/>
                    <a:pt x="53" y="54"/>
                    <a:pt x="53" y="79"/>
                  </a:cubicBezTo>
                  <a:lnTo>
                    <a:pt x="53" y="152"/>
                  </a:lnTo>
                  <a:lnTo>
                    <a:pt x="206" y="152"/>
                  </a:lnTo>
                  <a:lnTo>
                    <a:pt x="206" y="194"/>
                  </a:lnTo>
                  <a:lnTo>
                    <a:pt x="53" y="194"/>
                  </a:lnTo>
                  <a:lnTo>
                    <a:pt x="53" y="287"/>
                  </a:lnTo>
                  <a:cubicBezTo>
                    <a:pt x="53" y="312"/>
                    <a:pt x="61" y="321"/>
                    <a:pt x="82" y="321"/>
                  </a:cubicBezTo>
                  <a:lnTo>
                    <a:pt x="226" y="321"/>
                  </a:lnTo>
                  <a:lnTo>
                    <a:pt x="228" y="361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4" name="Freeform 17"/>
            <p:cNvSpPr>
              <a:spLocks noEditPoints="1"/>
            </p:cNvSpPr>
            <p:nvPr userDrawn="1"/>
          </p:nvSpPr>
          <p:spPr bwMode="auto">
            <a:xfrm>
              <a:off x="7612063" y="693471"/>
              <a:ext cx="92075" cy="130175"/>
            </a:xfrm>
            <a:custGeom>
              <a:avLst/>
              <a:gdLst>
                <a:gd name="T0" fmla="*/ 126 w 260"/>
                <a:gd name="T1" fmla="*/ 173 h 367"/>
                <a:gd name="T2" fmla="*/ 194 w 260"/>
                <a:gd name="T3" fmla="*/ 108 h 367"/>
                <a:gd name="T4" fmla="*/ 126 w 260"/>
                <a:gd name="T5" fmla="*/ 45 h 367"/>
                <a:gd name="T6" fmla="*/ 52 w 260"/>
                <a:gd name="T7" fmla="*/ 45 h 367"/>
                <a:gd name="T8" fmla="*/ 52 w 260"/>
                <a:gd name="T9" fmla="*/ 173 h 367"/>
                <a:gd name="T10" fmla="*/ 126 w 260"/>
                <a:gd name="T11" fmla="*/ 173 h 367"/>
                <a:gd name="T12" fmla="*/ 204 w 260"/>
                <a:gd name="T13" fmla="*/ 367 h 367"/>
                <a:gd name="T14" fmla="*/ 173 w 260"/>
                <a:gd name="T15" fmla="*/ 254 h 367"/>
                <a:gd name="T16" fmla="*/ 127 w 260"/>
                <a:gd name="T17" fmla="*/ 218 h 367"/>
                <a:gd name="T18" fmla="*/ 52 w 260"/>
                <a:gd name="T19" fmla="*/ 217 h 367"/>
                <a:gd name="T20" fmla="*/ 52 w 260"/>
                <a:gd name="T21" fmla="*/ 367 h 367"/>
                <a:gd name="T22" fmla="*/ 0 w 260"/>
                <a:gd name="T23" fmla="*/ 367 h 367"/>
                <a:gd name="T24" fmla="*/ 0 w 260"/>
                <a:gd name="T25" fmla="*/ 4 h 367"/>
                <a:gd name="T26" fmla="*/ 127 w 260"/>
                <a:gd name="T27" fmla="*/ 0 h 367"/>
                <a:gd name="T28" fmla="*/ 247 w 260"/>
                <a:gd name="T29" fmla="*/ 105 h 367"/>
                <a:gd name="T30" fmla="*/ 180 w 260"/>
                <a:gd name="T31" fmla="*/ 197 h 367"/>
                <a:gd name="T32" fmla="*/ 180 w 260"/>
                <a:gd name="T33" fmla="*/ 200 h 367"/>
                <a:gd name="T34" fmla="*/ 226 w 260"/>
                <a:gd name="T35" fmla="*/ 252 h 367"/>
                <a:gd name="T36" fmla="*/ 260 w 260"/>
                <a:gd name="T37" fmla="*/ 367 h 367"/>
                <a:gd name="T38" fmla="*/ 204 w 260"/>
                <a:gd name="T39" fmla="*/ 367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60" h="367">
                  <a:moveTo>
                    <a:pt x="126" y="173"/>
                  </a:moveTo>
                  <a:cubicBezTo>
                    <a:pt x="177" y="172"/>
                    <a:pt x="194" y="158"/>
                    <a:pt x="194" y="108"/>
                  </a:cubicBezTo>
                  <a:cubicBezTo>
                    <a:pt x="194" y="58"/>
                    <a:pt x="177" y="45"/>
                    <a:pt x="126" y="45"/>
                  </a:cubicBezTo>
                  <a:cubicBezTo>
                    <a:pt x="98" y="45"/>
                    <a:pt x="72" y="45"/>
                    <a:pt x="52" y="45"/>
                  </a:cubicBezTo>
                  <a:lnTo>
                    <a:pt x="52" y="173"/>
                  </a:lnTo>
                  <a:lnTo>
                    <a:pt x="126" y="173"/>
                  </a:lnTo>
                  <a:close/>
                  <a:moveTo>
                    <a:pt x="204" y="367"/>
                  </a:moveTo>
                  <a:lnTo>
                    <a:pt x="173" y="254"/>
                  </a:lnTo>
                  <a:cubicBezTo>
                    <a:pt x="164" y="228"/>
                    <a:pt x="150" y="218"/>
                    <a:pt x="127" y="218"/>
                  </a:cubicBezTo>
                  <a:lnTo>
                    <a:pt x="52" y="217"/>
                  </a:lnTo>
                  <a:lnTo>
                    <a:pt x="52" y="367"/>
                  </a:lnTo>
                  <a:lnTo>
                    <a:pt x="0" y="367"/>
                  </a:lnTo>
                  <a:lnTo>
                    <a:pt x="0" y="4"/>
                  </a:lnTo>
                  <a:cubicBezTo>
                    <a:pt x="40" y="0"/>
                    <a:pt x="68" y="0"/>
                    <a:pt x="127" y="0"/>
                  </a:cubicBezTo>
                  <a:cubicBezTo>
                    <a:pt x="212" y="0"/>
                    <a:pt x="247" y="23"/>
                    <a:pt x="247" y="105"/>
                  </a:cubicBezTo>
                  <a:cubicBezTo>
                    <a:pt x="247" y="162"/>
                    <a:pt x="229" y="191"/>
                    <a:pt x="180" y="197"/>
                  </a:cubicBezTo>
                  <a:lnTo>
                    <a:pt x="180" y="200"/>
                  </a:lnTo>
                  <a:cubicBezTo>
                    <a:pt x="198" y="205"/>
                    <a:pt x="218" y="221"/>
                    <a:pt x="226" y="252"/>
                  </a:cubicBezTo>
                  <a:lnTo>
                    <a:pt x="260" y="367"/>
                  </a:lnTo>
                  <a:lnTo>
                    <a:pt x="204" y="36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723188" y="691883"/>
              <a:ext cx="85725" cy="133350"/>
            </a:xfrm>
            <a:custGeom>
              <a:avLst/>
              <a:gdLst>
                <a:gd name="T0" fmla="*/ 229 w 243"/>
                <a:gd name="T1" fmla="*/ 11 h 375"/>
                <a:gd name="T2" fmla="*/ 226 w 243"/>
                <a:gd name="T3" fmla="*/ 49 h 375"/>
                <a:gd name="T4" fmla="*/ 122 w 243"/>
                <a:gd name="T5" fmla="*/ 47 h 375"/>
                <a:gd name="T6" fmla="*/ 53 w 243"/>
                <a:gd name="T7" fmla="*/ 97 h 375"/>
                <a:gd name="T8" fmla="*/ 97 w 243"/>
                <a:gd name="T9" fmla="*/ 152 h 375"/>
                <a:gd name="T10" fmla="*/ 169 w 243"/>
                <a:gd name="T11" fmla="*/ 172 h 375"/>
                <a:gd name="T12" fmla="*/ 243 w 243"/>
                <a:gd name="T13" fmla="*/ 276 h 375"/>
                <a:gd name="T14" fmla="*/ 119 w 243"/>
                <a:gd name="T15" fmla="*/ 375 h 375"/>
                <a:gd name="T16" fmla="*/ 5 w 243"/>
                <a:gd name="T17" fmla="*/ 365 h 375"/>
                <a:gd name="T18" fmla="*/ 9 w 243"/>
                <a:gd name="T19" fmla="*/ 326 h 375"/>
                <a:gd name="T20" fmla="*/ 120 w 243"/>
                <a:gd name="T21" fmla="*/ 329 h 375"/>
                <a:gd name="T22" fmla="*/ 189 w 243"/>
                <a:gd name="T23" fmla="*/ 275 h 375"/>
                <a:gd name="T24" fmla="*/ 146 w 243"/>
                <a:gd name="T25" fmla="*/ 219 h 375"/>
                <a:gd name="T26" fmla="*/ 72 w 243"/>
                <a:gd name="T27" fmla="*/ 199 h 375"/>
                <a:gd name="T28" fmla="*/ 0 w 243"/>
                <a:gd name="T29" fmla="*/ 96 h 375"/>
                <a:gd name="T30" fmla="*/ 120 w 243"/>
                <a:gd name="T31" fmla="*/ 0 h 375"/>
                <a:gd name="T32" fmla="*/ 229 w 243"/>
                <a:gd name="T33" fmla="*/ 1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3" h="375">
                  <a:moveTo>
                    <a:pt x="229" y="11"/>
                  </a:moveTo>
                  <a:lnTo>
                    <a:pt x="226" y="49"/>
                  </a:lnTo>
                  <a:cubicBezTo>
                    <a:pt x="195" y="48"/>
                    <a:pt x="156" y="47"/>
                    <a:pt x="122" y="47"/>
                  </a:cubicBezTo>
                  <a:cubicBezTo>
                    <a:pt x="72" y="47"/>
                    <a:pt x="53" y="49"/>
                    <a:pt x="53" y="97"/>
                  </a:cubicBezTo>
                  <a:cubicBezTo>
                    <a:pt x="53" y="135"/>
                    <a:pt x="67" y="145"/>
                    <a:pt x="97" y="152"/>
                  </a:cubicBezTo>
                  <a:lnTo>
                    <a:pt x="169" y="172"/>
                  </a:lnTo>
                  <a:cubicBezTo>
                    <a:pt x="225" y="188"/>
                    <a:pt x="243" y="221"/>
                    <a:pt x="243" y="276"/>
                  </a:cubicBezTo>
                  <a:cubicBezTo>
                    <a:pt x="243" y="359"/>
                    <a:pt x="206" y="375"/>
                    <a:pt x="119" y="375"/>
                  </a:cubicBezTo>
                  <a:cubicBezTo>
                    <a:pt x="96" y="375"/>
                    <a:pt x="56" y="374"/>
                    <a:pt x="5" y="365"/>
                  </a:cubicBezTo>
                  <a:lnTo>
                    <a:pt x="9" y="326"/>
                  </a:lnTo>
                  <a:cubicBezTo>
                    <a:pt x="75" y="328"/>
                    <a:pt x="93" y="329"/>
                    <a:pt x="120" y="329"/>
                  </a:cubicBezTo>
                  <a:cubicBezTo>
                    <a:pt x="173" y="328"/>
                    <a:pt x="189" y="320"/>
                    <a:pt x="189" y="275"/>
                  </a:cubicBezTo>
                  <a:cubicBezTo>
                    <a:pt x="189" y="236"/>
                    <a:pt x="175" y="227"/>
                    <a:pt x="146" y="219"/>
                  </a:cubicBezTo>
                  <a:lnTo>
                    <a:pt x="72" y="199"/>
                  </a:lnTo>
                  <a:cubicBezTo>
                    <a:pt x="19" y="184"/>
                    <a:pt x="0" y="151"/>
                    <a:pt x="0" y="96"/>
                  </a:cubicBezTo>
                  <a:cubicBezTo>
                    <a:pt x="0" y="12"/>
                    <a:pt x="38" y="0"/>
                    <a:pt x="120" y="0"/>
                  </a:cubicBezTo>
                  <a:cubicBezTo>
                    <a:pt x="154" y="0"/>
                    <a:pt x="192" y="2"/>
                    <a:pt x="229" y="11"/>
                  </a:cubicBez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6" name="Rectangle 19"/>
            <p:cNvSpPr>
              <a:spLocks noChangeArrowheads="1"/>
            </p:cNvSpPr>
            <p:nvPr userDrawn="1"/>
          </p:nvSpPr>
          <p:spPr bwMode="auto">
            <a:xfrm>
              <a:off x="7834312" y="695058"/>
              <a:ext cx="19050" cy="128587"/>
            </a:xfrm>
            <a:prstGeom prst="rect">
              <a:avLst/>
            </a:pr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7" name="Freeform 20"/>
            <p:cNvSpPr>
              <a:spLocks/>
            </p:cNvSpPr>
            <p:nvPr userDrawn="1"/>
          </p:nvSpPr>
          <p:spPr bwMode="auto">
            <a:xfrm>
              <a:off x="7872413" y="695058"/>
              <a:ext cx="101600" cy="128587"/>
            </a:xfrm>
            <a:custGeom>
              <a:avLst/>
              <a:gdLst>
                <a:gd name="T0" fmla="*/ 168 w 283"/>
                <a:gd name="T1" fmla="*/ 47 h 363"/>
                <a:gd name="T2" fmla="*/ 168 w 283"/>
                <a:gd name="T3" fmla="*/ 363 h 363"/>
                <a:gd name="T4" fmla="*/ 114 w 283"/>
                <a:gd name="T5" fmla="*/ 363 h 363"/>
                <a:gd name="T6" fmla="*/ 114 w 283"/>
                <a:gd name="T7" fmla="*/ 47 h 363"/>
                <a:gd name="T8" fmla="*/ 0 w 283"/>
                <a:gd name="T9" fmla="*/ 47 h 363"/>
                <a:gd name="T10" fmla="*/ 0 w 283"/>
                <a:gd name="T11" fmla="*/ 0 h 363"/>
                <a:gd name="T12" fmla="*/ 283 w 283"/>
                <a:gd name="T13" fmla="*/ 0 h 363"/>
                <a:gd name="T14" fmla="*/ 283 w 283"/>
                <a:gd name="T15" fmla="*/ 47 h 363"/>
                <a:gd name="T16" fmla="*/ 168 w 283"/>
                <a:gd name="T17" fmla="*/ 47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3" h="363">
                  <a:moveTo>
                    <a:pt x="168" y="47"/>
                  </a:moveTo>
                  <a:lnTo>
                    <a:pt x="168" y="363"/>
                  </a:lnTo>
                  <a:lnTo>
                    <a:pt x="114" y="363"/>
                  </a:lnTo>
                  <a:lnTo>
                    <a:pt x="114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83" y="0"/>
                  </a:lnTo>
                  <a:lnTo>
                    <a:pt x="283" y="47"/>
                  </a:lnTo>
                  <a:lnTo>
                    <a:pt x="168" y="4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8" name="Freeform 21"/>
            <p:cNvSpPr>
              <a:spLocks noEditPoints="1"/>
            </p:cNvSpPr>
            <p:nvPr userDrawn="1"/>
          </p:nvSpPr>
          <p:spPr bwMode="auto">
            <a:xfrm>
              <a:off x="7969250" y="660133"/>
              <a:ext cx="114299" cy="163512"/>
            </a:xfrm>
            <a:custGeom>
              <a:avLst/>
              <a:gdLst>
                <a:gd name="T0" fmla="*/ 199 w 321"/>
                <a:gd name="T1" fmla="*/ 57 h 459"/>
                <a:gd name="T2" fmla="*/ 185 w 321"/>
                <a:gd name="T3" fmla="*/ 43 h 459"/>
                <a:gd name="T4" fmla="*/ 185 w 321"/>
                <a:gd name="T5" fmla="*/ 14 h 459"/>
                <a:gd name="T6" fmla="*/ 199 w 321"/>
                <a:gd name="T7" fmla="*/ 0 h 459"/>
                <a:gd name="T8" fmla="*/ 215 w 321"/>
                <a:gd name="T9" fmla="*/ 0 h 459"/>
                <a:gd name="T10" fmla="*/ 230 w 321"/>
                <a:gd name="T11" fmla="*/ 14 h 459"/>
                <a:gd name="T12" fmla="*/ 230 w 321"/>
                <a:gd name="T13" fmla="*/ 43 h 459"/>
                <a:gd name="T14" fmla="*/ 215 w 321"/>
                <a:gd name="T15" fmla="*/ 57 h 459"/>
                <a:gd name="T16" fmla="*/ 199 w 321"/>
                <a:gd name="T17" fmla="*/ 57 h 459"/>
                <a:gd name="T18" fmla="*/ 176 w 321"/>
                <a:gd name="T19" fmla="*/ 166 h 459"/>
                <a:gd name="T20" fmla="*/ 167 w 321"/>
                <a:gd name="T21" fmla="*/ 137 h 459"/>
                <a:gd name="T22" fmla="*/ 153 w 321"/>
                <a:gd name="T23" fmla="*/ 137 h 459"/>
                <a:gd name="T24" fmla="*/ 144 w 321"/>
                <a:gd name="T25" fmla="*/ 166 h 459"/>
                <a:gd name="T26" fmla="*/ 102 w 321"/>
                <a:gd name="T27" fmla="*/ 304 h 459"/>
                <a:gd name="T28" fmla="*/ 218 w 321"/>
                <a:gd name="T29" fmla="*/ 304 h 459"/>
                <a:gd name="T30" fmla="*/ 176 w 321"/>
                <a:gd name="T31" fmla="*/ 166 h 459"/>
                <a:gd name="T32" fmla="*/ 105 w 321"/>
                <a:gd name="T33" fmla="*/ 57 h 459"/>
                <a:gd name="T34" fmla="*/ 92 w 321"/>
                <a:gd name="T35" fmla="*/ 43 h 459"/>
                <a:gd name="T36" fmla="*/ 92 w 321"/>
                <a:gd name="T37" fmla="*/ 14 h 459"/>
                <a:gd name="T38" fmla="*/ 105 w 321"/>
                <a:gd name="T39" fmla="*/ 0 h 459"/>
                <a:gd name="T40" fmla="*/ 122 w 321"/>
                <a:gd name="T41" fmla="*/ 0 h 459"/>
                <a:gd name="T42" fmla="*/ 136 w 321"/>
                <a:gd name="T43" fmla="*/ 14 h 459"/>
                <a:gd name="T44" fmla="*/ 136 w 321"/>
                <a:gd name="T45" fmla="*/ 43 h 459"/>
                <a:gd name="T46" fmla="*/ 122 w 321"/>
                <a:gd name="T47" fmla="*/ 57 h 459"/>
                <a:gd name="T48" fmla="*/ 105 w 321"/>
                <a:gd name="T49" fmla="*/ 57 h 459"/>
                <a:gd name="T50" fmla="*/ 88 w 321"/>
                <a:gd name="T51" fmla="*/ 350 h 459"/>
                <a:gd name="T52" fmla="*/ 54 w 321"/>
                <a:gd name="T53" fmla="*/ 459 h 459"/>
                <a:gd name="T54" fmla="*/ 0 w 321"/>
                <a:gd name="T55" fmla="*/ 459 h 459"/>
                <a:gd name="T56" fmla="*/ 114 w 321"/>
                <a:gd name="T57" fmla="*/ 110 h 459"/>
                <a:gd name="T58" fmla="*/ 133 w 321"/>
                <a:gd name="T59" fmla="*/ 96 h 459"/>
                <a:gd name="T60" fmla="*/ 187 w 321"/>
                <a:gd name="T61" fmla="*/ 96 h 459"/>
                <a:gd name="T62" fmla="*/ 206 w 321"/>
                <a:gd name="T63" fmla="*/ 110 h 459"/>
                <a:gd name="T64" fmla="*/ 321 w 321"/>
                <a:gd name="T65" fmla="*/ 459 h 459"/>
                <a:gd name="T66" fmla="*/ 266 w 321"/>
                <a:gd name="T67" fmla="*/ 459 h 459"/>
                <a:gd name="T68" fmla="*/ 233 w 321"/>
                <a:gd name="T69" fmla="*/ 350 h 459"/>
                <a:gd name="T70" fmla="*/ 88 w 321"/>
                <a:gd name="T71" fmla="*/ 35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21" h="459">
                  <a:moveTo>
                    <a:pt x="199" y="57"/>
                  </a:moveTo>
                  <a:cubicBezTo>
                    <a:pt x="189" y="57"/>
                    <a:pt x="185" y="53"/>
                    <a:pt x="185" y="43"/>
                  </a:cubicBezTo>
                  <a:lnTo>
                    <a:pt x="185" y="14"/>
                  </a:lnTo>
                  <a:cubicBezTo>
                    <a:pt x="185" y="6"/>
                    <a:pt x="189" y="0"/>
                    <a:pt x="199" y="0"/>
                  </a:cubicBezTo>
                  <a:lnTo>
                    <a:pt x="215" y="0"/>
                  </a:lnTo>
                  <a:cubicBezTo>
                    <a:pt x="224" y="0"/>
                    <a:pt x="230" y="6"/>
                    <a:pt x="230" y="14"/>
                  </a:cubicBezTo>
                  <a:lnTo>
                    <a:pt x="230" y="43"/>
                  </a:lnTo>
                  <a:cubicBezTo>
                    <a:pt x="230" y="53"/>
                    <a:pt x="224" y="57"/>
                    <a:pt x="215" y="57"/>
                  </a:cubicBezTo>
                  <a:lnTo>
                    <a:pt x="199" y="57"/>
                  </a:lnTo>
                  <a:close/>
                  <a:moveTo>
                    <a:pt x="176" y="166"/>
                  </a:moveTo>
                  <a:cubicBezTo>
                    <a:pt x="173" y="157"/>
                    <a:pt x="170" y="146"/>
                    <a:pt x="167" y="137"/>
                  </a:cubicBezTo>
                  <a:lnTo>
                    <a:pt x="153" y="137"/>
                  </a:lnTo>
                  <a:cubicBezTo>
                    <a:pt x="150" y="146"/>
                    <a:pt x="147" y="157"/>
                    <a:pt x="144" y="166"/>
                  </a:cubicBezTo>
                  <a:lnTo>
                    <a:pt x="102" y="304"/>
                  </a:lnTo>
                  <a:lnTo>
                    <a:pt x="218" y="304"/>
                  </a:lnTo>
                  <a:lnTo>
                    <a:pt x="176" y="166"/>
                  </a:lnTo>
                  <a:close/>
                  <a:moveTo>
                    <a:pt x="105" y="57"/>
                  </a:moveTo>
                  <a:cubicBezTo>
                    <a:pt x="96" y="57"/>
                    <a:pt x="92" y="53"/>
                    <a:pt x="92" y="43"/>
                  </a:cubicBezTo>
                  <a:lnTo>
                    <a:pt x="92" y="14"/>
                  </a:lnTo>
                  <a:cubicBezTo>
                    <a:pt x="92" y="6"/>
                    <a:pt x="96" y="0"/>
                    <a:pt x="105" y="0"/>
                  </a:cubicBezTo>
                  <a:lnTo>
                    <a:pt x="122" y="0"/>
                  </a:lnTo>
                  <a:cubicBezTo>
                    <a:pt x="132" y="0"/>
                    <a:pt x="136" y="6"/>
                    <a:pt x="136" y="14"/>
                  </a:cubicBezTo>
                  <a:lnTo>
                    <a:pt x="136" y="43"/>
                  </a:lnTo>
                  <a:cubicBezTo>
                    <a:pt x="136" y="53"/>
                    <a:pt x="132" y="57"/>
                    <a:pt x="122" y="57"/>
                  </a:cubicBezTo>
                  <a:lnTo>
                    <a:pt x="105" y="57"/>
                  </a:lnTo>
                  <a:close/>
                  <a:moveTo>
                    <a:pt x="88" y="350"/>
                  </a:moveTo>
                  <a:lnTo>
                    <a:pt x="54" y="459"/>
                  </a:lnTo>
                  <a:lnTo>
                    <a:pt x="0" y="459"/>
                  </a:lnTo>
                  <a:lnTo>
                    <a:pt x="114" y="110"/>
                  </a:lnTo>
                  <a:cubicBezTo>
                    <a:pt x="116" y="102"/>
                    <a:pt x="124" y="96"/>
                    <a:pt x="133" y="96"/>
                  </a:cubicBezTo>
                  <a:lnTo>
                    <a:pt x="187" y="96"/>
                  </a:lnTo>
                  <a:cubicBezTo>
                    <a:pt x="196" y="96"/>
                    <a:pt x="204" y="102"/>
                    <a:pt x="206" y="110"/>
                  </a:cubicBezTo>
                  <a:lnTo>
                    <a:pt x="321" y="459"/>
                  </a:lnTo>
                  <a:lnTo>
                    <a:pt x="266" y="459"/>
                  </a:lnTo>
                  <a:lnTo>
                    <a:pt x="233" y="350"/>
                  </a:lnTo>
                  <a:lnTo>
                    <a:pt x="88" y="350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9" name="Freeform 22"/>
            <p:cNvSpPr>
              <a:spLocks/>
            </p:cNvSpPr>
            <p:nvPr userDrawn="1"/>
          </p:nvSpPr>
          <p:spPr bwMode="auto">
            <a:xfrm>
              <a:off x="8078788" y="695058"/>
              <a:ext cx="100012" cy="128587"/>
            </a:xfrm>
            <a:custGeom>
              <a:avLst/>
              <a:gdLst>
                <a:gd name="T0" fmla="*/ 167 w 282"/>
                <a:gd name="T1" fmla="*/ 47 h 363"/>
                <a:gd name="T2" fmla="*/ 167 w 282"/>
                <a:gd name="T3" fmla="*/ 363 h 363"/>
                <a:gd name="T4" fmla="*/ 114 w 282"/>
                <a:gd name="T5" fmla="*/ 363 h 363"/>
                <a:gd name="T6" fmla="*/ 114 w 282"/>
                <a:gd name="T7" fmla="*/ 47 h 363"/>
                <a:gd name="T8" fmla="*/ 0 w 282"/>
                <a:gd name="T9" fmla="*/ 47 h 363"/>
                <a:gd name="T10" fmla="*/ 0 w 282"/>
                <a:gd name="T11" fmla="*/ 0 h 363"/>
                <a:gd name="T12" fmla="*/ 282 w 282"/>
                <a:gd name="T13" fmla="*/ 0 h 363"/>
                <a:gd name="T14" fmla="*/ 282 w 282"/>
                <a:gd name="T15" fmla="*/ 47 h 363"/>
                <a:gd name="T16" fmla="*/ 167 w 282"/>
                <a:gd name="T17" fmla="*/ 47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2" h="363">
                  <a:moveTo>
                    <a:pt x="167" y="47"/>
                  </a:moveTo>
                  <a:lnTo>
                    <a:pt x="167" y="363"/>
                  </a:lnTo>
                  <a:lnTo>
                    <a:pt x="114" y="363"/>
                  </a:lnTo>
                  <a:lnTo>
                    <a:pt x="114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82" y="0"/>
                  </a:lnTo>
                  <a:lnTo>
                    <a:pt x="282" y="47"/>
                  </a:lnTo>
                  <a:lnTo>
                    <a:pt x="167" y="4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</p:grpSp>
      <p:cxnSp>
        <p:nvCxnSpPr>
          <p:cNvPr id="8" name="Gerade Verbindung 7"/>
          <p:cNvCxnSpPr/>
          <p:nvPr/>
        </p:nvCxnSpPr>
        <p:spPr>
          <a:xfrm>
            <a:off x="380082" y="6381636"/>
            <a:ext cx="1143183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948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hdr="0"/>
  <p:txStyles>
    <p:titleStyle>
      <a:lvl1pPr algn="l" defTabSz="1209477" rtl="0" eaLnBrk="1" latinLnBrk="0" hangingPunct="1">
        <a:lnSpc>
          <a:spcPts val="3439"/>
        </a:lnSpc>
        <a:spcBef>
          <a:spcPts val="794"/>
        </a:spcBef>
        <a:buNone/>
        <a:defRPr sz="3174" kern="1200" cap="all" baseline="0">
          <a:solidFill>
            <a:schemeClr val="accent3"/>
          </a:solidFill>
          <a:latin typeface="Exo 2 Semi Bold" pitchFamily="50" charset="0"/>
          <a:ea typeface="+mj-ea"/>
          <a:cs typeface="+mj-cs"/>
        </a:defRPr>
      </a:lvl1pPr>
    </p:titleStyle>
    <p:bodyStyle>
      <a:lvl1pPr marL="285703" indent="-285703" algn="l" defTabSz="1209477" rtl="0" eaLnBrk="1" latinLnBrk="0" hangingPunct="1">
        <a:spcBef>
          <a:spcPts val="794"/>
        </a:spcBef>
        <a:spcAft>
          <a:spcPts val="794"/>
        </a:spcAft>
        <a:buFont typeface="Calibri" panose="020F0502020204030204" pitchFamily="34" charset="0"/>
        <a:buChar char="−"/>
        <a:defRPr sz="2645" kern="1200">
          <a:solidFill>
            <a:schemeClr val="accent2"/>
          </a:solidFill>
          <a:latin typeface="+mn-lt"/>
          <a:ea typeface="+mn-ea"/>
          <a:cs typeface="+mn-cs"/>
        </a:defRPr>
      </a:lvl1pPr>
      <a:lvl2pPr marL="571406" indent="-285703" algn="l" defTabSz="1209477" rtl="0" eaLnBrk="1" latinLnBrk="0" hangingPunct="1">
        <a:spcBef>
          <a:spcPts val="794"/>
        </a:spcBef>
        <a:spcAft>
          <a:spcPts val="397"/>
        </a:spcAft>
        <a:buFont typeface="Calibri" panose="020F0502020204030204" pitchFamily="34" charset="0"/>
        <a:buChar char="−"/>
        <a:defRPr sz="2645" kern="1200">
          <a:solidFill>
            <a:schemeClr val="accent2"/>
          </a:solidFill>
          <a:latin typeface="+mn-lt"/>
          <a:ea typeface="+mn-ea"/>
          <a:cs typeface="+mn-cs"/>
        </a:defRPr>
      </a:lvl2pPr>
      <a:lvl3pPr marL="857110" indent="-285703" algn="l" defTabSz="1209477" rtl="0" eaLnBrk="1" latinLnBrk="0" hangingPunct="1">
        <a:spcBef>
          <a:spcPts val="397"/>
        </a:spcBef>
        <a:spcAft>
          <a:spcPts val="397"/>
        </a:spcAft>
        <a:buFont typeface="Calibri" panose="020F0502020204030204" pitchFamily="34" charset="0"/>
        <a:buChar char="−"/>
        <a:defRPr sz="2645" kern="1200">
          <a:solidFill>
            <a:schemeClr val="accent2"/>
          </a:solidFill>
          <a:latin typeface="+mn-lt"/>
          <a:ea typeface="+mn-ea"/>
          <a:cs typeface="+mn-cs"/>
        </a:defRPr>
      </a:lvl3pPr>
      <a:lvl4pPr marL="1142813" indent="-285703" algn="l" defTabSz="1209477" rtl="0" eaLnBrk="1" latinLnBrk="0" hangingPunct="1">
        <a:spcBef>
          <a:spcPts val="397"/>
        </a:spcBef>
        <a:buFont typeface="Calibri" panose="020F0502020204030204" pitchFamily="34" charset="0"/>
        <a:buChar char="−"/>
        <a:defRPr sz="2645" kern="1200">
          <a:solidFill>
            <a:schemeClr val="accent2"/>
          </a:solidFill>
          <a:latin typeface="+mn-lt"/>
          <a:ea typeface="+mn-ea"/>
          <a:cs typeface="+mn-cs"/>
        </a:defRPr>
      </a:lvl4pPr>
      <a:lvl5pPr marL="1428516" indent="-285703" algn="l" defTabSz="1209477" rtl="0" eaLnBrk="1" latinLnBrk="0" hangingPunct="1">
        <a:spcBef>
          <a:spcPts val="0"/>
        </a:spcBef>
        <a:buFont typeface="Calibri" panose="020F0502020204030204" pitchFamily="34" charset="0"/>
        <a:buChar char="−"/>
        <a:defRPr sz="2645" kern="1200">
          <a:solidFill>
            <a:schemeClr val="accent2"/>
          </a:solidFill>
          <a:latin typeface="+mn-lt"/>
          <a:ea typeface="+mn-ea"/>
          <a:cs typeface="+mn-cs"/>
        </a:defRPr>
      </a:lvl5pPr>
      <a:lvl6pPr marL="3326061" indent="-302369" algn="l" defTabSz="12094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645" kern="1200">
          <a:solidFill>
            <a:schemeClr val="tx1"/>
          </a:solidFill>
          <a:latin typeface="+mn-lt"/>
          <a:ea typeface="+mn-ea"/>
          <a:cs typeface="+mn-cs"/>
        </a:defRPr>
      </a:lvl6pPr>
      <a:lvl7pPr marL="3930800" indent="-302369" algn="l" defTabSz="12094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645" kern="1200">
          <a:solidFill>
            <a:schemeClr val="tx1"/>
          </a:solidFill>
          <a:latin typeface="+mn-lt"/>
          <a:ea typeface="+mn-ea"/>
          <a:cs typeface="+mn-cs"/>
        </a:defRPr>
      </a:lvl7pPr>
      <a:lvl8pPr marL="4535538" indent="-302369" algn="l" defTabSz="12094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645" kern="1200">
          <a:solidFill>
            <a:schemeClr val="tx1"/>
          </a:solidFill>
          <a:latin typeface="+mn-lt"/>
          <a:ea typeface="+mn-ea"/>
          <a:cs typeface="+mn-cs"/>
        </a:defRPr>
      </a:lvl8pPr>
      <a:lvl9pPr marL="5140277" indent="-302369" algn="l" defTabSz="12094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6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209477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1pPr>
      <a:lvl2pPr marL="604738" algn="l" defTabSz="1209477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2pPr>
      <a:lvl3pPr marL="1209477" algn="l" defTabSz="1209477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3pPr>
      <a:lvl4pPr marL="1814215" algn="l" defTabSz="1209477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4pPr>
      <a:lvl5pPr marL="2418954" algn="l" defTabSz="1209477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5pPr>
      <a:lvl6pPr marL="3023692" algn="l" defTabSz="1209477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6pPr>
      <a:lvl7pPr marL="3628431" algn="l" defTabSz="1209477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7pPr>
      <a:lvl8pPr marL="4233169" algn="l" defTabSz="1209477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8pPr>
      <a:lvl9pPr marL="4837908" algn="l" defTabSz="1209477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class_balance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mplate Graphic"/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2667131" y="381117"/>
            <a:ext cx="806544" cy="8572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7240" y="1143000"/>
            <a:ext cx="9875520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3000" b="1">
                <a:solidFill>
                  <a:srgbClr val="004B82"/>
                </a:solidFill>
                <a:latin typeface="Exo 2"/>
              </a:rPr>
              <a:t>Corporate Bankruptcy Risk Prediction</a:t>
            </a:r>
            <a:br/>
            <a:r>
              <a:rPr sz="3000" b="1">
                <a:solidFill>
                  <a:srgbClr val="004B82"/>
                </a:solidFill>
                <a:latin typeface="Exo 2"/>
              </a:rPr>
              <a:t>with Machine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2057400"/>
            <a:ext cx="96012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800" b="0">
                <a:solidFill>
                  <a:srgbClr val="545B63"/>
                </a:solidFill>
                <a:latin typeface="Exo 2"/>
              </a:rPr>
              <a:t>Comparing Interpretable Logistic Regression and Tree-Based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3063240"/>
            <a:ext cx="3840480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500" b="0">
                <a:solidFill>
                  <a:srgbClr val="1E2226"/>
                </a:solidFill>
                <a:latin typeface="Exo 2"/>
              </a:rPr>
              <a:t>Berke Pehlivan</a:t>
            </a:r>
            <a:br/>
            <a:r>
              <a:rPr sz="1500" b="0">
                <a:solidFill>
                  <a:srgbClr val="1E2226"/>
                </a:solidFill>
                <a:latin typeface="Exo 2"/>
              </a:rPr>
              <a:t>Machine Learning for Finance</a:t>
            </a:r>
            <a:br/>
            <a:r>
              <a:rPr sz="1500" b="0">
                <a:solidFill>
                  <a:srgbClr val="1E2226"/>
                </a:solidFill>
                <a:latin typeface="Exo 2"/>
              </a:rPr>
              <a:t>University of Bonn</a:t>
            </a:r>
            <a:br/>
            <a:r>
              <a:rPr sz="1500" b="0">
                <a:solidFill>
                  <a:srgbClr val="1E2226"/>
                </a:solidFill>
                <a:latin typeface="Exo 2"/>
              </a:rPr>
              <a:t>Academic Year 2025/2026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95160" y="3017520"/>
            <a:ext cx="3291840" cy="64008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 wrap="square"/>
          <a:lstStyle/>
          <a:p>
            <a:pPr algn="ctr"/>
            <a:r>
              <a:rPr sz="1700" b="1">
                <a:solidFill>
                  <a:srgbClr val="222A32"/>
                </a:solidFill>
                <a:latin typeface="Aptos"/>
              </a:rPr>
              <a:t>Rare failures  •  False alarms  •  Model trade-offs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mplate Graphic"/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2667131" y="381117"/>
            <a:ext cx="806544" cy="8572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29000" y="411480"/>
            <a:ext cx="7772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400" b="1">
                <a:solidFill>
                  <a:srgbClr val="004B82"/>
                </a:solidFill>
                <a:latin typeface="Exo 2"/>
              </a:rPr>
              <a:t>Motivation and Research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473952"/>
            <a:ext cx="80467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750" b="0">
                <a:solidFill>
                  <a:srgbClr val="545B63"/>
                </a:solidFill>
                <a:latin typeface="Exo 2"/>
              </a:rPr>
              <a:t>Corporate Bankruptcy Risk Prediction / Berke Pehlivan / Machine Learning for Finance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74552" y="6473952"/>
            <a:ext cx="2743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r"/>
            <a:r>
              <a:rPr sz="800" b="0">
                <a:solidFill>
                  <a:srgbClr val="545B63"/>
                </a:solidFill>
                <a:latin typeface="Exo 2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3291840" cy="1463040"/>
          </a:xfrm>
          <a:prstGeom prst="roundRect">
            <a:avLst/>
          </a:prstGeom>
          <a:solidFill>
            <a:srgbClr val="E6F0F7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>
            <a:normAutofit/>
          </a:bodyPr>
          <a:lstStyle/>
          <a:p>
            <a:pPr algn="l"/>
            <a:r>
              <a:rPr sz="1500" b="1">
                <a:solidFill>
                  <a:srgbClr val="004B82"/>
                </a:solidFill>
                <a:latin typeface="Exo 2"/>
              </a:rPr>
              <a:t>Why it matters</a:t>
            </a:r>
          </a:p>
          <a:p>
            <a:pPr/>
            <a:r>
              <a:rPr sz="1300">
                <a:solidFill>
                  <a:srgbClr val="1E2226"/>
                </a:solidFill>
                <a:latin typeface="Exo 2"/>
              </a:rPr>
              <a:t>Bankruptcy can create losses for lenders, investors, auditors, and other stakeholders.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234440"/>
            <a:ext cx="3291840" cy="1463040"/>
          </a:xfrm>
          <a:prstGeom prst="roundRect">
            <a:avLst/>
          </a:prstGeom>
          <a:solidFill>
            <a:srgbClr val="FFF5CC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>
            <a:normAutofit/>
          </a:bodyPr>
          <a:lstStyle/>
          <a:p>
            <a:pPr algn="l"/>
            <a:r>
              <a:rPr sz="1500" b="1">
                <a:solidFill>
                  <a:srgbClr val="00355C"/>
                </a:solidFill>
                <a:latin typeface="Exo 2"/>
              </a:rPr>
              <a:t>Why it is difficult</a:t>
            </a:r>
          </a:p>
          <a:p>
            <a:pPr/>
            <a:r>
              <a:rPr sz="1300">
                <a:solidFill>
                  <a:srgbClr val="1E2226"/>
                </a:solidFill>
                <a:latin typeface="Exo 2"/>
              </a:rPr>
              <a:t>Failed observations are rare. Accuracy can look high even when no failures are detected.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234440"/>
            <a:ext cx="310896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>
            <a:normAutofit/>
          </a:bodyPr>
          <a:lstStyle/>
          <a:p>
            <a:pPr algn="l"/>
            <a:r>
              <a:rPr sz="1500" b="1">
                <a:solidFill>
                  <a:srgbClr val="004B82"/>
                </a:solidFill>
                <a:latin typeface="Exo 2"/>
              </a:rPr>
              <a:t>Core tension</a:t>
            </a:r>
          </a:p>
          <a:p>
            <a:pPr/>
            <a:r>
              <a:rPr sz="1300">
                <a:solidFill>
                  <a:srgbClr val="1E2226"/>
                </a:solidFill>
                <a:latin typeface="Exo 2"/>
              </a:rPr>
              <a:t>Detect more failures, but avoid creating an impractical review burden.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182112"/>
            <a:ext cx="10195560" cy="1234440"/>
          </a:xfrm>
          <a:prstGeom prst="roundRect">
            <a:avLst/>
          </a:prstGeom>
          <a:solidFill>
            <a:srgbClr val="004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How well do interpretable and tree-based models identify failed companies,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Aptos"/>
              </a:rPr>
              <a:t>and what trade-off do they create between detected failures and false alarms?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773168"/>
            <a:ext cx="9784080" cy="59436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500" b="0">
                <a:solidFill>
                  <a:srgbClr val="1E2226"/>
                </a:solidFill>
                <a:latin typeface="Exo 2"/>
              </a:rPr>
              <a:t>Main story: not one universal winning model, but different screening trade-offs.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mplate Graphic"/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2667131" y="381117"/>
            <a:ext cx="806544" cy="8572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29000" y="411480"/>
            <a:ext cx="7772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400" b="1">
                <a:solidFill>
                  <a:srgbClr val="004B82"/>
                </a:solidFill>
                <a:latin typeface="Exo 2"/>
              </a:rPr>
              <a:t>Data and Class Imbalance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473952"/>
            <a:ext cx="80467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750" b="0">
                <a:solidFill>
                  <a:srgbClr val="545B63"/>
                </a:solidFill>
                <a:latin typeface="Exo 2"/>
              </a:rPr>
              <a:t>Corporate Bankruptcy Risk Prediction / Berke Pehlivan / Machine Learning for Finance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74552" y="6473952"/>
            <a:ext cx="2743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r"/>
            <a:r>
              <a:rPr sz="800" b="0">
                <a:solidFill>
                  <a:srgbClr val="545B63"/>
                </a:solidFill>
                <a:latin typeface="Exo 2"/>
              </a:rPr>
              <a:t>3</a:t>
            </a:r>
          </a:p>
        </p:txBody>
      </p:sp>
      <p:pic>
        <p:nvPicPr>
          <p:cNvPr id="6" name="Class distribution figur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170432"/>
            <a:ext cx="6720840" cy="4160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06640" y="1170432"/>
            <a:ext cx="178308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4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/>
          <a:lstStyle/>
          <a:p>
            <a:pPr algn="ctr"/>
            <a:r>
              <a:rPr sz="2000" b="1">
                <a:solidFill>
                  <a:srgbClr val="004B82"/>
                </a:solidFill>
                <a:latin typeface="Exo 2"/>
              </a:rPr>
              <a:t>78,682</a:t>
            </a:r>
          </a:p>
          <a:p>
            <a:pPr algn="ctr"/>
            <a:r>
              <a:rPr sz="1050">
                <a:solidFill>
                  <a:srgbClr val="545B63"/>
                </a:solidFill>
                <a:latin typeface="Exo 2"/>
              </a:rPr>
              <a:t>company-year observations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72600" y="1170432"/>
            <a:ext cx="178308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4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/>
          <a:lstStyle/>
          <a:p>
            <a:pPr algn="ctr"/>
            <a:r>
              <a:rPr sz="2000" b="1">
                <a:solidFill>
                  <a:srgbClr val="004B82"/>
                </a:solidFill>
                <a:latin typeface="Exo 2"/>
              </a:rPr>
              <a:t>8,971</a:t>
            </a:r>
          </a:p>
          <a:p>
            <a:pPr algn="ctr"/>
            <a:r>
              <a:rPr sz="1050">
                <a:solidFill>
                  <a:srgbClr val="545B63"/>
                </a:solidFill>
                <a:latin typeface="Exo 2"/>
              </a:rPr>
              <a:t>American companies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331720"/>
            <a:ext cx="178308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4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/>
          <a:lstStyle/>
          <a:p>
            <a:pPr algn="ctr"/>
            <a:r>
              <a:rPr sz="2000" b="1">
                <a:solidFill>
                  <a:srgbClr val="004B82"/>
                </a:solidFill>
                <a:latin typeface="Exo 2"/>
              </a:rPr>
              <a:t>1999–2018</a:t>
            </a:r>
          </a:p>
          <a:p>
            <a:pPr algn="ctr"/>
            <a:r>
              <a:rPr sz="1050">
                <a:solidFill>
                  <a:srgbClr val="545B63"/>
                </a:solidFill>
                <a:latin typeface="Exo 2"/>
              </a:rPr>
              <a:t>sample period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72600" y="2331720"/>
            <a:ext cx="1783080" cy="932688"/>
          </a:xfrm>
          <a:prstGeom prst="roundRect">
            <a:avLst/>
          </a:prstGeom>
          <a:solidFill>
            <a:srgbClr val="FFF5CC"/>
          </a:solidFill>
          <a:ln w="15240">
            <a:solidFill>
              <a:srgbClr val="00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/>
          <a:lstStyle/>
          <a:p>
            <a:pPr algn="ctr"/>
            <a:r>
              <a:rPr sz="2000" b="1">
                <a:solidFill>
                  <a:srgbClr val="00355C"/>
                </a:solidFill>
                <a:latin typeface="Exo 2"/>
              </a:rPr>
              <a:t>6.63%</a:t>
            </a:r>
          </a:p>
          <a:p>
            <a:pPr algn="ctr"/>
            <a:r>
              <a:rPr sz="1050">
                <a:solidFill>
                  <a:srgbClr val="545B63"/>
                </a:solidFill>
                <a:latin typeface="Exo 2"/>
              </a:rPr>
              <a:t>failed observations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3657600"/>
            <a:ext cx="3749040" cy="1554480"/>
          </a:xfrm>
          <a:prstGeom prst="roundRect">
            <a:avLst/>
          </a:prstGeom>
          <a:solidFill>
            <a:srgbClr val="E6F0F7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400" b="1">
                <a:solidFill>
                  <a:srgbClr val="004B82"/>
                </a:solidFill>
                <a:latin typeface="Exo 2"/>
              </a:rPr>
              <a:t>Takeaway</a:t>
            </a:r>
          </a:p>
          <a:p>
            <a:pPr/>
            <a:r>
              <a:rPr sz="1400">
                <a:solidFill>
                  <a:srgbClr val="1E2226"/>
                </a:solidFill>
                <a:latin typeface="Exo 2"/>
              </a:rPr>
              <a:t>A majority-only model can look accurate while detecting no failures.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mplate Graphic"/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2667131" y="381117"/>
            <a:ext cx="806544" cy="8572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29000" y="411480"/>
            <a:ext cx="7772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400" b="1">
                <a:solidFill>
                  <a:srgbClr val="004B82"/>
                </a:solidFill>
                <a:latin typeface="Exo 2"/>
              </a:rPr>
              <a:t>Experimental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473952"/>
            <a:ext cx="80467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750" b="0">
                <a:solidFill>
                  <a:srgbClr val="545B63"/>
                </a:solidFill>
                <a:latin typeface="Exo 2"/>
              </a:rPr>
              <a:t>Corporate Bankruptcy Risk Prediction / Berke Pehlivan / Machine Learning for Finance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74552" y="6473952"/>
            <a:ext cx="2743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r"/>
            <a:r>
              <a:rPr sz="800" b="0">
                <a:solidFill>
                  <a:srgbClr val="545B63"/>
                </a:solidFill>
                <a:latin typeface="Exo 2"/>
              </a:rPr>
              <a:t>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54680" y="1874519"/>
            <a:ext cx="914400" cy="0"/>
          </a:xfrm>
          <a:prstGeom prst="line">
            <a:avLst/>
          </a:prstGeom>
          <a:ln w="25400">
            <a:solidFill>
              <a:srgbClr val="004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23560" y="1874519"/>
            <a:ext cx="868680" cy="0"/>
          </a:xfrm>
          <a:prstGeom prst="line">
            <a:avLst/>
          </a:prstGeom>
          <a:ln w="25400">
            <a:solidFill>
              <a:srgbClr val="004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846320" y="2514600"/>
            <a:ext cx="0" cy="822960"/>
          </a:xfrm>
          <a:prstGeom prst="line">
            <a:avLst/>
          </a:prstGeom>
          <a:ln w="25400">
            <a:solidFill>
              <a:srgbClr val="004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23560" y="3886200"/>
            <a:ext cx="822960" cy="0"/>
          </a:xfrm>
          <a:prstGeom prst="line">
            <a:avLst/>
          </a:prstGeom>
          <a:ln w="25400">
            <a:solidFill>
              <a:srgbClr val="004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" y="1371600"/>
            <a:ext cx="233172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>
            <a:normAutofit/>
          </a:bodyPr>
          <a:lstStyle/>
          <a:p>
            <a:pPr algn="l"/>
            <a:r>
              <a:rPr sz="1500" b="1">
                <a:solidFill>
                  <a:srgbClr val="004B82"/>
                </a:solidFill>
                <a:latin typeface="Exo 2"/>
              </a:rPr>
              <a:t>Full sample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78,682 observations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8,971 companies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40" y="1371600"/>
            <a:ext cx="1691640" cy="987552"/>
          </a:xfrm>
          <a:prstGeom prst="roundRect">
            <a:avLst/>
          </a:prstGeom>
          <a:solidFill>
            <a:srgbClr val="E6F0F7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250" b="1">
                <a:solidFill>
                  <a:srgbClr val="004B82"/>
                </a:solidFill>
                <a:latin typeface="Exo 2"/>
              </a:rPr>
              <a:t>Group split</a:t>
            </a:r>
          </a:p>
          <a:p>
            <a:pPr/>
            <a:r>
              <a:rPr sz="1100">
                <a:solidFill>
                  <a:srgbClr val="1E2226"/>
                </a:solidFill>
                <a:latin typeface="Exo 2"/>
              </a:rPr>
              <a:t>complete companies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325880"/>
            <a:ext cx="205740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>
            <a:normAutofit/>
          </a:bodyPr>
          <a:lstStyle/>
          <a:p>
            <a:pPr algn="l"/>
            <a:r>
              <a:rPr sz="1500" b="1">
                <a:solidFill>
                  <a:srgbClr val="004B82"/>
                </a:solidFill>
                <a:latin typeface="Exo 2"/>
              </a:rPr>
              <a:t>Training</a:t>
            </a:r>
          </a:p>
          <a:p>
            <a:pPr/>
            <a:r>
              <a:rPr sz="1100">
                <a:solidFill>
                  <a:srgbClr val="1E2226"/>
                </a:solidFill>
                <a:latin typeface="Exo 2"/>
              </a:rPr>
              <a:t>80% companies</a:t>
            </a:r>
          </a:p>
          <a:p>
            <a:pPr/>
            <a:r>
              <a:rPr sz="1100">
                <a:solidFill>
                  <a:srgbClr val="1E2226"/>
                </a:solidFill>
                <a:latin typeface="Exo 2"/>
              </a:rPr>
              <a:t>62,988 rows</a:t>
            </a:r>
          </a:p>
          <a:p>
            <a:pPr/>
            <a:r>
              <a:rPr sz="1100">
                <a:solidFill>
                  <a:srgbClr val="1E2226"/>
                </a:solidFill>
                <a:latin typeface="Exo 2"/>
              </a:rPr>
              <a:t>7,176 companies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325880"/>
            <a:ext cx="2057400" cy="1051560"/>
          </a:xfrm>
          <a:prstGeom prst="roundRect">
            <a:avLst/>
          </a:prstGeom>
          <a:solidFill>
            <a:srgbClr val="FFF5CC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>
            <a:normAutofit/>
          </a:bodyPr>
          <a:lstStyle/>
          <a:p>
            <a:pPr algn="l"/>
            <a:r>
              <a:rPr sz="1500" b="1">
                <a:solidFill>
                  <a:srgbClr val="00355C"/>
                </a:solidFill>
                <a:latin typeface="Exo 2"/>
              </a:rPr>
              <a:t>Final test</a:t>
            </a:r>
          </a:p>
          <a:p>
            <a:pPr/>
            <a:r>
              <a:rPr sz="1100">
                <a:solidFill>
                  <a:srgbClr val="1E2226"/>
                </a:solidFill>
                <a:latin typeface="Exo 2"/>
              </a:rPr>
              <a:t>20% companies</a:t>
            </a:r>
          </a:p>
          <a:p>
            <a:pPr/>
            <a:r>
              <a:rPr sz="1100">
                <a:solidFill>
                  <a:srgbClr val="1E2226"/>
                </a:solidFill>
                <a:latin typeface="Exo 2"/>
              </a:rPr>
              <a:t>15,694 rows</a:t>
            </a:r>
          </a:p>
          <a:p>
            <a:pPr/>
            <a:r>
              <a:rPr sz="1100">
                <a:solidFill>
                  <a:srgbClr val="1E2226"/>
                </a:solidFill>
                <a:latin typeface="Exo 2"/>
              </a:rPr>
              <a:t>1,795 companies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3337560"/>
            <a:ext cx="1874520" cy="987552"/>
          </a:xfrm>
          <a:prstGeom prst="roundRect">
            <a:avLst/>
          </a:prstGeom>
          <a:solidFill>
            <a:srgbClr val="E6F0F7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250" b="1">
                <a:solidFill>
                  <a:srgbClr val="004B82"/>
                </a:solidFill>
                <a:latin typeface="Exo 2"/>
              </a:rPr>
              <a:t>Inner split</a:t>
            </a:r>
          </a:p>
          <a:p>
            <a:pPr/>
            <a:r>
              <a:rPr sz="1100">
                <a:solidFill>
                  <a:srgbClr val="1E2226"/>
                </a:solidFill>
                <a:latin typeface="Exo 2"/>
              </a:rPr>
              <a:t>inside training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3246120"/>
            <a:ext cx="205740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>
            <a:normAutofit/>
          </a:bodyPr>
          <a:lstStyle/>
          <a:p>
            <a:pPr algn="l"/>
            <a:r>
              <a:rPr sz="1500" b="1">
                <a:solidFill>
                  <a:srgbClr val="004B82"/>
                </a:solidFill>
                <a:latin typeface="Exo 2"/>
              </a:rPr>
              <a:t>Model-fitting</a:t>
            </a:r>
          </a:p>
          <a:p>
            <a:pPr/>
            <a:r>
              <a:rPr sz="1100">
                <a:solidFill>
                  <a:srgbClr val="1E2226"/>
                </a:solidFill>
                <a:latin typeface="Exo 2"/>
              </a:rPr>
              <a:t>50,323 rows</a:t>
            </a:r>
          </a:p>
          <a:p>
            <a:pPr/>
            <a:r>
              <a:rPr sz="1100">
                <a:solidFill>
                  <a:srgbClr val="1E2226"/>
                </a:solidFill>
                <a:latin typeface="Exo 2"/>
              </a:rPr>
              <a:t>5,740 companies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3246120"/>
            <a:ext cx="205740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>
            <a:normAutofit/>
          </a:bodyPr>
          <a:lstStyle/>
          <a:p>
            <a:pPr algn="l"/>
            <a:r>
              <a:rPr sz="1500" b="1">
                <a:solidFill>
                  <a:srgbClr val="004B82"/>
                </a:solidFill>
                <a:latin typeface="Exo 2"/>
              </a:rPr>
              <a:t>Validation</a:t>
            </a:r>
          </a:p>
          <a:p>
            <a:pPr/>
            <a:r>
              <a:rPr sz="1100">
                <a:solidFill>
                  <a:srgbClr val="1E2226"/>
                </a:solidFill>
                <a:latin typeface="Exo 2"/>
              </a:rPr>
              <a:t>12,665 rows</a:t>
            </a:r>
          </a:p>
          <a:p>
            <a:pPr/>
            <a:r>
              <a:rPr sz="1100">
                <a:solidFill>
                  <a:srgbClr val="1E2226"/>
                </a:solidFill>
                <a:latin typeface="Exo 2"/>
              </a:rPr>
              <a:t>1,436 companies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983480"/>
            <a:ext cx="5074920" cy="749808"/>
          </a:xfrm>
          <a:prstGeom prst="roundRect">
            <a:avLst/>
          </a:prstGeom>
          <a:solidFill>
            <a:srgbClr val="E6F0F7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200" b="1">
                <a:solidFill>
                  <a:srgbClr val="004B82"/>
                </a:solidFill>
                <a:latin typeface="Exo 2"/>
              </a:rPr>
              <a:t>Leakage control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Complete companies stay on one side of each split.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983480"/>
            <a:ext cx="5074920" cy="749808"/>
          </a:xfrm>
          <a:prstGeom prst="roundRect">
            <a:avLst/>
          </a:prstGeom>
          <a:solidFill>
            <a:srgbClr val="F3F6F8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200" b="1">
                <a:solidFill>
                  <a:srgbClr val="004B82"/>
                </a:solidFill>
                <a:latin typeface="Exo 2"/>
              </a:rPr>
              <a:t>Scope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Unseen-company generalization, not future calendar forecasting.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mplate Graphic"/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2667131" y="381117"/>
            <a:ext cx="806544" cy="8572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29000" y="411480"/>
            <a:ext cx="7772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400" b="1">
                <a:solidFill>
                  <a:srgbClr val="004B82"/>
                </a:solidFill>
                <a:latin typeface="Exo 2"/>
              </a:rPr>
              <a:t>Models Compared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473952"/>
            <a:ext cx="80467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750" b="0">
                <a:solidFill>
                  <a:srgbClr val="545B63"/>
                </a:solidFill>
                <a:latin typeface="Exo 2"/>
              </a:rPr>
              <a:t>Corporate Bankruptcy Risk Prediction / Berke Pehlivan / Machine Learning for Finance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74552" y="6473952"/>
            <a:ext cx="2743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r"/>
            <a:r>
              <a:rPr sz="800" b="0">
                <a:solidFill>
                  <a:srgbClr val="545B63"/>
                </a:solidFill>
                <a:latin typeface="Exo 2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2560320" cy="1920240"/>
          </a:xfrm>
          <a:prstGeom prst="roundRect">
            <a:avLst/>
          </a:prstGeom>
          <a:solidFill>
            <a:srgbClr val="F3F6F8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500" b="1">
                <a:solidFill>
                  <a:srgbClr val="004B82"/>
                </a:solidFill>
                <a:latin typeface="Exo 2"/>
              </a:rPr>
              <a:t>Majority</a:t>
            </a:r>
            <a:br/>
            <a:r>
              <a:t>Baseline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Always predicts alive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Accuracy warning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72968" y="2148840"/>
            <a:ext cx="219456" cy="0"/>
          </a:xfrm>
          <a:prstGeom prst="line">
            <a:avLst/>
          </a:prstGeom>
          <a:ln w="20320">
            <a:solidFill>
              <a:srgbClr val="004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01568" y="1188720"/>
            <a:ext cx="2560320" cy="1920240"/>
          </a:xfrm>
          <a:prstGeom prst="roundRect">
            <a:avLst/>
          </a:prstGeom>
          <a:solidFill>
            <a:srgbClr val="E6F0F7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500" b="1">
                <a:solidFill>
                  <a:srgbClr val="004B82"/>
                </a:solidFill>
                <a:latin typeface="Exo 2"/>
              </a:rPr>
              <a:t>Logistic</a:t>
            </a:r>
            <a:br/>
            <a:r>
              <a:t>Regression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Interpretable benchmark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L1 / L2 variants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Balanced class weights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4456" y="2148840"/>
            <a:ext cx="219456" cy="0"/>
          </a:xfrm>
          <a:prstGeom prst="line">
            <a:avLst/>
          </a:prstGeom>
          <a:ln w="20320">
            <a:solidFill>
              <a:srgbClr val="004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63056" y="1188720"/>
            <a:ext cx="2560320" cy="1920240"/>
          </a:xfrm>
          <a:prstGeom prst="roundRect">
            <a:avLst/>
          </a:prstGeom>
          <a:solidFill>
            <a:srgbClr val="FFF5CC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500" b="1">
                <a:solidFill>
                  <a:srgbClr val="004B82"/>
                </a:solidFill>
                <a:latin typeface="Exo 2"/>
              </a:rPr>
              <a:t>Tree-Based</a:t>
            </a:r>
            <a:br/>
            <a:r>
              <a:t>Models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Decision Tree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Random Forest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Gradient Boosting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95944" y="2148840"/>
            <a:ext cx="219456" cy="0"/>
          </a:xfrm>
          <a:prstGeom prst="line">
            <a:avLst/>
          </a:prstGeom>
          <a:ln w="20320">
            <a:solidFill>
              <a:srgbClr val="004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924544" y="1188720"/>
            <a:ext cx="256032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500" b="1">
                <a:solidFill>
                  <a:srgbClr val="004B82"/>
                </a:solidFill>
                <a:latin typeface="Exo 2"/>
              </a:rPr>
              <a:t>PCA</a:t>
            </a:r>
            <a:br/>
            <a:r>
              <a:t>Extension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PCA + Logistic Regression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Dimension reduction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Validation-only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767328"/>
            <a:ext cx="103784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800" b="1">
                <a:solidFill>
                  <a:srgbClr val="004B82"/>
                </a:solidFill>
                <a:latin typeface="Aptos"/>
              </a:rPr>
              <a:t>The comparison moves from simple and interpretable models to more flexible models.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4681728"/>
            <a:ext cx="10058400" cy="713232"/>
          </a:xfrm>
          <a:prstGeom prst="round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800" b="1">
                <a:solidFill>
                  <a:srgbClr val="222A32"/>
                </a:solidFill>
                <a:latin typeface="Aptos"/>
              </a:rPr>
              <a:t>Model choice depends on the screening objective.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mplate Graphic"/>
          <p:cNvPicPr>
            <a:picLocks noChangeAspect="1"/>
          </p:cNvPicPr>
          <p:nvPr/>
        </p:nvPicPr>
        <p:blipFill>
          <a:blip ns2:embed="rId2">
            <a:alphaModFix amt="85000"/>
          </a:blip>
          <a:stretch>
            <a:fillRect/>
          </a:stretch>
        </p:blipFill>
        <p:spPr>
          <a:xfrm>
            <a:off x="2667131" y="381117"/>
            <a:ext cx="806544" cy="8572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29000" y="411480"/>
            <a:ext cx="7772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400" b="1">
                <a:solidFill>
                  <a:srgbClr val="004B82"/>
                </a:solidFill>
                <a:latin typeface="Exo 2"/>
              </a:rPr>
              <a:t>Evaluation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473952"/>
            <a:ext cx="80467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750" b="0">
                <a:solidFill>
                  <a:srgbClr val="545B63"/>
                </a:solidFill>
                <a:latin typeface="Exo 2"/>
              </a:rPr>
              <a:t>Corporate Bankruptcy Risk Prediction / Berke Pehlivan / Machine Learning for Finance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74552" y="6473952"/>
            <a:ext cx="2743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r"/>
            <a:r>
              <a:rPr sz="800" b="0">
                <a:solidFill>
                  <a:srgbClr val="545B63"/>
                </a:solidFill>
                <a:latin typeface="Exo 2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1417320"/>
          </a:xfrm>
          <a:prstGeom prst="roundRect">
            <a:avLst/>
          </a:prstGeom>
          <a:solidFill>
            <a:srgbClr val="FFF5CC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400" b="1">
                <a:solidFill>
                  <a:srgbClr val="00355C"/>
                </a:solidFill>
                <a:latin typeface="Exo 2"/>
              </a:rPr>
              <a:t>Why accuracy is not enough</a:t>
            </a:r>
          </a:p>
          <a:p>
            <a:pPr/>
            <a:r>
              <a:rPr sz="1300">
                <a:solidFill>
                  <a:srgbClr val="1E2226"/>
                </a:solidFill>
                <a:latin typeface="Exo 2"/>
              </a:rPr>
              <a:t>A model can look accurate by predicting almost every observation as alive.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17320"/>
            <a:ext cx="3063240" cy="1417320"/>
          </a:xfrm>
          <a:prstGeom prst="roundRect">
            <a:avLst/>
          </a:prstGeom>
          <a:solidFill>
            <a:srgbClr val="E6F0F7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400" b="1">
                <a:solidFill>
                  <a:srgbClr val="004B82"/>
                </a:solidFill>
                <a:latin typeface="Exo 2"/>
              </a:rPr>
              <a:t>Model selection</a:t>
            </a:r>
          </a:p>
          <a:p>
            <a:pPr/>
            <a:r>
              <a:rPr sz="1300">
                <a:solidFill>
                  <a:srgbClr val="1E2226"/>
                </a:solidFill>
                <a:latin typeface="Exo 2"/>
              </a:rPr>
              <a:t>Validation PR-AUC</a:t>
            </a:r>
          </a:p>
          <a:p>
            <a:pPr/>
            <a:r>
              <a:rPr sz="1300">
                <a:solidFill>
                  <a:srgbClr val="1E2226"/>
                </a:solidFill>
                <a:latin typeface="Exo 2"/>
              </a:rPr>
              <a:t>= average precision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99248" y="1417320"/>
            <a:ext cx="34290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400" b="1">
                <a:solidFill>
                  <a:srgbClr val="004B82"/>
                </a:solidFill>
                <a:latin typeface="Exo 2"/>
              </a:rPr>
              <a:t>Thresholds</a:t>
            </a:r>
          </a:p>
          <a:p>
            <a:pPr/>
            <a:r>
              <a:rPr sz="1300">
                <a:solidFill>
                  <a:srgbClr val="1E2226"/>
                </a:solidFill>
                <a:latin typeface="Exo 2"/>
              </a:rPr>
              <a:t>Lower threshold → more failures detected, but more false alarms.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2194560" cy="1078992"/>
          </a:xfrm>
          <a:prstGeom prst="roundRect">
            <a:avLst/>
          </a:prstGeom>
          <a:solidFill>
            <a:srgbClr val="F3F6F8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500" b="1">
                <a:solidFill>
                  <a:srgbClr val="222A32"/>
                </a:solidFill>
                <a:latin typeface="Aptos"/>
              </a:rPr>
              <a:t>Failed recall</a:t>
            </a:r>
          </a:p>
          <a:p>
            <a:pPr algn="l"/>
            <a:r>
              <a:rPr sz="1500" b="0">
                <a:solidFill>
                  <a:srgbClr val="222A32"/>
                </a:solidFill>
                <a:latin typeface="Aptos"/>
              </a:rPr>
              <a:t>How many actual failures are detected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3108960"/>
            <a:ext cx="2194560" cy="1078992"/>
          </a:xfrm>
          <a:prstGeom prst="roundRect">
            <a:avLst/>
          </a:prstGeom>
          <a:solidFill>
            <a:srgbClr val="F3F6F8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500" b="1">
                <a:solidFill>
                  <a:srgbClr val="222A32"/>
                </a:solidFill>
                <a:latin typeface="Aptos"/>
              </a:rPr>
              <a:t>Failed precision</a:t>
            </a:r>
          </a:p>
          <a:p>
            <a:pPr algn="l"/>
            <a:r>
              <a:rPr sz="1500" b="0">
                <a:solidFill>
                  <a:srgbClr val="222A32"/>
                </a:solidFill>
                <a:latin typeface="Aptos"/>
              </a:rPr>
              <a:t>How many failure alerts are correct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3108960"/>
            <a:ext cx="2194560" cy="1078992"/>
          </a:xfrm>
          <a:prstGeom prst="roundRect">
            <a:avLst/>
          </a:prstGeom>
          <a:solidFill>
            <a:srgbClr val="F3F6F8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500" b="1">
                <a:solidFill>
                  <a:srgbClr val="222A32"/>
                </a:solidFill>
                <a:latin typeface="Aptos"/>
              </a:rPr>
              <a:t>Failed F1</a:t>
            </a:r>
          </a:p>
          <a:p>
            <a:pPr algn="l"/>
            <a:r>
              <a:rPr sz="1500" b="0">
                <a:solidFill>
                  <a:srgbClr val="222A32"/>
                </a:solidFill>
                <a:latin typeface="Aptos"/>
              </a:rPr>
              <a:t>Balance between recall and precision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80" y="3108960"/>
            <a:ext cx="2194560" cy="1078992"/>
          </a:xfrm>
          <a:prstGeom prst="roundRect">
            <a:avLst/>
          </a:prstGeom>
          <a:solidFill>
            <a:srgbClr val="F3F6F8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500" b="1">
                <a:solidFill>
                  <a:srgbClr val="222A32"/>
                </a:solidFill>
                <a:latin typeface="Aptos"/>
              </a:rPr>
              <a:t>PR-AUC</a:t>
            </a:r>
          </a:p>
          <a:p>
            <a:pPr algn="l"/>
            <a:r>
              <a:rPr sz="1500" b="0">
                <a:solidFill>
                  <a:srgbClr val="222A32"/>
                </a:solidFill>
                <a:latin typeface="Aptos"/>
              </a:rPr>
              <a:t>Ranking quality for the failed class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983480"/>
            <a:ext cx="10378440" cy="713232"/>
          </a:xfrm>
          <a:prstGeom prst="roundRect">
            <a:avLst/>
          </a:prstGeom>
          <a:solidFill>
            <a:srgbClr val="004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Ranking metrics and default-threshold classifications answer different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mplate Graphic"/>
          <p:cNvPicPr>
            <a:picLocks noChangeAspect="1"/>
          </p:cNvPicPr>
          <p:nvPr/>
        </p:nvPicPr>
        <p:blipFill>
          <a:blip ns2:embed="rId2">
            <a:alphaModFix amt="85000"/>
          </a:blip>
          <a:stretch>
            <a:fillRect/>
          </a:stretch>
        </p:blipFill>
        <p:spPr>
          <a:xfrm>
            <a:off x="2667131" y="381117"/>
            <a:ext cx="806544" cy="8572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29000" y="411480"/>
            <a:ext cx="7772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400" b="1">
                <a:solidFill>
                  <a:srgbClr val="004B82"/>
                </a:solidFill>
                <a:latin typeface="Exo 2"/>
              </a:rPr>
              <a:t>Main Final-Test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473952"/>
            <a:ext cx="80467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750" b="0">
                <a:solidFill>
                  <a:srgbClr val="545B63"/>
                </a:solidFill>
                <a:latin typeface="Exo 2"/>
              </a:rPr>
              <a:t>Corporate Bankruptcy Risk Prediction / Berke Pehlivan / Machine Learning for Finance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74552" y="6473952"/>
            <a:ext cx="2743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r"/>
            <a:r>
              <a:rPr sz="800" b="0">
                <a:solidFill>
                  <a:srgbClr val="545B63"/>
                </a:solidFill>
                <a:latin typeface="Exo 2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52928" y="1024128"/>
            <a:ext cx="8458200" cy="658368"/>
          </a:xfrm>
          <a:prstGeom prst="roundRect">
            <a:avLst/>
          </a:prstGeom>
          <a:solidFill>
            <a:srgbClr val="FFF5CC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45720" bIns="45720" wrap="square"/>
          <a:lstStyle/>
          <a:p>
            <a:pPr algn="ctr"/>
            <a:r>
              <a:rPr sz="1800" b="1">
                <a:solidFill>
                  <a:srgbClr val="222A32"/>
                </a:solidFill>
                <a:latin typeface="Aptos"/>
              </a:rPr>
              <a:t>Baseline warning: 92.5% accuracy, but zero detected failures.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01952"/>
            <a:ext cx="3364992" cy="2468880"/>
          </a:xfrm>
          <a:prstGeom prst="roundRect">
            <a:avLst/>
          </a:prstGeom>
          <a:solidFill>
            <a:srgbClr val="E6F0F7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45720" bIns="45720" wrap="square"/>
          <a:lstStyle/>
          <a:p>
            <a:pPr algn="l"/>
            <a:r>
              <a:rPr sz="1900" b="1">
                <a:solidFill>
                  <a:srgbClr val="222A32"/>
                </a:solidFill>
                <a:latin typeface="Aptos"/>
              </a:rPr>
              <a:t>Logistic Regression</a:t>
            </a:r>
          </a:p>
          <a:p>
            <a:pPr algn="l"/>
            <a:r>
              <a:rPr sz="1700" b="0">
                <a:solidFill>
                  <a:srgbClr val="222A32"/>
                </a:solidFill>
                <a:latin typeface="Aptos"/>
              </a:rPr>
              <a:t>Highest recall: 0.884</a:t>
            </a:r>
          </a:p>
          <a:p>
            <a:pPr algn="l"/>
            <a:r>
              <a:rPr sz="1700" b="0">
                <a:solidFill>
                  <a:srgbClr val="222A32"/>
                </a:solidFill>
                <a:latin typeface="Aptos"/>
              </a:rPr>
              <a:t>Detects many failures</a:t>
            </a:r>
          </a:p>
          <a:p>
            <a:pPr algn="l"/>
            <a:r>
              <a:rPr sz="1700" b="0">
                <a:solidFill>
                  <a:srgbClr val="222A32"/>
                </a:solidFill>
                <a:latin typeface="Aptos"/>
              </a:rPr>
              <a:t>But precision is 0.095</a:t>
            </a:r>
          </a:p>
          <a:p>
            <a:pPr algn="l"/>
            <a:r>
              <a:rPr sz="1700" b="0">
                <a:solidFill>
                  <a:srgbClr val="222A32"/>
                </a:solidFill>
                <a:latin typeface="Aptos"/>
              </a:rPr>
              <a:t>→ many false alarms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901952"/>
            <a:ext cx="3364992" cy="246888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45720" bIns="45720" wrap="square"/>
          <a:lstStyle/>
          <a:p>
            <a:pPr algn="l"/>
            <a:r>
              <a:rPr sz="1900" b="1">
                <a:solidFill>
                  <a:srgbClr val="222A32"/>
                </a:solidFill>
                <a:latin typeface="Aptos"/>
              </a:rPr>
              <a:t>Random Forest</a:t>
            </a:r>
          </a:p>
          <a:p>
            <a:pPr algn="l"/>
            <a:r>
              <a:rPr sz="1700" b="0">
                <a:solidFill>
                  <a:srgbClr val="222A32"/>
                </a:solidFill>
                <a:latin typeface="Aptos"/>
              </a:rPr>
              <a:t>Highest observed PR-AUC: 0.159</a:t>
            </a:r>
          </a:p>
          <a:p>
            <a:pPr algn="l"/>
            <a:r>
              <a:rPr sz="1700" b="0">
                <a:solidFill>
                  <a:srgbClr val="222A32"/>
                </a:solidFill>
                <a:latin typeface="Aptos"/>
              </a:rPr>
              <a:t>Highest failed F1: 0.232</a:t>
            </a:r>
          </a:p>
          <a:p>
            <a:pPr algn="l"/>
            <a:r>
              <a:rPr sz="1700" b="0">
                <a:solidFill>
                  <a:srgbClr val="222A32"/>
                </a:solidFill>
                <a:latin typeface="Aptos"/>
              </a:rPr>
              <a:t>More selective</a:t>
            </a:r>
          </a:p>
          <a:p>
            <a:pPr algn="l"/>
            <a:r>
              <a:rPr sz="1700" b="0">
                <a:solidFill>
                  <a:srgbClr val="222A32"/>
                </a:solidFill>
                <a:latin typeface="Aptos"/>
              </a:rPr>
              <a:t>→ fewer alerts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9016" y="1901952"/>
            <a:ext cx="3364992" cy="2468880"/>
          </a:xfrm>
          <a:prstGeom prst="roundRect">
            <a:avLst/>
          </a:prstGeom>
          <a:solidFill>
            <a:srgbClr val="FFF5CC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45720" bIns="45720" wrap="square"/>
          <a:lstStyle/>
          <a:p>
            <a:pPr algn="l"/>
            <a:r>
              <a:rPr sz="1900" b="1">
                <a:solidFill>
                  <a:srgbClr val="222A32"/>
                </a:solidFill>
                <a:latin typeface="Aptos"/>
              </a:rPr>
              <a:t>Gradient Boosting</a:t>
            </a:r>
          </a:p>
          <a:p>
            <a:pPr algn="l"/>
            <a:r>
              <a:rPr sz="1700" b="0">
                <a:solidFill>
                  <a:srgbClr val="222A32"/>
                </a:solidFill>
                <a:latin typeface="Aptos"/>
              </a:rPr>
              <a:t>Selected by validation PR-AUC</a:t>
            </a:r>
          </a:p>
          <a:p>
            <a:pPr algn="l"/>
            <a:r>
              <a:rPr sz="1700" b="0">
                <a:solidFill>
                  <a:srgbClr val="222A32"/>
                </a:solidFill>
                <a:latin typeface="Aptos"/>
              </a:rPr>
              <a:t>Highest balanced accuracy: 0.638</a:t>
            </a:r>
          </a:p>
          <a:p>
            <a:pPr algn="l"/>
            <a:r>
              <a:rPr sz="1700" b="0">
                <a:solidFill>
                  <a:srgbClr val="222A32"/>
                </a:solidFill>
                <a:latin typeface="Aptos"/>
              </a:rPr>
              <a:t>Middle recall</a:t>
            </a:r>
          </a:p>
          <a:p>
            <a:pPr algn="l"/>
            <a:r>
              <a:rPr sz="1700" b="0">
                <a:solidFill>
                  <a:srgbClr val="222A32"/>
                </a:solidFill>
                <a:latin typeface="Aptos"/>
              </a:rPr>
              <a:t>→ compromise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4864608"/>
            <a:ext cx="10104120" cy="685800"/>
          </a:xfrm>
          <a:prstGeom prst="roundRect">
            <a:avLst/>
          </a:prstGeom>
          <a:solidFill>
            <a:srgbClr val="004B82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45720" bIns="4572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Main message: no model is strongest on every measure.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mplate Graphic"/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2667131" y="381117"/>
            <a:ext cx="806544" cy="8572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29000" y="411480"/>
            <a:ext cx="7772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400" b="1">
                <a:solidFill>
                  <a:srgbClr val="004B82"/>
                </a:solidFill>
                <a:latin typeface="Exo 2"/>
              </a:rPr>
              <a:t>Classification Trade-Offs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473952"/>
            <a:ext cx="80467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750" b="0">
                <a:solidFill>
                  <a:srgbClr val="545B63"/>
                </a:solidFill>
                <a:latin typeface="Exo 2"/>
              </a:rPr>
              <a:t>Corporate Bankruptcy Risk Prediction / Berke Pehlivan / Machine Learning for Finance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74552" y="6473952"/>
            <a:ext cx="2743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r"/>
            <a:r>
              <a:rPr sz="800" b="0">
                <a:solidFill>
                  <a:srgbClr val="545B63"/>
                </a:solidFill>
                <a:latin typeface="Exo 2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024128"/>
            <a:ext cx="1037844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800" b="1">
                <a:solidFill>
                  <a:srgbClr val="222A32"/>
                </a:solidFill>
                <a:latin typeface="Aptos"/>
              </a:rPr>
              <a:t>Default rule: detecting more failures usually creates more false alarms.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783080" cy="411480"/>
          </a:xfrm>
          <a:prstGeom prst="rect">
            <a:avLst/>
          </a:prstGeom>
          <a:solidFill>
            <a:srgbClr val="004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Exo 2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1783080"/>
            <a:ext cx="1783080" cy="411480"/>
          </a:xfrm>
          <a:prstGeom prst="rect">
            <a:avLst/>
          </a:prstGeom>
          <a:solidFill>
            <a:srgbClr val="004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Exo 2"/>
              </a:rPr>
              <a:t>Detected failures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7408" y="1783080"/>
            <a:ext cx="1691640" cy="411480"/>
          </a:xfrm>
          <a:prstGeom prst="rect">
            <a:avLst/>
          </a:prstGeom>
          <a:solidFill>
            <a:srgbClr val="004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Exo 2"/>
              </a:rPr>
              <a:t>Missed failures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7648" y="1783080"/>
            <a:ext cx="1600200" cy="411480"/>
          </a:xfrm>
          <a:prstGeom prst="rect">
            <a:avLst/>
          </a:prstGeom>
          <a:solidFill>
            <a:srgbClr val="004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Exo 2"/>
              </a:rPr>
              <a:t>False alarms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75320" y="1783080"/>
            <a:ext cx="3383280" cy="411480"/>
          </a:xfrm>
          <a:prstGeom prst="rect">
            <a:avLst/>
          </a:prstGeom>
          <a:solidFill>
            <a:srgbClr val="004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Exo 2"/>
              </a:rPr>
              <a:t>Interpretation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86000"/>
            <a:ext cx="1783080" cy="749808"/>
          </a:xfrm>
          <a:prstGeom prst="rect">
            <a:avLst/>
          </a:prstGeom>
          <a:solidFill>
            <a:srgbClr val="E6F0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100" b="0">
                <a:solidFill>
                  <a:srgbClr val="1E2226"/>
                </a:solidFill>
                <a:latin typeface="Exo 2"/>
              </a:rPr>
              <a:t>Logistic</a:t>
            </a:r>
            <a:br/>
            <a:r>
              <a:rPr sz="1100" b="0">
                <a:solidFill>
                  <a:srgbClr val="1E2226"/>
                </a:solidFill>
                <a:latin typeface="Exo 2"/>
              </a:rPr>
              <a:t>Regression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286000"/>
            <a:ext cx="1783080" cy="749808"/>
          </a:xfrm>
          <a:prstGeom prst="rect">
            <a:avLst/>
          </a:prstGeom>
          <a:solidFill>
            <a:srgbClr val="E6F0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2200" b="1">
                <a:solidFill>
                  <a:srgbClr val="004B82"/>
                </a:solidFill>
                <a:latin typeface="Exo 2"/>
              </a:rPr>
              <a:t>1,041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7408" y="2286000"/>
            <a:ext cx="1691640" cy="749808"/>
          </a:xfrm>
          <a:prstGeom prst="rect">
            <a:avLst/>
          </a:prstGeom>
          <a:solidFill>
            <a:srgbClr val="E6F0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2200" b="1">
                <a:solidFill>
                  <a:srgbClr val="004B82"/>
                </a:solidFill>
                <a:latin typeface="Exo 2"/>
              </a:rPr>
              <a:t>136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27648" y="2286000"/>
            <a:ext cx="1600200" cy="749808"/>
          </a:xfrm>
          <a:prstGeom prst="rect">
            <a:avLst/>
          </a:prstGeom>
          <a:solidFill>
            <a:srgbClr val="E6F0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2200" b="1">
                <a:solidFill>
                  <a:srgbClr val="004B82"/>
                </a:solidFill>
                <a:latin typeface="Exo 2"/>
              </a:rPr>
              <a:t>9,906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2286000"/>
            <a:ext cx="3383280" cy="749808"/>
          </a:xfrm>
          <a:prstGeom prst="rect">
            <a:avLst/>
          </a:prstGeom>
          <a:solidFill>
            <a:srgbClr val="E6F0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050" b="0">
                <a:solidFill>
                  <a:srgbClr val="1E2226"/>
                </a:solidFill>
                <a:latin typeface="Exo 2"/>
              </a:rPr>
              <a:t>Broad screen</a:t>
            </a:r>
            <a:br/>
            <a:r>
              <a:rPr sz="1050" b="0">
                <a:solidFill>
                  <a:srgbClr val="1E2226"/>
                </a:solidFill>
                <a:latin typeface="Exo 2"/>
              </a:rPr>
              <a:t>Many false alerts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182112"/>
            <a:ext cx="1783080" cy="749808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100" b="0">
                <a:solidFill>
                  <a:srgbClr val="1E2226"/>
                </a:solidFill>
                <a:latin typeface="Exo 2"/>
              </a:rPr>
              <a:t>Random</a:t>
            </a:r>
            <a:br/>
            <a:r>
              <a:rPr sz="1100" b="0">
                <a:solidFill>
                  <a:srgbClr val="1E2226"/>
                </a:solidFill>
                <a:latin typeface="Exo 2"/>
              </a:rPr>
              <a:t>Forest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3182112"/>
            <a:ext cx="1783080" cy="749808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2200" b="1">
                <a:solidFill>
                  <a:srgbClr val="004B82"/>
                </a:solidFill>
                <a:latin typeface="Exo 2"/>
              </a:rPr>
              <a:t>442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7408" y="3182112"/>
            <a:ext cx="1691640" cy="749808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2200" b="1">
                <a:solidFill>
                  <a:srgbClr val="004B82"/>
                </a:solidFill>
                <a:latin typeface="Exo 2"/>
              </a:rPr>
              <a:t>735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27648" y="3182112"/>
            <a:ext cx="1600200" cy="749808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2200" b="1">
                <a:solidFill>
                  <a:srgbClr val="004B82"/>
                </a:solidFill>
                <a:latin typeface="Exo 2"/>
              </a:rPr>
              <a:t>2,190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3182112"/>
            <a:ext cx="3383280" cy="749808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050" b="0">
                <a:solidFill>
                  <a:srgbClr val="1E2226"/>
                </a:solidFill>
                <a:latin typeface="Exo 2"/>
              </a:rPr>
              <a:t>More selective</a:t>
            </a:r>
            <a:br/>
            <a:r>
              <a:rPr sz="1050" b="0">
                <a:solidFill>
                  <a:srgbClr val="1E2226"/>
                </a:solidFill>
                <a:latin typeface="Exo 2"/>
              </a:rPr>
              <a:t>Fewer alerts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078224"/>
            <a:ext cx="1783080" cy="749808"/>
          </a:xfrm>
          <a:prstGeom prst="rect">
            <a:avLst/>
          </a:prstGeom>
          <a:solidFill>
            <a:srgbClr val="FFF5C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100" b="0">
                <a:solidFill>
                  <a:srgbClr val="1E2226"/>
                </a:solidFill>
                <a:latin typeface="Exo 2"/>
              </a:rPr>
              <a:t>Gradient</a:t>
            </a:r>
            <a:br/>
            <a:r>
              <a:rPr sz="1100" b="0">
                <a:solidFill>
                  <a:srgbClr val="1E2226"/>
                </a:solidFill>
                <a:latin typeface="Exo 2"/>
              </a:rPr>
              <a:t>Boosting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4078224"/>
            <a:ext cx="1783080" cy="749808"/>
          </a:xfrm>
          <a:prstGeom prst="rect">
            <a:avLst/>
          </a:prstGeom>
          <a:solidFill>
            <a:srgbClr val="FFF5C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2200" b="1">
                <a:solidFill>
                  <a:srgbClr val="004B82"/>
                </a:solidFill>
                <a:latin typeface="Exo 2"/>
              </a:rPr>
              <a:t>695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4078224"/>
            <a:ext cx="1691640" cy="749808"/>
          </a:xfrm>
          <a:prstGeom prst="rect">
            <a:avLst/>
          </a:prstGeom>
          <a:solidFill>
            <a:srgbClr val="FFF5C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2200" b="1">
                <a:solidFill>
                  <a:srgbClr val="004B82"/>
                </a:solidFill>
                <a:latin typeface="Exo 2"/>
              </a:rPr>
              <a:t>482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27648" y="4078224"/>
            <a:ext cx="1600200" cy="749808"/>
          </a:xfrm>
          <a:prstGeom prst="rect">
            <a:avLst/>
          </a:prstGeom>
          <a:solidFill>
            <a:srgbClr val="FFF5C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2200" b="1">
                <a:solidFill>
                  <a:srgbClr val="004B82"/>
                </a:solidFill>
                <a:latin typeface="Exo 2"/>
              </a:rPr>
              <a:t>4,563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20" y="4078224"/>
            <a:ext cx="3383280" cy="749808"/>
          </a:xfrm>
          <a:prstGeom prst="rect">
            <a:avLst/>
          </a:prstGeom>
          <a:solidFill>
            <a:srgbClr val="FFF5C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050" b="0">
                <a:solidFill>
                  <a:srgbClr val="1E2226"/>
                </a:solidFill>
                <a:latin typeface="Exo 2"/>
              </a:rPr>
              <a:t>Middle position</a:t>
            </a:r>
            <a:br/>
            <a:r>
              <a:rPr sz="1050" b="0">
                <a:solidFill>
                  <a:srgbClr val="1E2226"/>
                </a:solidFill>
                <a:latin typeface="Exo 2"/>
              </a:rPr>
              <a:t>Validation-selected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102352"/>
            <a:ext cx="4892040" cy="713232"/>
          </a:xfrm>
          <a:prstGeom prst="roundRect">
            <a:avLst/>
          </a:prstGeom>
          <a:solidFill>
            <a:srgbClr val="F3F6F8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200" b="1">
                <a:solidFill>
                  <a:srgbClr val="004B82"/>
                </a:solidFill>
                <a:latin typeface="Exo 2"/>
              </a:rPr>
              <a:t>Financial question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Which error is more costly: a missed failure or a false alarm?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89320" y="5102352"/>
            <a:ext cx="507492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200" b="1">
                <a:solidFill>
                  <a:srgbClr val="004B82"/>
                </a:solidFill>
                <a:latin typeface="Exo 2"/>
              </a:rPr>
              <a:t>Important caveat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Financial costs and review capacity are not estimated here.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mplate Graphic"/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2667131" y="381117"/>
            <a:ext cx="806544" cy="8572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29000" y="411480"/>
            <a:ext cx="7772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400" b="1">
                <a:solidFill>
                  <a:srgbClr val="004B82"/>
                </a:solidFill>
                <a:latin typeface="Exo 2"/>
              </a:rPr>
              <a:t>Precision–Recall Interpretation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473952"/>
            <a:ext cx="80467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750" b="0">
                <a:solidFill>
                  <a:srgbClr val="545B63"/>
                </a:solidFill>
                <a:latin typeface="Exo 2"/>
              </a:rPr>
              <a:t>Corporate Bankruptcy Risk Prediction / Berke Pehlivan / Machine Learning for Finance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74552" y="6473952"/>
            <a:ext cx="2743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r"/>
            <a:r>
              <a:rPr sz="800" b="0">
                <a:solidFill>
                  <a:srgbClr val="545B63"/>
                </a:solidFill>
                <a:latin typeface="Exo 2"/>
              </a:rPr>
              <a:t>9</a:t>
            </a:r>
          </a:p>
        </p:txBody>
      </p:sp>
      <p:pic>
        <p:nvPicPr>
          <p:cNvPr id="6" name="Precision recall curves" descr="precision_recall_key_mode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417320"/>
            <a:ext cx="6812280" cy="44531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26680" y="1143000"/>
            <a:ext cx="3566160" cy="1143000"/>
          </a:xfrm>
          <a:prstGeom prst="roundRect">
            <a:avLst/>
          </a:prstGeom>
          <a:solidFill>
            <a:srgbClr val="E6F0F7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4B82"/>
                </a:solidFill>
                <a:latin typeface="Exo 2"/>
              </a:rPr>
              <a:t>Rare-event ranking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PR curves focus on the failed class, not the many alive observations.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80" y="2542032"/>
            <a:ext cx="3566160" cy="1143000"/>
          </a:xfrm>
          <a:prstGeom prst="roundRect">
            <a:avLst/>
          </a:prstGeom>
          <a:solidFill>
            <a:srgbClr val="F3F6F8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4B82"/>
                </a:solidFill>
                <a:latin typeface="Exo 2"/>
              </a:rPr>
              <a:t>Average precision</a:t>
            </a:r>
          </a:p>
          <a:p>
            <a:pPr/>
            <a:r>
              <a:rPr sz="1300">
                <a:solidFill>
                  <a:srgbClr val="1E2226"/>
                </a:solidFill>
                <a:latin typeface="Exo 2"/>
              </a:rPr>
              <a:t>RF 0.159</a:t>
            </a:r>
          </a:p>
          <a:p>
            <a:pPr/>
            <a:r>
              <a:rPr sz="1300">
                <a:solidFill>
                  <a:srgbClr val="1E2226"/>
                </a:solidFill>
                <a:latin typeface="Exo 2"/>
              </a:rPr>
              <a:t>GB 0.158</a:t>
            </a:r>
          </a:p>
          <a:p>
            <a:pPr/>
            <a:r>
              <a:rPr sz="1300">
                <a:solidFill>
                  <a:srgbClr val="1E2226"/>
                </a:solidFill>
                <a:latin typeface="Exo 2"/>
              </a:rPr>
              <a:t>LR 0.153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80" y="3931920"/>
            <a:ext cx="3566160" cy="1234440"/>
          </a:xfrm>
          <a:prstGeom prst="roundRect">
            <a:avLst/>
          </a:prstGeom>
          <a:solidFill>
            <a:srgbClr val="FFF5CC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500" b="1">
                <a:solidFill>
                  <a:srgbClr val="222A32"/>
                </a:solidFill>
                <a:latin typeface="Aptos"/>
              </a:rPr>
              <a:t>Key interpretation</a:t>
            </a:r>
          </a:p>
          <a:p>
            <a:pPr algn="l"/>
            <a:r>
              <a:rPr sz="1500" b="0">
                <a:solidFill>
                  <a:srgbClr val="222A32"/>
                </a:solidFill>
                <a:latin typeface="Aptos"/>
              </a:rPr>
              <a:t>Ranking performance is similar, but default-threshold decisions are very different.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mplate Graphic"/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2667131" y="381117"/>
            <a:ext cx="806544" cy="8572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29000" y="411480"/>
            <a:ext cx="7772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400" b="1">
                <a:solidFill>
                  <a:srgbClr val="004B82"/>
                </a:solidFill>
                <a:latin typeface="Exo 2"/>
              </a:rPr>
              <a:t>Model Interpretation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473952"/>
            <a:ext cx="80467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750" b="0">
                <a:solidFill>
                  <a:srgbClr val="545B63"/>
                </a:solidFill>
                <a:latin typeface="Exo 2"/>
              </a:rPr>
              <a:t>Corporate Bankruptcy Risk Prediction / Berke Pehlivan / Machine Learning for Finance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18520" y="6437376"/>
            <a:ext cx="54864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r"/>
            <a:r>
              <a:rPr sz="800" b="0">
                <a:solidFill>
                  <a:srgbClr val="545B63"/>
                </a:solidFill>
                <a:latin typeface="Exo 2"/>
              </a:rPr>
              <a:t>10</a:t>
            </a:r>
          </a:p>
        </p:txBody>
      </p:sp>
      <p:pic>
        <p:nvPicPr>
          <p:cNvPr id="6" name="Logistic coefficients" descr="top_logistic_coeffici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444752"/>
            <a:ext cx="635508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1143000"/>
            <a:ext cx="3840480" cy="1143000"/>
          </a:xfrm>
          <a:prstGeom prst="roundRect">
            <a:avLst/>
          </a:prstGeom>
          <a:solidFill>
            <a:srgbClr val="E6F0F7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4B82"/>
                </a:solidFill>
                <a:latin typeface="Exo 2"/>
              </a:rPr>
              <a:t>Signed interpretation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Positive coefficients → higher predicted failure log-odds. Negative coefficients → lower.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542032"/>
            <a:ext cx="3840480" cy="1143000"/>
          </a:xfrm>
          <a:prstGeom prst="roundRect">
            <a:avLst/>
          </a:prstGeom>
          <a:solidFill>
            <a:srgbClr val="F3F6F8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500" b="1">
                <a:solidFill>
                  <a:srgbClr val="222A32"/>
                </a:solidFill>
                <a:latin typeface="Aptos"/>
              </a:rPr>
              <a:t>Largest negative coefficients</a:t>
            </a:r>
          </a:p>
          <a:p>
            <a:pPr algn="l"/>
            <a:r>
              <a:rPr sz="1500" b="0">
                <a:solidFill>
                  <a:srgbClr val="222A32"/>
                </a:solidFill>
                <a:latin typeface="Aptos"/>
              </a:rPr>
              <a:t>Current assets −1.912</a:t>
            </a:r>
          </a:p>
          <a:p>
            <a:pPr algn="l"/>
            <a:r>
              <a:rPr sz="1500" b="0">
                <a:solidFill>
                  <a:srgbClr val="222A32"/>
                </a:solidFill>
                <a:latin typeface="Aptos"/>
              </a:rPr>
              <a:t>Market value −1.812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931920"/>
            <a:ext cx="3840480" cy="1234440"/>
          </a:xfrm>
          <a:prstGeom prst="roundRect">
            <a:avLst/>
          </a:prstGeom>
          <a:solidFill>
            <a:srgbClr val="FFF5CC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355C"/>
                </a:solidFill>
                <a:latin typeface="Exo 2"/>
              </a:rPr>
              <a:t>Caution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Coefficients and tree importance are predictive interpretations, not causal evidence.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mplate Graphic"/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2667131" y="381117"/>
            <a:ext cx="806544" cy="8572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29000" y="411480"/>
            <a:ext cx="7772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400" b="1">
                <a:solidFill>
                  <a:srgbClr val="004B82"/>
                </a:solidFill>
                <a:latin typeface="Exo 2"/>
              </a:rPr>
              <a:t>PCA Extension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473952"/>
            <a:ext cx="80467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750" b="0">
                <a:solidFill>
                  <a:srgbClr val="545B63"/>
                </a:solidFill>
                <a:latin typeface="Exo 2"/>
              </a:rPr>
              <a:t>Corporate Bankruptcy Risk Prediction / Berke Pehlivan / Machine Learning for Finance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18520" y="6437376"/>
            <a:ext cx="54864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r"/>
            <a:r>
              <a:rPr sz="800" b="0">
                <a:solidFill>
                  <a:srgbClr val="545B63"/>
                </a:solidFill>
                <a:latin typeface="Exo 2"/>
              </a:rPr>
              <a:t>11</a:t>
            </a:r>
          </a:p>
        </p:txBody>
      </p:sp>
      <p:pic>
        <p:nvPicPr>
          <p:cNvPr id="6" name="PCA explained variance" descr="pca_explained_vari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444752"/>
            <a:ext cx="5870448" cy="37124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629400" y="1097280"/>
            <a:ext cx="4526280" cy="987552"/>
          </a:xfrm>
          <a:prstGeom prst="roundRect">
            <a:avLst/>
          </a:prstGeom>
          <a:solidFill>
            <a:srgbClr val="E6F0F7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500" b="1">
                <a:solidFill>
                  <a:srgbClr val="222A32"/>
                </a:solidFill>
                <a:latin typeface="Aptos"/>
              </a:rPr>
              <a:t>Variance is retained</a:t>
            </a:r>
          </a:p>
          <a:p>
            <a:pPr algn="l"/>
            <a:r>
              <a:rPr sz="1500" b="0">
                <a:solidFill>
                  <a:srgbClr val="222A32"/>
                </a:solidFill>
                <a:latin typeface="Aptos"/>
              </a:rPr>
              <a:t>2 components retain 83.8%; 10 components retain 99.2%.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2267712"/>
            <a:ext cx="4526280" cy="987552"/>
          </a:xfrm>
          <a:prstGeom prst="roundRect">
            <a:avLst/>
          </a:prstGeom>
          <a:solidFill>
            <a:srgbClr val="FFF5CC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500" b="1">
                <a:solidFill>
                  <a:srgbClr val="222A32"/>
                </a:solidFill>
                <a:latin typeface="Aptos"/>
              </a:rPr>
              <a:t>Prediction is different</a:t>
            </a:r>
          </a:p>
          <a:p>
            <a:pPr algn="l"/>
            <a:r>
              <a:rPr sz="1500" b="0">
                <a:solidFill>
                  <a:srgbClr val="222A32"/>
                </a:solidFill>
                <a:latin typeface="Aptos"/>
              </a:rPr>
              <a:t>High explained variance does not automatically mean strong classification.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3438144"/>
            <a:ext cx="4526280" cy="1078992"/>
          </a:xfrm>
          <a:prstGeom prst="roundRect">
            <a:avLst/>
          </a:prstGeom>
          <a:solidFill>
            <a:srgbClr val="F3F6F8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4B82"/>
                </a:solidFill>
                <a:latin typeface="Exo 2"/>
              </a:rPr>
              <a:t>Validation result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PCA with 10–12 components is similar, not clearly better, than original Logistic Regression.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4663440"/>
            <a:ext cx="452628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4B82"/>
                </a:solidFill>
                <a:latin typeface="Exo 2"/>
              </a:rPr>
              <a:t>Interpretability cost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Components mix many accounting variables.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mplate Graphic"/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2667131" y="381117"/>
            <a:ext cx="806544" cy="8572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29000" y="411480"/>
            <a:ext cx="7772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400" b="1">
                <a:solidFill>
                  <a:srgbClr val="004B82"/>
                </a:solidFill>
                <a:latin typeface="Exo 2"/>
              </a:rPr>
              <a:t>Limitations and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473952"/>
            <a:ext cx="80467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750" b="0">
                <a:solidFill>
                  <a:srgbClr val="545B63"/>
                </a:solidFill>
                <a:latin typeface="Exo 2"/>
              </a:rPr>
              <a:t>Corporate Bankruptcy Risk Prediction / Berke Pehlivan / Machine Learning for Finance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18520" y="6437376"/>
            <a:ext cx="54864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r"/>
            <a:r>
              <a:rPr sz="800" b="0">
                <a:solidFill>
                  <a:srgbClr val="545B63"/>
                </a:solidFill>
                <a:latin typeface="Exo 2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1234440"/>
          </a:xfrm>
          <a:prstGeom prst="roundRect">
            <a:avLst/>
          </a:prstGeom>
          <a:solidFill>
            <a:srgbClr val="E6F0F7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4B82"/>
                </a:solidFill>
                <a:latin typeface="Exo 2"/>
              </a:rPr>
              <a:t>What the project shows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Financial variables contain useful screening and ranking information.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17320"/>
            <a:ext cx="3429000" cy="1234440"/>
          </a:xfrm>
          <a:prstGeom prst="roundRect">
            <a:avLst/>
          </a:prstGeom>
          <a:solidFill>
            <a:srgbClr val="FFF5CC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355C"/>
                </a:solidFill>
                <a:latin typeface="Exo 2"/>
              </a:rPr>
              <a:t>What it does not show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No causal effects, no calibrated probabilities, no production-ready decision rule.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17320"/>
            <a:ext cx="3063240" cy="1234440"/>
          </a:xfrm>
          <a:prstGeom prst="roundRect">
            <a:avLst/>
          </a:prstGeom>
          <a:solidFill>
            <a:srgbClr val="F3F6F8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4B82"/>
                </a:solidFill>
                <a:latin typeface="Exo 2"/>
              </a:rPr>
              <a:t>Main limitation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Not a chronological forecasting backtest.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154680"/>
            <a:ext cx="10287000" cy="960120"/>
          </a:xfrm>
          <a:prstGeom prst="roundRect">
            <a:avLst/>
          </a:prstGeom>
          <a:solidFill>
            <a:srgbClr val="004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Exo 2"/>
              </a:rPr>
              <a:t>Final answer: bankruptcy-risk classification remains difficult, and model choice depends on the screening objective.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4572000"/>
            <a:ext cx="10012680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800" b="1">
                <a:solidFill>
                  <a:srgbClr val="222A32"/>
                </a:solidFill>
                <a:latin typeface="Aptos"/>
              </a:rPr>
              <a:t>• Clear future failure horizon</a:t>
            </a:r>
          </a:p>
          <a:p>
            <a:pPr algn="l"/>
            <a:r>
              <a:rPr sz="1800" b="0">
                <a:solidFill>
                  <a:srgbClr val="222A32"/>
                </a:solidFill>
                <a:latin typeface="Aptos"/>
              </a:rPr>
              <a:t>• Chronological evaluation + uncertainty</a:t>
            </a:r>
          </a:p>
          <a:p>
            <a:pPr algn="l"/>
            <a:r>
              <a:rPr sz="1800" b="0">
                <a:solidFill>
                  <a:srgbClr val="222A32"/>
                </a:solidFill>
                <a:latin typeface="Aptos"/>
              </a:rPr>
              <a:t>• Cost-based threshold choice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mplate Graphic"/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2667131" y="381117"/>
            <a:ext cx="806544" cy="8572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1691640"/>
            <a:ext cx="10241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3800" b="1">
                <a:solidFill>
                  <a:srgbClr val="004B82"/>
                </a:solidFill>
                <a:latin typeface="Exo 2"/>
              </a:rPr>
              <a:t>Thank you.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651760"/>
            <a:ext cx="1024128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300" b="0">
                <a:solidFill>
                  <a:srgbClr val="545B63"/>
                </a:solidFill>
                <a:latin typeface="Exo 2"/>
              </a:rPr>
              <a:t>Questions and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94760"/>
            <a:ext cx="1024128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800" b="0">
                <a:solidFill>
                  <a:srgbClr val="1E2226"/>
                </a:solidFill>
                <a:latin typeface="Exo 2"/>
              </a:rPr>
              <a:t>Berke Pehlivan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29000" y="411480"/>
            <a:ext cx="7772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400" b="1">
                <a:solidFill>
                  <a:srgbClr val="004B82"/>
                </a:solidFill>
                <a:latin typeface="Exo 2"/>
              </a:rPr>
              <a:t>Backup: Model Specifications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6473952"/>
            <a:ext cx="80467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750" b="0">
                <a:solidFill>
                  <a:srgbClr val="545B63"/>
                </a:solidFill>
                <a:latin typeface="Exo 2"/>
              </a:rPr>
              <a:t>Corporate Bankruptcy Risk Prediction / Berke Pehlivan / Machine Learning for Finance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18520" y="6437376"/>
            <a:ext cx="54864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r"/>
            <a:r>
              <a:rPr sz="800" b="0">
                <a:solidFill>
                  <a:srgbClr val="545B63"/>
                </a:solidFill>
                <a:latin typeface="Exo 2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15568"/>
            <a:ext cx="10835640" cy="594360"/>
          </a:xfrm>
          <a:prstGeom prst="roundRect">
            <a:avLst/>
          </a:prstGeom>
          <a:solidFill>
            <a:srgbClr val="E6F0F7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250" b="1">
                <a:solidFill>
                  <a:srgbClr val="004B82"/>
                </a:solidFill>
                <a:latin typeface="Exo 2"/>
              </a:rPr>
              <a:t>Compact grids were used to compare model families, not to run a large optimization exercise.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920240"/>
            <a:ext cx="2286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150" b="1">
                <a:solidFill>
                  <a:srgbClr val="004B82"/>
                </a:solidFill>
                <a:latin typeface="Exo 2"/>
              </a:rPr>
              <a:t>Majority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920240"/>
            <a:ext cx="7406640" cy="347472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150" b="0">
                <a:solidFill>
                  <a:srgbClr val="1E2226"/>
                </a:solidFill>
                <a:latin typeface="Exo 2"/>
              </a:rPr>
              <a:t>always alive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423160"/>
            <a:ext cx="2286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150" b="1">
                <a:solidFill>
                  <a:srgbClr val="004B82"/>
                </a:solidFill>
                <a:latin typeface="Exo 2"/>
              </a:rPr>
              <a:t>Logistic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2423160"/>
            <a:ext cx="7406640" cy="347472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150" b="0">
                <a:solidFill>
                  <a:srgbClr val="1E2226"/>
                </a:solidFill>
                <a:latin typeface="Exo 2"/>
              </a:rPr>
              <a:t>L2, C=1, balanced weights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926080"/>
            <a:ext cx="2286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150" b="1">
                <a:solidFill>
                  <a:srgbClr val="004B82"/>
                </a:solidFill>
                <a:latin typeface="Exo 2"/>
              </a:rPr>
              <a:t>L1 / L2 LR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926080"/>
            <a:ext cx="7406640" cy="347472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150" b="0">
                <a:solidFill>
                  <a:srgbClr val="1E2226"/>
                </a:solidFill>
                <a:latin typeface="Exo 2"/>
              </a:rPr>
              <a:t>C=0.1, balanced weights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429000"/>
            <a:ext cx="2286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150" b="1">
                <a:solidFill>
                  <a:srgbClr val="004B82"/>
                </a:solidFill>
                <a:latin typeface="Exo 2"/>
              </a:rPr>
              <a:t>Decision Tree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3429000"/>
            <a:ext cx="7406640" cy="347472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150" b="0">
                <a:solidFill>
                  <a:srgbClr val="1E2226"/>
                </a:solidFill>
                <a:latin typeface="Exo 2"/>
              </a:rPr>
              <a:t>depth 5, min leaf 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931920"/>
            <a:ext cx="2286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150" b="1">
                <a:solidFill>
                  <a:srgbClr val="004B82"/>
                </a:solidFill>
                <a:latin typeface="Exo 2"/>
              </a:rPr>
              <a:t>Random Forest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3931920"/>
            <a:ext cx="7406640" cy="347472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150" b="0">
                <a:solidFill>
                  <a:srgbClr val="1E2226"/>
                </a:solidFill>
                <a:latin typeface="Exo 2"/>
              </a:rPr>
              <a:t>300 trees, min leaf 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434840"/>
            <a:ext cx="2286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150" b="1">
                <a:solidFill>
                  <a:srgbClr val="004B82"/>
                </a:solidFill>
                <a:latin typeface="Exo 2"/>
              </a:rPr>
              <a:t>Gradient Boosting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4434840"/>
            <a:ext cx="7406640" cy="347472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150" b="0">
                <a:solidFill>
                  <a:srgbClr val="1E2226"/>
                </a:solidFill>
                <a:latin typeface="Exo 2"/>
              </a:rPr>
              <a:t>150 trees, lr 0.05, depth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937760"/>
            <a:ext cx="2286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150" b="1">
                <a:solidFill>
                  <a:srgbClr val="004B82"/>
                </a:solidFill>
                <a:latin typeface="Exo 2"/>
              </a:rPr>
              <a:t>PCA + LR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4937760"/>
            <a:ext cx="7406640" cy="347472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1150" b="0">
                <a:solidFill>
                  <a:srgbClr val="1E2226"/>
                </a:solidFill>
                <a:latin typeface="Exo 2"/>
              </a:rPr>
              <a:t>2–18 components, validation-only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29000" y="411480"/>
            <a:ext cx="7772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400" b="1">
                <a:solidFill>
                  <a:srgbClr val="004B82"/>
                </a:solidFill>
                <a:latin typeface="Exo 2"/>
              </a:rPr>
              <a:t>Backup: Complete Final-Test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6473952"/>
            <a:ext cx="80467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750" b="0">
                <a:solidFill>
                  <a:srgbClr val="545B63"/>
                </a:solidFill>
                <a:latin typeface="Exo 2"/>
              </a:rPr>
              <a:t>Corporate Bankruptcy Risk Prediction / Berke Pehlivan / Machine Learning for Finance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18520" y="6437376"/>
            <a:ext cx="54864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r"/>
            <a:r>
              <a:rPr sz="800" b="0">
                <a:solidFill>
                  <a:srgbClr val="545B63"/>
                </a:solidFill>
                <a:latin typeface="Exo 2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53312"/>
            <a:ext cx="2514600" cy="365760"/>
          </a:xfrm>
          <a:prstGeom prst="rect">
            <a:avLst/>
          </a:prstGeom>
          <a:solidFill>
            <a:srgbClr val="004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Exo 2"/>
              </a:rPr>
              <a:t>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6120" y="1353312"/>
            <a:ext cx="960120" cy="365760"/>
          </a:xfrm>
          <a:prstGeom prst="rect">
            <a:avLst/>
          </a:prstGeom>
          <a:solidFill>
            <a:srgbClr val="004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Exo 2"/>
              </a:rPr>
              <a:t>Acc.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353312"/>
            <a:ext cx="960120" cy="365760"/>
          </a:xfrm>
          <a:prstGeom prst="rect">
            <a:avLst/>
          </a:prstGeom>
          <a:solidFill>
            <a:srgbClr val="004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Exo 2"/>
              </a:rPr>
              <a:t>Bal. acc.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0" y="1353312"/>
            <a:ext cx="960120" cy="365760"/>
          </a:xfrm>
          <a:prstGeom prst="rect">
            <a:avLst/>
          </a:prstGeom>
          <a:solidFill>
            <a:srgbClr val="004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Exo 2"/>
              </a:rPr>
              <a:t>ROC-AUC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53312"/>
            <a:ext cx="960120" cy="365760"/>
          </a:xfrm>
          <a:prstGeom prst="rect">
            <a:avLst/>
          </a:prstGeom>
          <a:solidFill>
            <a:srgbClr val="004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Exo 2"/>
              </a:rPr>
              <a:t>PR-AUC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80" y="1353312"/>
            <a:ext cx="1143000" cy="365760"/>
          </a:xfrm>
          <a:prstGeom prst="rect">
            <a:avLst/>
          </a:prstGeom>
          <a:solidFill>
            <a:srgbClr val="004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Exo 2"/>
              </a:rPr>
              <a:t>Fail recall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1353312"/>
            <a:ext cx="960120" cy="365760"/>
          </a:xfrm>
          <a:prstGeom prst="rect">
            <a:avLst/>
          </a:prstGeom>
          <a:solidFill>
            <a:srgbClr val="004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Exo 2"/>
              </a:rPr>
              <a:t>Fail F1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792224"/>
            <a:ext cx="2514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50" b="0">
                <a:solidFill>
                  <a:srgbClr val="1E2226"/>
                </a:solidFill>
                <a:latin typeface="Exo 2"/>
              </a:rPr>
              <a:t>Majority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792224"/>
            <a:ext cx="960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0.925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792224"/>
            <a:ext cx="960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0.500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57800" y="1792224"/>
            <a:ext cx="960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0.500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92224"/>
            <a:ext cx="960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0.075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1792224"/>
            <a:ext cx="11430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792224"/>
            <a:ext cx="960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304288"/>
            <a:ext cx="2514600" cy="402336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50" b="0">
                <a:solidFill>
                  <a:srgbClr val="1E2226"/>
                </a:solidFill>
                <a:latin typeface="Exo 2"/>
              </a:rPr>
              <a:t>Logistic Regression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2304288"/>
            <a:ext cx="960120" cy="402336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0.360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2304288"/>
            <a:ext cx="960120" cy="402336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0.601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57800" y="2304288"/>
            <a:ext cx="960120" cy="402336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0.690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304288"/>
            <a:ext cx="960120" cy="402336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0.153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2304288"/>
            <a:ext cx="1143000" cy="402336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0.884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0" y="2304288"/>
            <a:ext cx="960120" cy="402336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0.172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2816352"/>
            <a:ext cx="2514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50" b="0">
                <a:solidFill>
                  <a:srgbClr val="1E2226"/>
                </a:solidFill>
                <a:latin typeface="Exo 2"/>
              </a:rPr>
              <a:t>Random Forest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2816352"/>
            <a:ext cx="960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0.814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60" y="2816352"/>
            <a:ext cx="960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0.612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57800" y="2816352"/>
            <a:ext cx="960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0.699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816352"/>
            <a:ext cx="960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0.159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9480" y="2816352"/>
            <a:ext cx="11430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0.376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03920" y="2816352"/>
            <a:ext cx="960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0.232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3328416"/>
            <a:ext cx="2514600" cy="402336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50" b="0">
                <a:solidFill>
                  <a:srgbClr val="1E2226"/>
                </a:solidFill>
                <a:latin typeface="Exo 2"/>
              </a:rPr>
              <a:t>Gradient Boosting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46120" y="3328416"/>
            <a:ext cx="960120" cy="402336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0.679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60" y="3328416"/>
            <a:ext cx="960120" cy="402336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0.638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57800" y="3328416"/>
            <a:ext cx="960120" cy="402336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0.688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3328416"/>
            <a:ext cx="960120" cy="402336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0.158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69480" y="3328416"/>
            <a:ext cx="1143000" cy="402336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0.590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3328416"/>
            <a:ext cx="960120" cy="402336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880" b="0">
                <a:solidFill>
                  <a:srgbClr val="1E2226"/>
                </a:solidFill>
                <a:latin typeface="Exo 2"/>
              </a:rPr>
              <a:t>0.216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4800600"/>
            <a:ext cx="1056132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200" b="0">
                <a:solidFill>
                  <a:srgbClr val="545B63"/>
                </a:solidFill>
                <a:latin typeface="Exo 2"/>
              </a:rPr>
              <a:t>Main deck uses the key models only; this table shows the full saved comparison.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29000" y="411480"/>
            <a:ext cx="7772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400" b="1">
                <a:solidFill>
                  <a:srgbClr val="004B82"/>
                </a:solidFill>
                <a:latin typeface="Exo 2"/>
              </a:rPr>
              <a:t>Backup: Validation Threshold Scenarios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6473952"/>
            <a:ext cx="80467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750" b="0">
                <a:solidFill>
                  <a:srgbClr val="545B63"/>
                </a:solidFill>
                <a:latin typeface="Exo 2"/>
              </a:rPr>
              <a:t>Corporate Bankruptcy Risk Prediction / Berke Pehlivan / Machine Learning for Finance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18520" y="6437376"/>
            <a:ext cx="54864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r"/>
            <a:r>
              <a:rPr sz="800" b="0">
                <a:solidFill>
                  <a:srgbClr val="545B63"/>
                </a:solidFill>
                <a:latin typeface="Exo 2"/>
              </a:rPr>
              <a:t>16</a:t>
            </a:r>
          </a:p>
        </p:txBody>
      </p:sp>
      <p:pic>
        <p:nvPicPr>
          <p:cNvPr id="5" name="Confusion summary" descr="confusion_matrix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5623560" cy="2331720"/>
          </a:xfrm>
          <a:prstGeom prst="rect">
            <a:avLst/>
          </a:prstGeom>
        </p:spPr>
      </p:pic>
      <p:pic>
        <p:nvPicPr>
          <p:cNvPr id="6" name="ROC curves" descr="roc_curves_key_mod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261872"/>
            <a:ext cx="3977640" cy="2697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4160520"/>
            <a:ext cx="5303520" cy="1051560"/>
          </a:xfrm>
          <a:prstGeom prst="roundRect">
            <a:avLst/>
          </a:prstGeom>
          <a:solidFill>
            <a:srgbClr val="FFF5CC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355C"/>
                </a:solidFill>
                <a:latin typeface="Exo 2"/>
              </a:rPr>
              <a:t>Threshold question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How much review burden is acceptable if recall is increased?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160520"/>
            <a:ext cx="5303520" cy="1051560"/>
          </a:xfrm>
          <a:prstGeom prst="roundRect">
            <a:avLst/>
          </a:prstGeom>
          <a:solidFill>
            <a:srgbClr val="E6F0F7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4B82"/>
                </a:solidFill>
                <a:latin typeface="Exo 2"/>
              </a:rPr>
              <a:t>Why ROC is backup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ROC-AUC is useful, but PR curves show rare-failure screening burden more directly.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29000" y="411480"/>
            <a:ext cx="7772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400" b="1">
                <a:solidFill>
                  <a:srgbClr val="004B82"/>
                </a:solidFill>
                <a:latin typeface="Exo 2"/>
              </a:rPr>
              <a:t>Backup: Tree-Based Feature Importance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6473952"/>
            <a:ext cx="80467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750" b="0">
                <a:solidFill>
                  <a:srgbClr val="545B63"/>
                </a:solidFill>
                <a:latin typeface="Exo 2"/>
              </a:rPr>
              <a:t>Corporate Bankruptcy Risk Prediction / Berke Pehlivan / Machine Learning for Finance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18520" y="6437376"/>
            <a:ext cx="54864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r"/>
            <a:r>
              <a:rPr sz="800" b="0">
                <a:solidFill>
                  <a:srgbClr val="545B63"/>
                </a:solidFill>
                <a:latin typeface="Exo 2"/>
              </a:rPr>
              <a:t>17</a:t>
            </a:r>
          </a:p>
        </p:txBody>
      </p:sp>
      <p:pic>
        <p:nvPicPr>
          <p:cNvPr id="5" name="Tree importance" descr="top_tree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17320"/>
            <a:ext cx="6492240" cy="33284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69480" y="1188720"/>
            <a:ext cx="3840480" cy="1143000"/>
          </a:xfrm>
          <a:prstGeom prst="roundRect">
            <a:avLst/>
          </a:prstGeom>
          <a:solidFill>
            <a:srgbClr val="E6F0F7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4B82"/>
                </a:solidFill>
                <a:latin typeface="Exo 2"/>
              </a:rPr>
              <a:t>Top features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Market value, net income, and long-term debt are important in both ensembles.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9480" y="2606040"/>
            <a:ext cx="3840480" cy="1143000"/>
          </a:xfrm>
          <a:prstGeom prst="roundRect">
            <a:avLst/>
          </a:prstGeom>
          <a:solidFill>
            <a:srgbClr val="FFF5CC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355C"/>
                </a:solidFill>
                <a:latin typeface="Exo 2"/>
              </a:rPr>
              <a:t>Interpretation limit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Importance does not show direction and is not causal.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4023360"/>
            <a:ext cx="3840480" cy="1143000"/>
          </a:xfrm>
          <a:prstGeom prst="roundRect">
            <a:avLst/>
          </a:prstGeom>
          <a:solidFill>
            <a:srgbClr val="F3F6F8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4B82"/>
                </a:solidFill>
                <a:latin typeface="Exo 2"/>
              </a:rPr>
              <a:t>Use in discussion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Helpful if asked why tree models made their predictions.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29000" y="411480"/>
            <a:ext cx="7772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2400" b="1">
                <a:solidFill>
                  <a:srgbClr val="004B82"/>
                </a:solidFill>
                <a:latin typeface="Exo 2"/>
              </a:rPr>
              <a:t>Backup: Reproducible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6473952"/>
            <a:ext cx="804672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/>
            <a:r>
              <a:rPr sz="750" b="0">
                <a:solidFill>
                  <a:srgbClr val="545B63"/>
                </a:solidFill>
                <a:latin typeface="Exo 2"/>
              </a:rPr>
              <a:t>Corporate Bankruptcy Risk Prediction / Berke Pehlivan / Machine Learning for Finance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18520" y="6437376"/>
            <a:ext cx="54864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r"/>
            <a:r>
              <a:rPr sz="800" b="0">
                <a:solidFill>
                  <a:srgbClr val="545B63"/>
                </a:solidFill>
                <a:latin typeface="Exo 2"/>
              </a:rP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3429000" cy="1325880"/>
          </a:xfrm>
          <a:prstGeom prst="roundRect">
            <a:avLst/>
          </a:prstGeom>
          <a:solidFill>
            <a:srgbClr val="E6F0F7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4B82"/>
                </a:solidFill>
                <a:latin typeface="Exo 2"/>
              </a:rPr>
              <a:t>Notebook workflow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Six numbered notebooks connect preprocessing, modelling, evaluation, figures, and paper outputs.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097280"/>
            <a:ext cx="3429000" cy="1325880"/>
          </a:xfrm>
          <a:prstGeom prst="roundRect">
            <a:avLst/>
          </a:prstGeom>
          <a:solidFill>
            <a:srgbClr val="F3F6F8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4B82"/>
                </a:solidFill>
                <a:latin typeface="Exo 2"/>
              </a:rPr>
              <a:t>Environment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requirements.txt documents the Python dependencies for the notebook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097280"/>
            <a:ext cx="3154680" cy="1325880"/>
          </a:xfrm>
          <a:prstGeom prst="roundRect">
            <a:avLst/>
          </a:prstGeom>
          <a:solidFill>
            <a:srgbClr val="FFF5CC"/>
          </a:solidFill>
          <a:ln w="9525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l"/>
            <a:r>
              <a:rPr sz="1350" b="1">
                <a:solidFill>
                  <a:srgbClr val="00355C"/>
                </a:solidFill>
                <a:latin typeface="Exo 2"/>
              </a:rPr>
              <a:t>Assertions</a:t>
            </a:r>
          </a:p>
          <a:p>
            <a:pPr/>
            <a:r>
              <a:rPr sz="1200">
                <a:solidFill>
                  <a:srgbClr val="1E2226"/>
                </a:solidFill>
                <a:latin typeface="Exo 2"/>
              </a:rPr>
              <a:t>Visible notebook assertions check main data and modelling behavior.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063240"/>
            <a:ext cx="4800600" cy="1417320"/>
          </a:xfrm>
          <a:prstGeom prst="roundRect">
            <a:avLst/>
          </a:prstGeom>
          <a:solidFill>
            <a:srgbClr val="004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Exo 2"/>
              </a:rPr>
              <a:t>run notebooks 01-06</a:t>
            </a:r>
            <a:br/>
            <a:r>
              <a:rPr sz="2000" b="1">
                <a:solidFill>
                  <a:srgbClr val="FFFFFF"/>
                </a:solidFill>
                <a:latin typeface="Exo 2"/>
              </a:rPr>
              <a:t>review assertions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063240"/>
            <a:ext cx="4846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45720" bIns="45720">
            <a:normAutofit/>
          </a:bodyPr>
          <a:lstStyle/>
          <a:p>
            <a:pPr algn="ctr"/>
            <a:r>
              <a:rPr sz="1200" b="0">
                <a:solidFill>
                  <a:srgbClr val="1E2226"/>
                </a:solidFill>
                <a:latin typeface="Exo 2"/>
              </a:rPr>
              <a:t>Generated outputs are saved under data/processed/ and outputs/. The paper-ready layer contains summaries derived from the same model run.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_Bonn_2017">
  <a:themeElements>
    <a:clrScheme name="Uni-Bonn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09085"/>
      </a:accent1>
      <a:accent2>
        <a:srgbClr val="07529A"/>
      </a:accent2>
      <a:accent3>
        <a:srgbClr val="EAB90C"/>
      </a:accent3>
      <a:accent4>
        <a:srgbClr val="D8D8C8"/>
      </a:accent4>
      <a:accent5>
        <a:srgbClr val="053D73"/>
      </a:accent5>
      <a:accent6>
        <a:srgbClr val="F8DE83"/>
      </a:accent6>
      <a:hlink>
        <a:srgbClr val="79BAF8"/>
      </a:hlink>
      <a:folHlink>
        <a:srgbClr val="6C6C62"/>
      </a:folHlink>
    </a:clrScheme>
    <a:fontScheme name="Uni-Bonn">
      <a:majorFont>
        <a:latin typeface="Exo 2"/>
        <a:ea typeface=""/>
        <a:cs typeface="Calibri"/>
      </a:majorFont>
      <a:minorFont>
        <a:latin typeface="Calibri"/>
        <a:ea typeface=""/>
        <a:cs typeface="Calibri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 sz="1400" dirty="0" err="1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16000" indent="-216000">
          <a:spcAft>
            <a:spcPts val="420"/>
          </a:spcAft>
          <a:buFont typeface="Calibri" panose="020F0502020204030204" pitchFamily="34" charset="0"/>
          <a:buChar char="−"/>
          <a:defRPr sz="1400" dirty="0" err="1" smtClean="0">
            <a:solidFill>
              <a:schemeClr val="accent2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13</ns0:Words>
  <ns0:Application>Microsoft Office PowerPoint</ns0:Application>
  <ns0:PresentationFormat>Widescreen</ns0:PresentationFormat>
  <ns0:Paragraphs>7</ns0:Paragraphs>
  <ns0:Slides>13</ns0:Slides>
  <ns0:Notes>1</ns0:Notes>
  <ns0:HiddenSlides>13</ns0:HiddenSlides>
  <ns0:MMClips>0</ns0:MMClips>
  <ns0:ScaleCrop>false</ns0:ScaleCrop>
  <ns0:HeadingPairs>
    <ns1:vector size="6" baseType="variant">
      <ns1:variant>
        <ns1:lpstr>Fonts Used</ns1:lpstr>
      </ns1:variant>
      <ns1:variant>
        <ns1:i4>4</ns1:i4>
      </ns1:variant>
      <ns1:variant>
        <ns1:lpstr>Theme</ns1:lpstr>
      </ns1:variant>
      <ns1:variant>
        <ns1:i4>1</ns1:i4>
      </ns1:variant>
      <ns1:variant>
        <ns1:lpstr>Slide Titles</ns1:lpstr>
      </ns1:variant>
      <ns1:variant>
        <ns1:i4>5</ns1:i4>
      </ns1:variant>
    </ns1:vector>
  </ns0:HeadingPairs>
  <ns0:TitlesOfParts>
    <ns1:vector size="10" baseType="lpstr">
      <ns1:lpstr>Arial</ns1:lpstr>
      <ns1:lpstr>Calibri</ns1:lpstr>
      <ns1:lpstr>Exo 2</ns1:lpstr>
      <ns1:lpstr>Exo 2 Semi Bold</ns1:lpstr>
      <ns1:lpstr>Uni_Bonn_2017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</ns1:vector>
  </ns0:TitlesOfParts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 Ines Estevez Magnasco</dc:creator>
  <cp:lastModifiedBy>Ana Ines Estevez Magnasco</cp:lastModifiedBy>
  <cp:revision>1</cp:revision>
  <dcterms:created xsi:type="dcterms:W3CDTF">2023-09-25T07:13:58Z</dcterms:created>
  <dcterms:modified xsi:type="dcterms:W3CDTF">2023-09-25T07:14:32Z</dcterms:modified>
</cp:coreProperties>
</file>